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301" r:id="rId3"/>
    <p:sldId id="361" r:id="rId4"/>
    <p:sldId id="363" r:id="rId5"/>
    <p:sldId id="364" r:id="rId6"/>
    <p:sldId id="366" r:id="rId7"/>
    <p:sldId id="365" r:id="rId8"/>
    <p:sldId id="367" r:id="rId9"/>
    <p:sldId id="370" r:id="rId10"/>
    <p:sldId id="368" r:id="rId11"/>
    <p:sldId id="371" r:id="rId12"/>
    <p:sldId id="369" r:id="rId13"/>
    <p:sldId id="372" r:id="rId14"/>
    <p:sldId id="373" r:id="rId15"/>
    <p:sldId id="374" r:id="rId16"/>
    <p:sldId id="375" r:id="rId17"/>
    <p:sldId id="3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E79008-E739-4DF0-AD6A-2CD797F7AAE6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4E5A6F-281D-47F3-B400-5377046C32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030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096237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5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>
          <a:xfrm>
            <a:off x="9446684" y="6381751"/>
            <a:ext cx="2743200" cy="365125"/>
          </a:xfrm>
        </p:spPr>
        <p:txBody>
          <a:bodyPr/>
          <a:lstStyle>
            <a:lvl1pPr defTabSz="914400">
              <a:defRPr sz="1600" b="1">
                <a:solidFill>
                  <a:srgbClr val="FFFFFF"/>
                </a:solidFill>
                <a:latin typeface="Cambria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2875"/>
            <a:ext cx="10515600" cy="83237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6286"/>
            <a:ext cx="10515600" cy="387966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5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>
          <a:xfrm>
            <a:off x="9414933" y="6429376"/>
            <a:ext cx="2743200" cy="365125"/>
          </a:xfrm>
        </p:spPr>
        <p:txBody>
          <a:bodyPr/>
          <a:lstStyle>
            <a:lvl1pPr defTabSz="914400">
              <a:defRPr sz="1400" b="1">
                <a:solidFill>
                  <a:srgbClr val="FFFFFF"/>
                </a:solidFill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730024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372731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5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6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8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4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3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4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6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6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5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5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>
            <a:extLst/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F0612D14-CBA2-468E-96F8-10D479708BAB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5" name="Footer Placeholder 4">
            <a:extLst/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/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31" name="Picture 7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5153026"/>
            <a:ext cx="12192000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3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4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5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2.wmf"/><Relationship Id="rId4" Type="http://schemas.openxmlformats.org/officeDocument/2006/relationships/oleObject" Target="../embeddings/oleObject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4930" y="2061005"/>
            <a:ext cx="9144000" cy="2543268"/>
          </a:xfrm>
        </p:spPr>
        <p:txBody>
          <a:bodyPr>
            <a:normAutofit/>
          </a:bodyPr>
          <a:lstStyle/>
          <a:p>
            <a:pPr marL="295275">
              <a:lnSpc>
                <a:spcPts val="7859"/>
              </a:lnSpc>
            </a:pP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 in 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945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Filtering in the Frequency Domain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662" y="1145245"/>
            <a:ext cx="8948057" cy="4419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09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" y="473916"/>
            <a:ext cx="10515600" cy="832370"/>
          </a:xfrm>
        </p:spPr>
        <p:txBody>
          <a:bodyPr/>
          <a:lstStyle/>
          <a:p>
            <a:r>
              <a:rPr lang="en-US" dirty="0"/>
              <a:t>Basic Filtering in the Frequency Domain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Multiply the input image by (-1)</a:t>
            </a:r>
            <a:r>
              <a:rPr lang="en-US" dirty="0" err="1"/>
              <a:t>x+y</a:t>
            </a:r>
            <a:r>
              <a:rPr lang="en-US" dirty="0"/>
              <a:t> to center the transform</a:t>
            </a:r>
          </a:p>
          <a:p>
            <a:r>
              <a:rPr lang="en-US" dirty="0"/>
              <a:t>Compute F(</a:t>
            </a:r>
            <a:r>
              <a:rPr lang="en-US" dirty="0" err="1"/>
              <a:t>u,v</a:t>
            </a:r>
            <a:r>
              <a:rPr lang="en-US" dirty="0"/>
              <a:t>), the DFT of the image from (1)</a:t>
            </a:r>
          </a:p>
          <a:p>
            <a:r>
              <a:rPr lang="en-US" dirty="0"/>
              <a:t>Multiply F(</a:t>
            </a:r>
            <a:r>
              <a:rPr lang="en-US" dirty="0" err="1"/>
              <a:t>u,v</a:t>
            </a:r>
            <a:r>
              <a:rPr lang="en-US" dirty="0"/>
              <a:t>) by a filter function H(</a:t>
            </a:r>
            <a:r>
              <a:rPr lang="en-US" dirty="0" err="1"/>
              <a:t>u,v</a:t>
            </a:r>
            <a:r>
              <a:rPr lang="en-US" dirty="0"/>
              <a:t>)</a:t>
            </a:r>
          </a:p>
          <a:p>
            <a:r>
              <a:rPr lang="en-US" dirty="0"/>
              <a:t>Compute the inverse DFT of the result in (3)</a:t>
            </a:r>
          </a:p>
          <a:p>
            <a:r>
              <a:rPr lang="en-US" dirty="0"/>
              <a:t>Obtain the real part of the result in (4)</a:t>
            </a:r>
          </a:p>
          <a:p>
            <a:r>
              <a:rPr lang="en-US" dirty="0"/>
              <a:t>Multiply the result in (5) by (-1)</a:t>
            </a:r>
            <a:r>
              <a:rPr lang="en-US" dirty="0" err="1"/>
              <a:t>x+y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29243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2D Fourier Transform </a:t>
            </a:r>
            <a:r>
              <a:rPr lang="en-US" dirty="0" err="1" smtClean="0"/>
              <a:t>Eg</a:t>
            </a:r>
            <a:r>
              <a:rPr lang="en-US" dirty="0" smtClean="0"/>
              <a:t>..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681" y="974950"/>
            <a:ext cx="3971382" cy="29068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657" y="920256"/>
            <a:ext cx="3918856" cy="296157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4810" y="3881835"/>
            <a:ext cx="4229100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934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crane_p190"/>
          <p:cNvPicPr>
            <a:picLocks noChangeAspect="1" noChangeArrowheads="1"/>
          </p:cNvPicPr>
          <p:nvPr/>
        </p:nvPicPr>
        <p:blipFill>
          <a:blip r:embed="rId2">
            <a:lum brigh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051" y="1069087"/>
            <a:ext cx="8438605" cy="5027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1658983" y="422756"/>
            <a:ext cx="866067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Basic Filtering in the Frequency Domain</a:t>
            </a:r>
          </a:p>
        </p:txBody>
      </p:sp>
    </p:spTree>
    <p:extLst>
      <p:ext uri="{BB962C8B-B14F-4D97-AF65-F5344CB8AC3E}">
        <p14:creationId xmlns:p14="http://schemas.microsoft.com/office/powerpoint/2010/main" val="1176245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Low-pass and High-pass Filters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53523"/>
            <a:ext cx="10515600" cy="3879669"/>
          </a:xfrm>
        </p:spPr>
        <p:txBody>
          <a:bodyPr/>
          <a:lstStyle/>
          <a:p>
            <a:r>
              <a:rPr lang="en-US" dirty="0"/>
              <a:t>Low Pass Filter attenuate high frequencies while “passing” low frequencies.</a:t>
            </a:r>
          </a:p>
          <a:p>
            <a:r>
              <a:rPr lang="en-US" dirty="0"/>
              <a:t>High Pass Filter attenuate low frequencies while “passing” high frequencies.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542" y="2442625"/>
            <a:ext cx="4324260" cy="4049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4242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 smtClean="0"/>
              <a:t>Types of Filters in Frequency Domain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Ideal </a:t>
            </a:r>
            <a:r>
              <a:rPr lang="en-US" dirty="0" smtClean="0"/>
              <a:t>low/High-pass </a:t>
            </a:r>
            <a:r>
              <a:rPr lang="en-US" dirty="0"/>
              <a:t>filter (</a:t>
            </a:r>
            <a:r>
              <a:rPr lang="en-US" dirty="0" smtClean="0"/>
              <a:t>ILPF/IHPF) </a:t>
            </a:r>
            <a:endParaRPr lang="en-US" dirty="0"/>
          </a:p>
          <a:p>
            <a:r>
              <a:rPr lang="en-US" dirty="0"/>
              <a:t>Butterworth </a:t>
            </a:r>
            <a:r>
              <a:rPr lang="en-US" dirty="0" smtClean="0"/>
              <a:t>low/High-pass </a:t>
            </a:r>
            <a:r>
              <a:rPr lang="en-US" dirty="0"/>
              <a:t>filter (</a:t>
            </a:r>
            <a:r>
              <a:rPr lang="en-US" dirty="0" smtClean="0"/>
              <a:t>BLPF/BHPF)</a:t>
            </a:r>
            <a:endParaRPr lang="en-US" dirty="0"/>
          </a:p>
          <a:p>
            <a:r>
              <a:rPr lang="en-US" dirty="0"/>
              <a:t>Gaussian </a:t>
            </a:r>
            <a:r>
              <a:rPr lang="en-US" dirty="0" smtClean="0"/>
              <a:t>low/High-pass </a:t>
            </a:r>
            <a:r>
              <a:rPr lang="en-US" dirty="0"/>
              <a:t>filter (</a:t>
            </a:r>
            <a:r>
              <a:rPr lang="en-US" dirty="0" smtClean="0"/>
              <a:t>GLPF/GHPF)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497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896" y="0"/>
            <a:ext cx="10515600" cy="832370"/>
          </a:xfrm>
        </p:spPr>
        <p:txBody>
          <a:bodyPr/>
          <a:lstStyle/>
          <a:p>
            <a:pPr algn="ctr"/>
            <a:r>
              <a:rPr lang="en-US" dirty="0"/>
              <a:t>Ideal Low-pass Filters</a:t>
            </a:r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4742" y="832370"/>
            <a:ext cx="8085907" cy="2674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8327379"/>
              </p:ext>
            </p:extLst>
          </p:nvPr>
        </p:nvGraphicFramePr>
        <p:xfrm>
          <a:off x="2411232" y="3507222"/>
          <a:ext cx="6375400" cy="209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2" name="Equation" r:id="rId4" imgW="2323800" imgH="761760" progId="Equation.3">
                  <p:embed/>
                </p:oleObj>
              </mc:Choice>
              <mc:Fallback>
                <p:oleObj name="Equation" r:id="rId4" imgW="2323800" imgH="761760" progId="Equation.3">
                  <p:embed/>
                  <p:pic>
                    <p:nvPicPr>
                      <p:cNvPr id="1536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232" y="3507222"/>
                        <a:ext cx="6375400" cy="209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6926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410" y="1252538"/>
            <a:ext cx="9457509" cy="3998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809896" y="0"/>
            <a:ext cx="10515600" cy="83237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20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20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20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20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20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20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20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20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20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 algn="ctr"/>
            <a:r>
              <a:rPr lang="en-US" smtClean="0"/>
              <a:t>Ideal Low-pass Filters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10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6120"/>
            <a:ext cx="10515600" cy="832370"/>
          </a:xfrm>
        </p:spPr>
        <p:txBody>
          <a:bodyPr/>
          <a:lstStyle/>
          <a:p>
            <a:pPr algn="ctr"/>
            <a:r>
              <a:rPr lang="en-US" dirty="0"/>
              <a:t>Butterworth Low-pass Filters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303" y="830806"/>
            <a:ext cx="8360227" cy="2688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7737273"/>
              </p:ext>
            </p:extLst>
          </p:nvPr>
        </p:nvGraphicFramePr>
        <p:xfrm>
          <a:off x="3110820" y="3683727"/>
          <a:ext cx="4435475" cy="1606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4" name="Equation" r:id="rId4" imgW="1752480" imgH="444240" progId="Equation.3">
                  <p:embed/>
                </p:oleObj>
              </mc:Choice>
              <mc:Fallback>
                <p:oleObj name="Equation" r:id="rId4" imgW="1752480" imgH="444240" progId="Equation.3">
                  <p:embed/>
                  <p:pic>
                    <p:nvPicPr>
                      <p:cNvPr id="1843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0820" y="3683727"/>
                        <a:ext cx="4435475" cy="16067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07332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680" y="654504"/>
            <a:ext cx="8321040" cy="587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914400" y="0"/>
            <a:ext cx="10515600" cy="83237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20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20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20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20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20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20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20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20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20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 algn="ctr"/>
            <a:r>
              <a:rPr lang="en-US" smtClean="0"/>
              <a:t>Butterworth Low-pass Filters</a:t>
            </a:r>
            <a:br>
              <a:rPr lang="en-US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15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2875"/>
            <a:ext cx="10515600" cy="575399"/>
          </a:xfrm>
        </p:spPr>
        <p:txBody>
          <a:bodyPr/>
          <a:lstStyle/>
          <a:p>
            <a:pPr algn="ctr"/>
            <a:r>
              <a:rPr lang="en-US" dirty="0"/>
              <a:t>Gaussian Low-pass Filters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549" y="751313"/>
            <a:ext cx="8725988" cy="274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6803080"/>
              </p:ext>
            </p:extLst>
          </p:nvPr>
        </p:nvGraphicFramePr>
        <p:xfrm>
          <a:off x="1972491" y="4030708"/>
          <a:ext cx="7341325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7" name="Equation" r:id="rId4" imgW="1371600" imgH="266400" progId="Equation.3">
                  <p:embed/>
                </p:oleObj>
              </mc:Choice>
              <mc:Fallback>
                <p:oleObj name="Equation" r:id="rId4" imgW="1371600" imgH="266400" progId="Equation.3">
                  <p:embed/>
                  <p:pic>
                    <p:nvPicPr>
                      <p:cNvPr id="1945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2491" y="4030708"/>
                        <a:ext cx="7341325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736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051" y="575399"/>
            <a:ext cx="7772401" cy="587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851263" y="0"/>
            <a:ext cx="10515600" cy="575399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20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20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20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20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20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20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20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20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20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 algn="ctr"/>
            <a:r>
              <a:rPr lang="en-US" smtClean="0"/>
              <a:t>Gaussian Low-pass Filters</a:t>
            </a:r>
            <a:br>
              <a:rPr lang="en-US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125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636" y="1148534"/>
            <a:ext cx="6928757" cy="517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1319350" y="135373"/>
            <a:ext cx="889580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chemeClr val="tx2"/>
                </a:solidFill>
              </a:rPr>
              <a:t>Sharpening Frequency Domain Filters</a:t>
            </a:r>
            <a:endParaRPr lang="en-US" sz="4400" b="1" dirty="0">
              <a:solidFill>
                <a:schemeClr val="tx2"/>
              </a:solidFill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8542723" y="3350578"/>
            <a:ext cx="33448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Times New Roman" pitchFamily="18" charset="0"/>
              </a:defRPr>
            </a:lvl9pPr>
          </a:lstStyle>
          <a:p>
            <a:r>
              <a:rPr lang="en-US" sz="2800" i="1" dirty="0" err="1">
                <a:latin typeface="Times New Roman" pitchFamily="18" charset="0"/>
              </a:rPr>
              <a:t>H</a:t>
            </a:r>
            <a:r>
              <a:rPr lang="en-US" sz="2800" i="1" baseline="-25000" dirty="0" err="1">
                <a:latin typeface="Times New Roman" pitchFamily="18" charset="0"/>
              </a:rPr>
              <a:t>hp</a:t>
            </a:r>
            <a:r>
              <a:rPr lang="en-US" sz="2800" dirty="0">
                <a:latin typeface="Times New Roman" pitchFamily="18" charset="0"/>
              </a:rPr>
              <a:t>(</a:t>
            </a:r>
            <a:r>
              <a:rPr lang="en-US" sz="2800" i="1" dirty="0" err="1">
                <a:latin typeface="Times New Roman" pitchFamily="18" charset="0"/>
              </a:rPr>
              <a:t>u</a:t>
            </a:r>
            <a:r>
              <a:rPr lang="en-US" sz="2800" dirty="0" err="1">
                <a:latin typeface="Times New Roman" pitchFamily="18" charset="0"/>
              </a:rPr>
              <a:t>,</a:t>
            </a:r>
            <a:r>
              <a:rPr lang="en-US" sz="2800" i="1" dirty="0" err="1">
                <a:latin typeface="Times New Roman" pitchFamily="18" charset="0"/>
              </a:rPr>
              <a:t>v</a:t>
            </a:r>
            <a:r>
              <a:rPr lang="en-US" sz="2800" dirty="0">
                <a:latin typeface="Times New Roman" pitchFamily="18" charset="0"/>
              </a:rPr>
              <a:t>) = 1 - </a:t>
            </a:r>
            <a:r>
              <a:rPr lang="en-US" sz="2800" i="1" dirty="0" err="1">
                <a:latin typeface="Times New Roman" pitchFamily="18" charset="0"/>
              </a:rPr>
              <a:t>H</a:t>
            </a:r>
            <a:r>
              <a:rPr lang="en-US" sz="2800" i="1" baseline="-25000" dirty="0" err="1">
                <a:latin typeface="Times New Roman" pitchFamily="18" charset="0"/>
              </a:rPr>
              <a:t>lp</a:t>
            </a:r>
            <a:r>
              <a:rPr lang="en-US" sz="2800" dirty="0">
                <a:latin typeface="Times New Roman" pitchFamily="18" charset="0"/>
              </a:rPr>
              <a:t>(</a:t>
            </a:r>
            <a:r>
              <a:rPr lang="en-US" sz="2800" i="1" dirty="0" err="1">
                <a:latin typeface="Times New Roman" pitchFamily="18" charset="0"/>
              </a:rPr>
              <a:t>u</a:t>
            </a:r>
            <a:r>
              <a:rPr lang="en-US" sz="2800" dirty="0" err="1">
                <a:latin typeface="Times New Roman" pitchFamily="18" charset="0"/>
              </a:rPr>
              <a:t>,</a:t>
            </a:r>
            <a:r>
              <a:rPr lang="en-US" sz="2800" i="1" dirty="0" err="1">
                <a:latin typeface="Times New Roman" pitchFamily="18" charset="0"/>
              </a:rPr>
              <a:t>v</a:t>
            </a:r>
            <a:r>
              <a:rPr lang="en-US" sz="2800" dirty="0">
                <a:latin typeface="Times New Roman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53881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898" y="0"/>
            <a:ext cx="10515600" cy="832370"/>
          </a:xfrm>
        </p:spPr>
        <p:txBody>
          <a:bodyPr/>
          <a:lstStyle/>
          <a:p>
            <a:pPr algn="ctr"/>
            <a:r>
              <a:rPr lang="en-US" dirty="0"/>
              <a:t>Ideal High-pass Filters</a:t>
            </a:r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224" y="832370"/>
            <a:ext cx="9548948" cy="3177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6755115"/>
              </p:ext>
            </p:extLst>
          </p:nvPr>
        </p:nvGraphicFramePr>
        <p:xfrm>
          <a:off x="2618921" y="4190998"/>
          <a:ext cx="5441950" cy="1303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9" name="Equation" r:id="rId4" imgW="2006280" imgH="482400" progId="Equation.3">
                  <p:embed/>
                </p:oleObj>
              </mc:Choice>
              <mc:Fallback>
                <p:oleObj name="Equation" r:id="rId4" imgW="2006280" imgH="482400" progId="Equation.3">
                  <p:embed/>
                  <p:pic>
                    <p:nvPicPr>
                      <p:cNvPr id="2048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8921" y="4190998"/>
                        <a:ext cx="5441950" cy="1303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39052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Butterworth High-pass Filters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790" y="729060"/>
            <a:ext cx="8987244" cy="3085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8289173"/>
              </p:ext>
            </p:extLst>
          </p:nvPr>
        </p:nvGraphicFramePr>
        <p:xfrm>
          <a:off x="2899954" y="4230539"/>
          <a:ext cx="5368835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1" name="Equation" r:id="rId4" imgW="1752480" imgH="444240" progId="Equation.3">
                  <p:embed/>
                </p:oleObj>
              </mc:Choice>
              <mc:Fallback>
                <p:oleObj name="Equation" r:id="rId4" imgW="1752480" imgH="444240" progId="Equation.3">
                  <p:embed/>
                  <p:pic>
                    <p:nvPicPr>
                      <p:cNvPr id="2150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9954" y="4230539"/>
                        <a:ext cx="5368835" cy="112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66597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Gaussian High-pass Filters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2046" y="823701"/>
            <a:ext cx="8634548" cy="2925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0810233"/>
              </p:ext>
            </p:extLst>
          </p:nvPr>
        </p:nvGraphicFramePr>
        <p:xfrm>
          <a:off x="3129915" y="4259866"/>
          <a:ext cx="4772025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3" name="Equation" r:id="rId4" imgW="1549080" imgH="266400" progId="Equation.3">
                  <p:embed/>
                </p:oleObj>
              </mc:Choice>
              <mc:Fallback>
                <p:oleObj name="Equation" r:id="rId4" imgW="1549080" imgH="266400" progId="Equation.3">
                  <p:embed/>
                  <p:pic>
                    <p:nvPicPr>
                      <p:cNvPr id="2253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9915" y="4259866"/>
                        <a:ext cx="4772025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15683179"/>
      </p:ext>
    </p:extLst>
  </p:cSld>
  <p:clrMapOvr>
    <a:masterClrMapping/>
  </p:clrMapOvr>
</p:sld>
</file>

<file path=ppt/theme/theme1.xml><?xml version="1.0" encoding="utf-8"?>
<a:theme xmlns:a="http://schemas.openxmlformats.org/drawingml/2006/main" name="PPT FORMAT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FORMAT</Template>
  <TotalTime>1499</TotalTime>
  <Words>183</Words>
  <Application>Microsoft Office PowerPoint</Application>
  <PresentationFormat>Widescreen</PresentationFormat>
  <Paragraphs>29</Paragraphs>
  <Slides>17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Cambria</vt:lpstr>
      <vt:lpstr>Times New Roman</vt:lpstr>
      <vt:lpstr>PPT FORMAT</vt:lpstr>
      <vt:lpstr>Microsoft Equation 3.0</vt:lpstr>
      <vt:lpstr>Equation</vt:lpstr>
      <vt:lpstr>PowerPoint Presentation</vt:lpstr>
      <vt:lpstr>Basic Filtering in the Frequency Domain</vt:lpstr>
      <vt:lpstr>Basic Filtering in the Frequency Domain </vt:lpstr>
      <vt:lpstr>2D Fourier Transform Eg..</vt:lpstr>
      <vt:lpstr>PowerPoint Presentation</vt:lpstr>
      <vt:lpstr>Low-pass and High-pass Filters </vt:lpstr>
      <vt:lpstr>Types of Filters in Frequency Domain</vt:lpstr>
      <vt:lpstr>Ideal Low-pass Filters</vt:lpstr>
      <vt:lpstr>PowerPoint Presentation</vt:lpstr>
      <vt:lpstr>Butterworth Low-pass Filters </vt:lpstr>
      <vt:lpstr>PowerPoint Presentation</vt:lpstr>
      <vt:lpstr>Gaussian Low-pass Filters </vt:lpstr>
      <vt:lpstr>PowerPoint Presentation</vt:lpstr>
      <vt:lpstr>PowerPoint Presentation</vt:lpstr>
      <vt:lpstr>Ideal High-pass Filters</vt:lpstr>
      <vt:lpstr>Butterworth High-pass Filters </vt:lpstr>
      <vt:lpstr>Gaussian High-pass Filters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CSE395</dc:title>
  <dc:creator>Windows User</dc:creator>
  <cp:lastModifiedBy>admin</cp:lastModifiedBy>
  <cp:revision>236</cp:revision>
  <dcterms:created xsi:type="dcterms:W3CDTF">2019-08-23T05:46:45Z</dcterms:created>
  <dcterms:modified xsi:type="dcterms:W3CDTF">2022-11-21T14:43:27Z</dcterms:modified>
</cp:coreProperties>
</file>