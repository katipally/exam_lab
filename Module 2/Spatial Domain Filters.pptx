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6" r:id="rId2"/>
    <p:sldId id="301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49" r:id="rId41"/>
    <p:sldId id="350" r:id="rId42"/>
    <p:sldId id="351" r:id="rId43"/>
    <p:sldId id="352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36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3DDC9-D3C2-7C99-A4AA-3F9FD5642552}" v="2" dt="2023-06-16T14:02:34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SHAN GOWDA G" userId="S::darshan.20201com0058@presidencyuniversity.in::c70419c2-56bc-4078-9798-bdfebc5e9c90" providerId="AD" clId="Web-{5243DDC9-D3C2-7C99-A4AA-3F9FD5642552}"/>
    <pc:docChg chg="addSld delSld">
      <pc:chgData name="DARSHAN GOWDA G" userId="S::darshan.20201com0058@presidencyuniversity.in::c70419c2-56bc-4078-9798-bdfebc5e9c90" providerId="AD" clId="Web-{5243DDC9-D3C2-7C99-A4AA-3F9FD5642552}" dt="2023-06-16T14:02:34.441" v="1"/>
      <pc:docMkLst>
        <pc:docMk/>
      </pc:docMkLst>
      <pc:sldChg chg="new del">
        <pc:chgData name="DARSHAN GOWDA G" userId="S::darshan.20201com0058@presidencyuniversity.in::c70419c2-56bc-4078-9798-bdfebc5e9c90" providerId="AD" clId="Web-{5243DDC9-D3C2-7C99-A4AA-3F9FD5642552}" dt="2023-06-16T14:02:34.441" v="1"/>
        <pc:sldMkLst>
          <pc:docMk/>
          <pc:sldMk cId="3562216552" sldId="3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79008-E739-4DF0-AD6A-2CD797F7AAE6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E5A6F-281D-47F3-B400-5377046C32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3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786F362-4B85-486C-9B3F-E8EC3BB33E61}" type="slidenum">
              <a:rPr lang="en-US" altLang="en-US" sz="1200" smtClean="0"/>
              <a:pPr/>
              <a:t>32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693493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2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/>
              <a:t>Department of Computer Engineering, CMU</a:t>
            </a:r>
            <a:endParaRPr lang="th-TH" altLang="en-US" sz="1200"/>
          </a:p>
        </p:txBody>
      </p:sp>
      <p:sp>
        <p:nvSpPr>
          <p:cNvPr id="4301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80DE554-FEB0-4025-9E4C-3A2419F901BA}" type="slidenum">
              <a:rPr lang="en-US" altLang="en-US" sz="1200" smtClean="0"/>
              <a:pPr/>
              <a:t>37</a:t>
            </a:fld>
            <a:endParaRPr lang="th-TH" altLang="en-US" sz="1200"/>
          </a:p>
        </p:txBody>
      </p:sp>
    </p:spTree>
    <p:extLst>
      <p:ext uri="{BB962C8B-B14F-4D97-AF65-F5344CB8AC3E}">
        <p14:creationId xmlns:p14="http://schemas.microsoft.com/office/powerpoint/2010/main" val="1354986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BAEC69F-3CE4-41FB-94D9-3D081FBEA131}" type="slidenum">
              <a:rPr lang="en-US" altLang="en-US" sz="1200" smtClean="0"/>
              <a:pPr/>
              <a:t>38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985099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AD599CF-C8FB-44E6-94E9-2318F2CE531C}" type="slidenum">
              <a:rPr lang="en-US" altLang="en-US" sz="1200" smtClean="0"/>
              <a:pPr/>
              <a:t>40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99919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17D023F-84D7-4EC4-8526-8A369AA4DE18}" type="slidenum">
              <a:rPr lang="en-US" altLang="en-US" sz="1200" smtClean="0"/>
              <a:pPr/>
              <a:t>42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523501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492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/>
              <a:t>Department of Computer Engineering, CMU</a:t>
            </a:r>
            <a:endParaRPr lang="th-TH" altLang="en-US" sz="1200"/>
          </a:p>
        </p:txBody>
      </p:sp>
      <p:sp>
        <p:nvSpPr>
          <p:cNvPr id="6349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7B33552-BB94-4F05-ADC7-36DD4F0C7A8A}" type="slidenum">
              <a:rPr lang="en-US" altLang="en-US" sz="1200" smtClean="0"/>
              <a:pPr/>
              <a:t>43</a:t>
            </a:fld>
            <a:endParaRPr lang="th-TH" altLang="en-US" sz="1200"/>
          </a:p>
        </p:txBody>
      </p:sp>
    </p:spTree>
    <p:extLst>
      <p:ext uri="{BB962C8B-B14F-4D97-AF65-F5344CB8AC3E}">
        <p14:creationId xmlns:p14="http://schemas.microsoft.com/office/powerpoint/2010/main" val="4138655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540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/>
              <a:t>Department of Computer Engineering, CMU</a:t>
            </a:r>
            <a:endParaRPr lang="th-TH" altLang="en-US" sz="1200"/>
          </a:p>
        </p:txBody>
      </p:sp>
      <p:sp>
        <p:nvSpPr>
          <p:cNvPr id="655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EEE365B-1B90-45BA-9121-2F950A77DF11}" type="slidenum">
              <a:rPr lang="en-US" altLang="en-US" sz="1200" smtClean="0"/>
              <a:pPr/>
              <a:t>44</a:t>
            </a:fld>
            <a:endParaRPr lang="th-TH" altLang="en-US" sz="1200"/>
          </a:p>
        </p:txBody>
      </p:sp>
    </p:spTree>
    <p:extLst>
      <p:ext uri="{BB962C8B-B14F-4D97-AF65-F5344CB8AC3E}">
        <p14:creationId xmlns:p14="http://schemas.microsoft.com/office/powerpoint/2010/main" val="3965422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636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/>
              <a:t>Department of Computer Engineering, CMU</a:t>
            </a:r>
            <a:endParaRPr lang="th-TH" altLang="en-US" sz="1200"/>
          </a:p>
        </p:txBody>
      </p:sp>
      <p:sp>
        <p:nvSpPr>
          <p:cNvPr id="6963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00FCDD2-8D03-4FA0-A0FD-E70CF2E5550C}" type="slidenum">
              <a:rPr lang="en-US" altLang="en-US" sz="1200" smtClean="0"/>
              <a:pPr/>
              <a:t>46</a:t>
            </a:fld>
            <a:endParaRPr lang="th-TH" altLang="en-US" sz="1200"/>
          </a:p>
        </p:txBody>
      </p:sp>
    </p:spTree>
    <p:extLst>
      <p:ext uri="{BB962C8B-B14F-4D97-AF65-F5344CB8AC3E}">
        <p14:creationId xmlns:p14="http://schemas.microsoft.com/office/powerpoint/2010/main" val="2675345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769BDCC-A2A8-45C2-A801-20FDC14AE4E4}" type="slidenum">
              <a:rPr lang="en-US" altLang="en-US" sz="1200" smtClean="0"/>
              <a:pPr/>
              <a:t>47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37021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732" name="Header Placeholder 3"/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/>
              <a:t>Department of Computer Engineering, CMU</a:t>
            </a:r>
            <a:endParaRPr lang="th-TH" altLang="en-US" sz="1200"/>
          </a:p>
        </p:txBody>
      </p:sp>
      <p:sp>
        <p:nvSpPr>
          <p:cNvPr id="7373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476B9F4-DC52-46F2-A8C8-575E287E142D}" type="slidenum">
              <a:rPr lang="en-US" altLang="en-US" sz="1200" smtClean="0"/>
              <a:pPr/>
              <a:t>48</a:t>
            </a:fld>
            <a:endParaRPr lang="th-TH" altLang="en-US" sz="1200"/>
          </a:p>
        </p:txBody>
      </p:sp>
    </p:spTree>
    <p:extLst>
      <p:ext uri="{BB962C8B-B14F-4D97-AF65-F5344CB8AC3E}">
        <p14:creationId xmlns:p14="http://schemas.microsoft.com/office/powerpoint/2010/main" val="2814817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096237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6684" y="6381751"/>
            <a:ext cx="2743200" cy="365125"/>
          </a:xfrm>
        </p:spPr>
        <p:txBody>
          <a:bodyPr/>
          <a:lstStyle>
            <a:lvl1pPr defTabSz="914400">
              <a:defRPr sz="1600" b="1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875"/>
            <a:ext cx="10515600" cy="8323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3879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14933" y="6429376"/>
            <a:ext cx="2743200" cy="365125"/>
          </a:xfrm>
        </p:spPr>
        <p:txBody>
          <a:bodyPr/>
          <a:lstStyle>
            <a:lvl1pPr defTabSz="914400">
              <a:defRPr sz="1400" b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3002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72731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2017713"/>
            <a:ext cx="5511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6200" y="2017713"/>
            <a:ext cx="551391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06A412-EAA5-4970-BBB8-4B5A59E13D81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74315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0612D14-CBA2-468E-96F8-10D479708BAB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5153026"/>
            <a:ext cx="121920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6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14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56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62.wmf"/><Relationship Id="rId4" Type="http://schemas.openxmlformats.org/officeDocument/2006/relationships/oleObject" Target="../embeddings/oleObject20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64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70.png"/><Relationship Id="rId4" Type="http://schemas.openxmlformats.org/officeDocument/2006/relationships/image" Target="../media/image67.wmf"/><Relationship Id="rId9" Type="http://schemas.openxmlformats.org/officeDocument/2006/relationships/oleObject" Target="../embeddings/oleObject28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71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4930" y="2061005"/>
            <a:ext cx="9144000" cy="2543268"/>
          </a:xfrm>
        </p:spPr>
        <p:txBody>
          <a:bodyPr>
            <a:normAutofit/>
          </a:bodyPr>
          <a:lstStyle/>
          <a:p>
            <a:pPr marL="295275">
              <a:lnSpc>
                <a:spcPts val="7859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in Spatial Domain</a:t>
            </a:r>
          </a:p>
        </p:txBody>
      </p:sp>
    </p:spTree>
    <p:extLst>
      <p:ext uri="{BB962C8B-B14F-4D97-AF65-F5344CB8AC3E}">
        <p14:creationId xmlns:p14="http://schemas.microsoft.com/office/powerpoint/2010/main" val="305694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Spatial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4139773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term in “Digital image processing” is referred to  the sub-image.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others term to call sub-image such as mask,  kernel, template, or window.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in a filter sub-image are referred as  coefficients, rather than pixels.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filtering term is the filtering operations that are performed directly on the pixels of an image.</a:t>
            </a:r>
          </a:p>
        </p:txBody>
      </p:sp>
    </p:spTree>
    <p:extLst>
      <p:ext uri="{BB962C8B-B14F-4D97-AF65-F5344CB8AC3E}">
        <p14:creationId xmlns:p14="http://schemas.microsoft.com/office/powerpoint/2010/main" val="313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Spatial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Spatial filtering are defined by:</a:t>
            </a:r>
          </a:p>
          <a:p>
            <a:pPr lvl="1"/>
            <a:r>
              <a:rPr lang="en-US" dirty="0"/>
              <a:t>A neighborhood.</a:t>
            </a:r>
          </a:p>
          <a:p>
            <a:pPr lvl="1"/>
            <a:r>
              <a:rPr lang="en-US" dirty="0"/>
              <a:t>A predefined operation that is performed on the  pixels inside the neighborhood.</a:t>
            </a:r>
          </a:p>
          <a:p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1500923" y="2871288"/>
            <a:ext cx="7766304" cy="2971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0550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Spatial Neighborhood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Typically, the neighborhood is rectangular and its size is  much smaller than that of f(</a:t>
            </a:r>
            <a:r>
              <a:rPr lang="en-US" dirty="0" err="1"/>
              <a:t>x,y</a:t>
            </a:r>
            <a:r>
              <a:rPr lang="en-US" dirty="0"/>
              <a:t>). </a:t>
            </a:r>
            <a:r>
              <a:rPr lang="en-US" dirty="0" err="1"/>
              <a:t>E.g</a:t>
            </a:r>
            <a:r>
              <a:rPr lang="en-US" dirty="0"/>
              <a:t> e.g., 3x3 or 5x5</a:t>
            </a:r>
          </a:p>
          <a:p>
            <a:r>
              <a:rPr lang="en-US" dirty="0"/>
              <a:t>The process consists simply of moving the filter  mask from point to point in an image.</a:t>
            </a:r>
          </a:p>
          <a:p>
            <a:r>
              <a:rPr lang="en-US" dirty="0"/>
              <a:t>At each point (</a:t>
            </a:r>
            <a:r>
              <a:rPr lang="en-US" dirty="0" err="1"/>
              <a:t>x,y</a:t>
            </a:r>
            <a:r>
              <a:rPr lang="en-US" dirty="0"/>
              <a:t>) the response of the filter at  that point is calculated using a predefined  relationship.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491" y="4088673"/>
            <a:ext cx="8752116" cy="257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9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br>
              <a:rPr lang="en-US" dirty="0"/>
            </a:br>
            <a:r>
              <a:rPr lang="en-US" dirty="0"/>
              <a:t>Types of Spatial Filters</a:t>
            </a:r>
            <a:br>
              <a:rPr lang="en-US" dirty="0">
                <a:latin typeface="Book Antiqua"/>
                <a:cs typeface="Book Antiqua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Smoothing Spatial Filters.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Smoothing filters are used for blurring and for noise reduction.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 Sharpening Spatial Filters.</a:t>
            </a:r>
          </a:p>
          <a:p>
            <a:pPr marL="914400" lvl="2" indent="-4572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Highlight fine detail or enhance detail that has been blurred.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sp>
        <p:nvSpPr>
          <p:cNvPr id="8" name="object 2"/>
          <p:cNvSpPr/>
          <p:nvPr/>
        </p:nvSpPr>
        <p:spPr>
          <a:xfrm>
            <a:off x="838201" y="3409406"/>
            <a:ext cx="2388326" cy="1937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3725527" y="3411480"/>
            <a:ext cx="2792840" cy="19355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5"/>
          <p:cNvSpPr/>
          <p:nvPr/>
        </p:nvSpPr>
        <p:spPr>
          <a:xfrm>
            <a:off x="6830568" y="3500846"/>
            <a:ext cx="2391809" cy="17656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/>
          <p:cNvSpPr/>
          <p:nvPr/>
        </p:nvSpPr>
        <p:spPr>
          <a:xfrm>
            <a:off x="9686979" y="3409405"/>
            <a:ext cx="2312561" cy="17765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6038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pc="-5" dirty="0"/>
              <a:t>Smoothing Spatial</a:t>
            </a:r>
            <a:r>
              <a:rPr lang="en-US" spc="-35" dirty="0"/>
              <a:t> </a:t>
            </a:r>
            <a:r>
              <a:rPr lang="en-US" spc="-5" dirty="0"/>
              <a:t>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Smoothing filters are used for blurring and noise reduction.</a:t>
            </a:r>
          </a:p>
          <a:p>
            <a:r>
              <a:rPr lang="en-US" dirty="0"/>
              <a:t>Blurring is used in preprocessing steps to removal  of small details from an image prior to object  extraction and bridging of small gaps in lines or  curves.</a:t>
            </a:r>
          </a:p>
          <a:p>
            <a:r>
              <a:rPr lang="en-US" dirty="0"/>
              <a:t>Noise reduction can be accomplished by blurring.</a:t>
            </a:r>
          </a:p>
          <a:p>
            <a:r>
              <a:rPr lang="en-US" spc="-55" dirty="0"/>
              <a:t>Types </a:t>
            </a:r>
            <a:r>
              <a:rPr lang="en-US" spc="-5" dirty="0"/>
              <a:t>of Smoothing</a:t>
            </a:r>
            <a:r>
              <a:rPr lang="en-US" spc="55" dirty="0"/>
              <a:t> </a:t>
            </a:r>
            <a:r>
              <a:rPr lang="en-US" spc="-5" dirty="0"/>
              <a:t>Filter.</a:t>
            </a:r>
          </a:p>
          <a:p>
            <a:pPr lvl="1"/>
            <a:r>
              <a:rPr lang="en-US" dirty="0"/>
              <a:t>Linear Filters– operations performed on image pixel.</a:t>
            </a:r>
          </a:p>
          <a:p>
            <a:pPr lvl="1"/>
            <a:r>
              <a:rPr lang="en-US" dirty="0"/>
              <a:t>Order-Statistics	(non-linear)Filters – based on ranking the pixels.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149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pc="-5" dirty="0"/>
              <a:t>Linear</a:t>
            </a:r>
            <a:r>
              <a:rPr lang="en-US" spc="-55" dirty="0"/>
              <a:t> </a:t>
            </a:r>
            <a:r>
              <a:rPr lang="en-US" spc="-5" dirty="0"/>
              <a:t>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spatial filter is simply the average of the pixels contained in the neighborhood of the filter  mask.</a:t>
            </a:r>
          </a:p>
          <a:p>
            <a:r>
              <a:rPr lang="en-US" dirty="0"/>
              <a:t>The idea is replacing the value of every pixel in an  image by the average of the gray levels in the  neighborhood defined by the filter mask.</a:t>
            </a:r>
          </a:p>
          <a:p>
            <a:r>
              <a:rPr lang="en-US" dirty="0"/>
              <a:t>This	 process result in an image reduce the sharp transitions in intensities.</a:t>
            </a:r>
          </a:p>
          <a:p>
            <a:r>
              <a:rPr lang="en-US" dirty="0"/>
              <a:t>Two types of mask used in Linear Filters.</a:t>
            </a:r>
          </a:p>
          <a:p>
            <a:pPr lvl="1"/>
            <a:r>
              <a:rPr lang="en-US" dirty="0"/>
              <a:t>Averaging filter and Weighted averaging filter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91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pc="-15" dirty="0"/>
              <a:t>Averaging</a:t>
            </a:r>
            <a:r>
              <a:rPr lang="en-US" spc="-40" dirty="0"/>
              <a:t> Linear </a:t>
            </a:r>
            <a:r>
              <a:rPr lang="en-US" spc="-5" dirty="0"/>
              <a:t>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major use of averaging filters is in the reduction  of irrelevant detail in image.</a:t>
            </a:r>
          </a:p>
          <a:p>
            <a:r>
              <a:rPr lang="en-US" dirty="0" err="1"/>
              <a:t>mxn</a:t>
            </a:r>
            <a:r>
              <a:rPr lang="en-US" dirty="0"/>
              <a:t>	mask	would have	a normalizing constant  equal to 1/</a:t>
            </a:r>
            <a:r>
              <a:rPr lang="en-US" dirty="0" err="1"/>
              <a:t>mn</a:t>
            </a:r>
            <a:r>
              <a:rPr lang="en-US" dirty="0"/>
              <a:t>, Its also known as low pass filter.</a:t>
            </a:r>
          </a:p>
          <a:p>
            <a:r>
              <a:rPr lang="en-US" dirty="0"/>
              <a:t>A spatial averaging filter in which all coefficients are  equal is called a box filter.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98" y="4055745"/>
            <a:ext cx="2457450" cy="2038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886" y="3812857"/>
            <a:ext cx="543877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12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pc="-15" dirty="0"/>
              <a:t>Weighted Averaging</a:t>
            </a:r>
            <a:r>
              <a:rPr lang="en-US" spc="-240" dirty="0"/>
              <a:t> </a:t>
            </a:r>
            <a:r>
              <a:rPr lang="en-US" spc="-5" dirty="0"/>
              <a:t>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general implementation for filtering an </a:t>
            </a:r>
            <a:r>
              <a:rPr lang="en-US" dirty="0" err="1"/>
              <a:t>MxN</a:t>
            </a:r>
            <a:r>
              <a:rPr lang="en-US" dirty="0"/>
              <a:t>  image with a weighted averaging filter of size m x  n is given by the expression.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27432" fontAlgn="t">
              <a:lnSpc>
                <a:spcPts val="2655"/>
              </a:lnSpc>
              <a:spcBef>
                <a:spcPts val="0"/>
              </a:spcBef>
              <a:spcAft>
                <a:spcPts val="0"/>
              </a:spcAft>
              <a:tabLst>
                <a:tab pos="878840" algn="l"/>
              </a:tabLst>
            </a:pPr>
            <a:r>
              <a:rPr lang="en-US" dirty="0"/>
              <a:t>For	complete filtered image apply x = 0,1,2,3……..m-1 and y=0,1,2,3,……..n-1 in the above equation.</a:t>
            </a:r>
          </a:p>
          <a:p>
            <a:pPr marL="27432" fontAlgn="t">
              <a:lnSpc>
                <a:spcPts val="2655"/>
              </a:lnSpc>
              <a:spcBef>
                <a:spcPts val="0"/>
              </a:spcBef>
              <a:spcAft>
                <a:spcPts val="0"/>
              </a:spcAft>
              <a:tabLst>
                <a:tab pos="878840" algn="l"/>
              </a:tabLst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863" y="2351314"/>
            <a:ext cx="8477793" cy="17539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484" y="4546147"/>
            <a:ext cx="26574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77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73" y="110624"/>
            <a:ext cx="10971576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274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599"/>
            <a:ext cx="5486400" cy="45894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182" y="228600"/>
            <a:ext cx="5811396" cy="458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99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8" y="174172"/>
            <a:ext cx="5747656" cy="4319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1" y="174171"/>
            <a:ext cx="5512526" cy="431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77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5" y="239485"/>
            <a:ext cx="5786845" cy="44631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105" y="239485"/>
            <a:ext cx="5912849" cy="446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54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32" y="125094"/>
            <a:ext cx="8671212" cy="590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34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1" y="164497"/>
            <a:ext cx="8458199" cy="658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16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02891"/>
            <a:ext cx="8534400" cy="653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27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547" y="490854"/>
            <a:ext cx="8735209" cy="598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85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9480"/>
            <a:ext cx="7848600" cy="625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23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348" y="241663"/>
            <a:ext cx="8782213" cy="591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29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pc="-5" dirty="0"/>
              <a:t>Order-Statistics</a:t>
            </a:r>
            <a:r>
              <a:rPr lang="en-US" spc="15" dirty="0"/>
              <a:t> </a:t>
            </a:r>
            <a:r>
              <a:rPr lang="en-US" spc="-5" dirty="0"/>
              <a:t>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Order-statistics filters are nonlinear spatial filters.</a:t>
            </a:r>
          </a:p>
          <a:p>
            <a:pPr fontAlgn="t"/>
            <a:r>
              <a:rPr lang="en-US" dirty="0"/>
              <a:t>It is based on ordering	(ranking) the pixels contained	 in the image area encompassed by the filter.</a:t>
            </a:r>
          </a:p>
          <a:p>
            <a:pPr fontAlgn="t"/>
            <a:r>
              <a:rPr lang="en-US" dirty="0"/>
              <a:t>It replaces the value of the center pixel with the value determined by the ranking result.</a:t>
            </a:r>
          </a:p>
          <a:p>
            <a:pPr fontAlgn="t"/>
            <a:r>
              <a:rPr lang="en-US" dirty="0"/>
              <a:t>The filter selects a sample from the window, does  not average.</a:t>
            </a:r>
          </a:p>
          <a:p>
            <a:pPr fontAlgn="t"/>
            <a:r>
              <a:rPr lang="en-US" dirty="0"/>
              <a:t>Edges are better preserved than with liner filters  Best suited for “salt and pepper” noise.</a:t>
            </a:r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340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pc="-55" dirty="0"/>
              <a:t>Types </a:t>
            </a:r>
            <a:r>
              <a:rPr lang="en-US" spc="-5" dirty="0"/>
              <a:t>of order-statics</a:t>
            </a:r>
            <a:r>
              <a:rPr lang="en-US" spc="85" dirty="0"/>
              <a:t> </a:t>
            </a:r>
            <a:r>
              <a:rPr lang="en-US" spc="-5" dirty="0"/>
              <a:t>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4389120"/>
          </a:xfrm>
        </p:spPr>
        <p:txBody>
          <a:bodyPr/>
          <a:lstStyle/>
          <a:p>
            <a:r>
              <a:rPr lang="nn-NO" dirty="0"/>
              <a:t>Minimum filter.</a:t>
            </a:r>
          </a:p>
          <a:p>
            <a:pPr lvl="1"/>
            <a:r>
              <a:rPr lang="en-US" dirty="0"/>
              <a:t>Minimum filter selects the smallest value in the  window and replace the center by the smallest  value.</a:t>
            </a:r>
          </a:p>
          <a:p>
            <a:pPr lvl="1"/>
            <a:r>
              <a:rPr lang="en-US" dirty="0"/>
              <a:t>Generally used to enhances the dark areas of image.</a:t>
            </a:r>
            <a:endParaRPr lang="nn-NO" dirty="0"/>
          </a:p>
          <a:p>
            <a:r>
              <a:rPr lang="nn-NO" dirty="0"/>
              <a:t>  Maximum filter.</a:t>
            </a:r>
          </a:p>
          <a:p>
            <a:pPr lvl="1"/>
            <a:r>
              <a:rPr lang="en-US" dirty="0"/>
              <a:t>The maximum filter selects the largest value within  of pixel values, and replace the center by the  largest value.</a:t>
            </a:r>
          </a:p>
          <a:p>
            <a:pPr lvl="1"/>
            <a:r>
              <a:rPr lang="en-US" dirty="0"/>
              <a:t>Generally used to enhances the bright areas of image.</a:t>
            </a:r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611785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pc="-55" dirty="0"/>
              <a:t>Types </a:t>
            </a:r>
            <a:r>
              <a:rPr lang="en-US" spc="-5" dirty="0"/>
              <a:t>of order-statics</a:t>
            </a:r>
            <a:r>
              <a:rPr lang="en-US" spc="85" dirty="0"/>
              <a:t> </a:t>
            </a:r>
            <a:r>
              <a:rPr lang="en-US" spc="-5" dirty="0"/>
              <a:t>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pc="-5" dirty="0"/>
              <a:t>Median</a:t>
            </a:r>
            <a:r>
              <a:rPr lang="en-US" spc="-85" dirty="0"/>
              <a:t> </a:t>
            </a:r>
            <a:r>
              <a:rPr lang="en-US" dirty="0"/>
              <a:t>Filter -Three steps to be followed to run a median filter.</a:t>
            </a:r>
          </a:p>
          <a:p>
            <a:pPr lvl="1"/>
            <a:r>
              <a:rPr lang="en-US" dirty="0"/>
              <a:t>Consider each pixel in the image</a:t>
            </a:r>
          </a:p>
          <a:p>
            <a:pPr lvl="1"/>
            <a:r>
              <a:rPr lang="en-US" dirty="0"/>
              <a:t>Sort the neighboring pixels into order based upon  their intensities</a:t>
            </a:r>
          </a:p>
          <a:p>
            <a:pPr lvl="1"/>
            <a:r>
              <a:rPr lang="en-US" dirty="0"/>
              <a:t>Replace the original value of the pixel with the median value from the list.</a:t>
            </a:r>
          </a:p>
          <a:p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2566633" y="3246120"/>
            <a:ext cx="6825562" cy="32591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0232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537" y="209006"/>
            <a:ext cx="9823269" cy="546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60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1" y="287383"/>
            <a:ext cx="9640389" cy="580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9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365760"/>
            <a:ext cx="9993086" cy="542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88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03" y="391886"/>
            <a:ext cx="10202091" cy="570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805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05" y="496389"/>
            <a:ext cx="9993085" cy="582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39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88270" y="3135086"/>
            <a:ext cx="2120537" cy="20922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18864" y="3059293"/>
            <a:ext cx="2819399" cy="20922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37881" y="3254832"/>
            <a:ext cx="2895600" cy="19724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16812" y="2668133"/>
            <a:ext cx="199199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00"/>
                </a:solidFill>
              </a:rPr>
              <a:t>Original</a:t>
            </a:r>
            <a:r>
              <a:rPr sz="2400" spc="-3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image</a:t>
            </a:r>
            <a:endParaRPr sz="2400" dirty="0"/>
          </a:p>
        </p:txBody>
      </p:sp>
      <p:sp>
        <p:nvSpPr>
          <p:cNvPr id="6" name="object 6"/>
          <p:cNvSpPr txBox="1"/>
          <p:nvPr/>
        </p:nvSpPr>
        <p:spPr>
          <a:xfrm>
            <a:off x="5170555" y="2743926"/>
            <a:ext cx="1686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Median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filter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18864" y="2394193"/>
            <a:ext cx="2286000" cy="49116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850900">
              <a:spcBef>
                <a:spcPts val="950"/>
              </a:spcBef>
            </a:pPr>
            <a:r>
              <a:rPr sz="2400" spc="-5" dirty="0">
                <a:latin typeface="Arial"/>
                <a:cs typeface="Arial"/>
              </a:rPr>
              <a:t>Mean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filter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75657" y="455201"/>
            <a:ext cx="101498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filter cannot totally eliminate impulse  noise, as a single pixel which acts as an  intensity spike can contribute significantly to the  weighted average of the filter.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filters can be robust to this type of  noise because single outlier pixel intensities can  be eliminated entirely.</a:t>
            </a:r>
          </a:p>
        </p:txBody>
      </p:sp>
    </p:spTree>
    <p:extLst>
      <p:ext uri="{BB962C8B-B14F-4D97-AF65-F5344CB8AC3E}">
        <p14:creationId xmlns:p14="http://schemas.microsoft.com/office/powerpoint/2010/main" val="3204759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altLang="en-US" dirty="0"/>
              <a:t>Sharpening Filters(High pass filter)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highlight fine detail in an image or to enhance detail that has been blurred, either in error or as a natural effect of a particular method of image acquisition.</a:t>
            </a:r>
          </a:p>
          <a:p>
            <a:r>
              <a:rPr lang="en-US" dirty="0"/>
              <a:t>Blurring vs. Sharpening</a:t>
            </a:r>
          </a:p>
          <a:p>
            <a:pPr lvl="1"/>
            <a:r>
              <a:rPr lang="en-US" dirty="0"/>
              <a:t>Blurring/smooth is done in spatial domain by pixel averaging in a neighbors, it is a process of integration.</a:t>
            </a:r>
          </a:p>
          <a:p>
            <a:pPr lvl="1"/>
            <a:r>
              <a:rPr lang="en-US" dirty="0"/>
              <a:t>Sharpening is an inverse process, to find the difference by the neighborhood, done by spatial differentiation.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046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altLang="en-US" dirty="0"/>
              <a:t>Sharpening 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4441371"/>
          </a:xfrm>
        </p:spPr>
        <p:txBody>
          <a:bodyPr/>
          <a:lstStyle/>
          <a:p>
            <a:pPr algn="just"/>
            <a:r>
              <a:rPr lang="en-CA" sz="3200" dirty="0"/>
              <a:t>The concept of sharpening filter is based on </a:t>
            </a:r>
            <a:r>
              <a:rPr lang="en-US" sz="3200" dirty="0"/>
              <a:t>First and second order derivatives.</a:t>
            </a:r>
          </a:p>
          <a:p>
            <a:pPr algn="just"/>
            <a:r>
              <a:rPr lang="en-US" sz="3200" dirty="0"/>
              <a:t>The strength of the response of a derivative operator is proportional to the degree of discontinuity of the image at the point at which the operator is applied. </a:t>
            </a:r>
          </a:p>
          <a:p>
            <a:pPr algn="just"/>
            <a:r>
              <a:rPr lang="en-US" sz="3200" dirty="0"/>
              <a:t>Image differentiation  - enhances edges and other discontinuities (noise) deemphasizes area with slowly varying gray-level values.</a:t>
            </a:r>
          </a:p>
          <a:p>
            <a:pPr algn="just"/>
            <a:endParaRPr lang="en-US" sz="3200" dirty="0"/>
          </a:p>
          <a:p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050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First and second order difference of 1D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basic definition of the first-order derivative of a one-dimensional function f(x) is the difference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altLang="en-US" dirty="0"/>
              <a:t>The second-order derivative of a one-dimensional function f(x) is the difference</a:t>
            </a:r>
          </a:p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395650"/>
              </p:ext>
            </p:extLst>
          </p:nvPr>
        </p:nvGraphicFramePr>
        <p:xfrm>
          <a:off x="3849189" y="2344783"/>
          <a:ext cx="35814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700" imgH="393700" progId="Equation.3">
                  <p:embed/>
                </p:oleObj>
              </mc:Choice>
              <mc:Fallback>
                <p:oleObj name="Equation" r:id="rId2" imgW="1282700" imgH="393700" progId="Equation.3">
                  <p:embed/>
                  <p:pic>
                    <p:nvPicPr>
                      <p:cNvPr id="2355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189" y="2344783"/>
                        <a:ext cx="3581400" cy="1098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0112633"/>
              </p:ext>
            </p:extLst>
          </p:nvPr>
        </p:nvGraphicFramePr>
        <p:xfrm>
          <a:off x="3152503" y="4810421"/>
          <a:ext cx="52736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419100" progId="Equation.3">
                  <p:embed/>
                </p:oleObj>
              </mc:Choice>
              <mc:Fallback>
                <p:oleObj name="Equation" r:id="rId4" imgW="2057400" imgH="419100" progId="Equation.3">
                  <p:embed/>
                  <p:pic>
                    <p:nvPicPr>
                      <p:cNvPr id="23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503" y="4810421"/>
                        <a:ext cx="5273675" cy="1073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2577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14400"/>
            <a:ext cx="56769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1143000"/>
            <a:ext cx="190976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40868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First and Second-order derivative of 2D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consider an image function of two variables, f(x, y), at which time we will dealing with partial derivatives along the two spatial axes.</a:t>
            </a:r>
          </a:p>
          <a:p>
            <a:endParaRPr lang="en-US" dirty="0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1391195" y="2724446"/>
            <a:ext cx="8656638" cy="2622550"/>
            <a:chOff x="-23" y="2614"/>
            <a:chExt cx="5453" cy="1652"/>
          </a:xfrm>
        </p:grpSpPr>
        <p:graphicFrame>
          <p:nvGraphicFramePr>
            <p:cNvPr id="5" name="Object 2"/>
            <p:cNvGraphicFramePr>
              <a:graphicFrameLocks noChangeAspect="1"/>
            </p:cNvGraphicFramePr>
            <p:nvPr/>
          </p:nvGraphicFramePr>
          <p:xfrm>
            <a:off x="1610" y="2614"/>
            <a:ext cx="3820" cy="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184400" imgH="419100" progId="Equation.3">
                    <p:embed/>
                  </p:oleObj>
                </mc:Choice>
                <mc:Fallback>
                  <p:oleObj name="Equation" r:id="rId2" imgW="2184400" imgH="419100" progId="Equation.3">
                    <p:embed/>
                    <p:pic>
                      <p:nvPicPr>
                        <p:cNvPr id="2765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0" y="2614"/>
                          <a:ext cx="3820" cy="73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3"/>
            <p:cNvGraphicFramePr>
              <a:graphicFrameLocks noChangeAspect="1"/>
            </p:cNvGraphicFramePr>
            <p:nvPr/>
          </p:nvGraphicFramePr>
          <p:xfrm>
            <a:off x="1870" y="3488"/>
            <a:ext cx="3153" cy="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803400" imgH="444500" progId="Equation.3">
                    <p:embed/>
                  </p:oleObj>
                </mc:Choice>
                <mc:Fallback>
                  <p:oleObj name="Equation" r:id="rId4" imgW="1803400" imgH="444500" progId="Equation.3">
                    <p:embed/>
                    <p:pic>
                      <p:nvPicPr>
                        <p:cNvPr id="2765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0" y="3488"/>
                          <a:ext cx="3153" cy="77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25" y="3215"/>
              <a:ext cx="15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en-US"/>
                <a:t>(linear operator)</a:t>
              </a:r>
              <a:endParaRPr lang="th-TH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73" y="3743"/>
              <a:ext cx="1725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</a:rPr>
                <a:t>Laplacian operator</a:t>
              </a:r>
              <a:br>
                <a:rPr lang="en-US" altLang="en-US">
                  <a:solidFill>
                    <a:schemeClr val="tx2"/>
                  </a:solidFill>
                </a:rPr>
              </a:br>
              <a:r>
                <a:rPr lang="en-US" altLang="en-US">
                  <a:solidFill>
                    <a:schemeClr val="tx2"/>
                  </a:solidFill>
                </a:rPr>
                <a:t>(non-linear)</a:t>
              </a:r>
              <a:endParaRPr lang="th-TH" altLang="en-US">
                <a:solidFill>
                  <a:schemeClr val="tx2"/>
                </a:solidFill>
              </a:endParaRPr>
            </a:p>
          </p:txBody>
        </p:sp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-23" y="2886"/>
              <a:ext cx="16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</a:rPr>
                <a:t>Gradient operator</a:t>
              </a:r>
              <a:endParaRPr lang="th-TH" alt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5320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Laplacian 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As it is a derivative operator, it highlights gray-level discontinuities in an image and it deemphasizes regions with slowly varying gray levels.</a:t>
            </a:r>
          </a:p>
          <a:p>
            <a:pPr algn="just"/>
            <a:r>
              <a:rPr lang="en-US" dirty="0"/>
              <a:t>Tends to produce images that have grayish edge lines and other discontinuities, all superimposed on a dark, featureless background.</a:t>
            </a:r>
          </a:p>
          <a:p>
            <a:endParaRPr lang="en-US" dirty="0"/>
          </a:p>
        </p:txBody>
      </p: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905793" y="3762102"/>
            <a:ext cx="8340725" cy="1883702"/>
            <a:chOff x="147" y="1207"/>
            <a:chExt cx="5254" cy="2471"/>
          </a:xfrm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884" y="1207"/>
              <a:ext cx="4447" cy="1525"/>
              <a:chOff x="748" y="2722"/>
              <a:chExt cx="4447" cy="1525"/>
            </a:xfrm>
          </p:grpSpPr>
          <p:graphicFrame>
            <p:nvGraphicFramePr>
              <p:cNvPr id="8" name="Object 3"/>
              <p:cNvGraphicFramePr>
                <a:graphicFrameLocks noChangeAspect="1"/>
              </p:cNvGraphicFramePr>
              <p:nvPr/>
            </p:nvGraphicFramePr>
            <p:xfrm>
              <a:off x="748" y="2722"/>
              <a:ext cx="4447" cy="7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489200" imgH="419100" progId="Equation.3">
                      <p:embed/>
                    </p:oleObj>
                  </mc:Choice>
                  <mc:Fallback>
                    <p:oleObj name="Equation" r:id="rId2" imgW="2489200" imgH="419100" progId="Equation.3">
                      <p:embed/>
                      <p:pic>
                        <p:nvPicPr>
                          <p:cNvPr id="29704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8" y="2722"/>
                            <a:ext cx="4447" cy="7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2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" name="Object 4"/>
              <p:cNvGraphicFramePr>
                <a:graphicFrameLocks noChangeAspect="1"/>
              </p:cNvGraphicFramePr>
              <p:nvPr/>
            </p:nvGraphicFramePr>
            <p:xfrm>
              <a:off x="748" y="3454"/>
              <a:ext cx="4447" cy="7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489200" imgH="444500" progId="Equation.3">
                      <p:embed/>
                    </p:oleObj>
                  </mc:Choice>
                  <mc:Fallback>
                    <p:oleObj name="Equation" r:id="rId4" imgW="2489200" imgH="444500" progId="Equation.3">
                      <p:embed/>
                      <p:pic>
                        <p:nvPicPr>
                          <p:cNvPr id="29705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8" y="3454"/>
                            <a:ext cx="4447" cy="7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2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147" y="1397"/>
              <a:ext cx="5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Comic Sans MS" panose="030F0702030302020204" pitchFamily="66" charset="0"/>
                </a:rPr>
                <a:t>from</a:t>
              </a:r>
              <a:endParaRPr lang="th-TH" altLang="en-US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7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9627494"/>
                </p:ext>
              </p:extLst>
            </p:nvPr>
          </p:nvGraphicFramePr>
          <p:xfrm>
            <a:off x="554" y="2815"/>
            <a:ext cx="4847" cy="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565400" imgH="457200" progId="Equation.3">
                    <p:embed/>
                  </p:oleObj>
                </mc:Choice>
                <mc:Fallback>
                  <p:oleObj name="Equation" r:id="rId6" imgW="2565400" imgH="457200" progId="Equation.3">
                    <p:embed/>
                    <p:pic>
                      <p:nvPicPr>
                        <p:cNvPr id="2970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" y="2815"/>
                          <a:ext cx="4847" cy="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73779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Types of Laplacian Mask</a:t>
            </a:r>
            <a:endParaRPr lang="en-US" dirty="0"/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8" y="1419492"/>
            <a:ext cx="2480680" cy="2556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345614"/>
              </p:ext>
            </p:extLst>
          </p:nvPr>
        </p:nvGraphicFramePr>
        <p:xfrm>
          <a:off x="3115492" y="1419491"/>
          <a:ext cx="2606040" cy="2556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380952" imgH="1362265" progId="Paint.Picture">
                  <p:embed/>
                </p:oleObj>
              </mc:Choice>
              <mc:Fallback>
                <p:oleObj name="Bitmap Image" r:id="rId3" imgW="1380952" imgH="1362265" progId="Paint.Picture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5492" y="1419491"/>
                        <a:ext cx="2606040" cy="2556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057378"/>
              </p:ext>
            </p:extLst>
          </p:nvPr>
        </p:nvGraphicFramePr>
        <p:xfrm>
          <a:off x="5912207" y="1280161"/>
          <a:ext cx="5372664" cy="2695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2771640" imgH="1390680" progId="Paint.Picture">
                  <p:embed/>
                </p:oleObj>
              </mc:Choice>
              <mc:Fallback>
                <p:oleObj name="Bitmap Image" r:id="rId5" imgW="2771640" imgH="1390680" progId="Paint.Picture">
                  <p:embed/>
                  <p:pic>
                    <p:nvPicPr>
                      <p:cNvPr id="3584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2207" y="1280161"/>
                        <a:ext cx="5372664" cy="2695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5935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Application of Laplacian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Correct the effect of featureless background - by adding the original and Laplacian image.</a:t>
            </a:r>
          </a:p>
          <a:p>
            <a:endParaRPr lang="en-US" dirty="0"/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1617617" y="2580867"/>
            <a:ext cx="8424863" cy="2605088"/>
            <a:chOff x="295" y="2387"/>
            <a:chExt cx="5307" cy="1641"/>
          </a:xfrm>
        </p:grpSpPr>
        <p:graphicFrame>
          <p:nvGraphicFramePr>
            <p:cNvPr id="5" name="Object 2"/>
            <p:cNvGraphicFramePr>
              <a:graphicFrameLocks noChangeAspect="1"/>
            </p:cNvGraphicFramePr>
            <p:nvPr/>
          </p:nvGraphicFramePr>
          <p:xfrm>
            <a:off x="295" y="2595"/>
            <a:ext cx="2926" cy="7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66900" imgH="482600" progId="Equation.3">
                    <p:embed/>
                  </p:oleObj>
                </mc:Choice>
                <mc:Fallback>
                  <p:oleObj name="Equation" r:id="rId2" imgW="1866900" imgH="482600" progId="Equation.3">
                    <p:embed/>
                    <p:pic>
                      <p:nvPicPr>
                        <p:cNvPr id="3994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595"/>
                          <a:ext cx="2926" cy="7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AutoShape 8"/>
            <p:cNvSpPr>
              <a:spLocks/>
            </p:cNvSpPr>
            <p:nvPr/>
          </p:nvSpPr>
          <p:spPr bwMode="auto">
            <a:xfrm>
              <a:off x="3606" y="2387"/>
              <a:ext cx="1996" cy="662"/>
            </a:xfrm>
            <a:prstGeom prst="borderCallout2">
              <a:avLst>
                <a:gd name="adj1" fmla="val 10875"/>
                <a:gd name="adj2" fmla="val -2403"/>
                <a:gd name="adj3" fmla="val 10875"/>
                <a:gd name="adj4" fmla="val -11824"/>
                <a:gd name="adj5" fmla="val 65560"/>
                <a:gd name="adj6" fmla="val -2154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Comic Sans MS" panose="030F0702030302020204" pitchFamily="66" charset="0"/>
                </a:rPr>
                <a:t>if the center coefficient of the Laplacian mask is negative</a:t>
              </a:r>
              <a:endParaRPr lang="th-TH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7" name="AutoShape 9"/>
            <p:cNvSpPr>
              <a:spLocks/>
            </p:cNvSpPr>
            <p:nvPr/>
          </p:nvSpPr>
          <p:spPr bwMode="auto">
            <a:xfrm>
              <a:off x="3606" y="3366"/>
              <a:ext cx="1996" cy="662"/>
            </a:xfrm>
            <a:prstGeom prst="borderCallout2">
              <a:avLst>
                <a:gd name="adj1" fmla="val 10875"/>
                <a:gd name="adj2" fmla="val -2403"/>
                <a:gd name="adj3" fmla="val 10875"/>
                <a:gd name="adj4" fmla="val -11120"/>
                <a:gd name="adj5" fmla="val -27491"/>
                <a:gd name="adj6" fmla="val -2244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Comic Sans MS" panose="030F0702030302020204" pitchFamily="66" charset="0"/>
                </a:rPr>
                <a:t>if the center coefficient of the Laplacian mask is positive</a:t>
              </a:r>
              <a:endParaRPr lang="th-TH" altLang="en-US" sz="2000"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810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3336F8-D810-4061-AF5B-43A170B8C20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th-TH" altLang="en-US" sz="1200">
              <a:solidFill>
                <a:srgbClr val="898989"/>
              </a:solidFill>
            </a:endParaRPr>
          </a:p>
        </p:txBody>
      </p:sp>
      <p:sp>
        <p:nvSpPr>
          <p:cNvPr id="41987" name="Rectangle 7"/>
          <p:cNvSpPr>
            <a:spLocks noGrp="1" noChangeArrowheads="1"/>
          </p:cNvSpPr>
          <p:nvPr>
            <p:ph type="title"/>
          </p:nvPr>
        </p:nvSpPr>
        <p:spPr>
          <a:xfrm>
            <a:off x="1901211" y="76199"/>
            <a:ext cx="7793038" cy="677863"/>
          </a:xfrm>
        </p:spPr>
        <p:txBody>
          <a:bodyPr/>
          <a:lstStyle/>
          <a:p>
            <a:r>
              <a:rPr lang="en-US" altLang="en-US" dirty="0"/>
              <a:t>E.g.</a:t>
            </a:r>
            <a:endParaRPr lang="th-TH" altLang="en-US" dirty="0"/>
          </a:p>
        </p:txBody>
      </p:sp>
      <p:graphicFrame>
        <p:nvGraphicFramePr>
          <p:cNvPr id="41988" name="Object 2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77623427"/>
              </p:ext>
            </p:extLst>
          </p:nvPr>
        </p:nvGraphicFramePr>
        <p:xfrm>
          <a:off x="1876605" y="1055916"/>
          <a:ext cx="3921125" cy="450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3828960" imgH="4400640" progId="Paint.Picture">
                  <p:embed/>
                </p:oleObj>
              </mc:Choice>
              <mc:Fallback>
                <p:oleObj name="Bitmap Image" r:id="rId3" imgW="3828960" imgH="4400640" progId="Paint.Picture">
                  <p:embed/>
                  <p:pic>
                    <p:nvPicPr>
                      <p:cNvPr id="4198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605" y="1055916"/>
                        <a:ext cx="3921125" cy="450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Rectangle 9"/>
          <p:cNvSpPr>
            <a:spLocks noGrp="1" noChangeArrowheads="1"/>
          </p:cNvSpPr>
          <p:nvPr>
            <p:ph type="body" sz="half" idx="2"/>
          </p:nvPr>
        </p:nvSpPr>
        <p:spPr>
          <a:xfrm>
            <a:off x="6276702" y="754062"/>
            <a:ext cx="4135438" cy="4435475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a). image of the North pole of the moon</a:t>
            </a:r>
          </a:p>
          <a:p>
            <a:pPr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b). Laplacian-filtered image with </a:t>
            </a:r>
          </a:p>
          <a:p>
            <a:pPr algn="just">
              <a:lnSpc>
                <a:spcPct val="80000"/>
              </a:lnSpc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c). Laplacian image scaled for display purposes</a:t>
            </a:r>
          </a:p>
          <a:p>
            <a:pPr algn="just">
              <a:lnSpc>
                <a:spcPct val="8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d). image enhanced by addition with original image </a:t>
            </a:r>
            <a:endParaRPr lang="th-TH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69066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040226"/>
              </p:ext>
            </p:extLst>
          </p:nvPr>
        </p:nvGraphicFramePr>
        <p:xfrm>
          <a:off x="7234646" y="2559050"/>
          <a:ext cx="1295400" cy="97790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ahoma" pitchFamily="34" charset="0"/>
                        </a:rPr>
                        <a:t>1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ahoma" pitchFamily="34" charset="0"/>
                        </a:rPr>
                        <a:t>1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ahoma" pitchFamily="34" charset="0"/>
                        </a:rPr>
                        <a:t>1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ahoma" pitchFamily="34" charset="0"/>
                        </a:rPr>
                        <a:t>1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ahoma" pitchFamily="34" charset="0"/>
                        </a:rPr>
                        <a:t>-8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ahoma" pitchFamily="34" charset="0"/>
                        </a:rPr>
                        <a:t>1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ahoma" pitchFamily="34" charset="0"/>
                        </a:rPr>
                        <a:t>1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ahoma" pitchFamily="34" charset="0"/>
                        </a:rPr>
                        <a:t>1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cs typeface="Tahoma" pitchFamily="34" charset="0"/>
                        </a:rPr>
                        <a:t>1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883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E7E7FC-C914-4A38-97D2-1E7415F6522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th-TH" altLang="en-US" sz="1200">
              <a:solidFill>
                <a:srgbClr val="898989"/>
              </a:solidFill>
            </a:endParaRPr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1" y="685800"/>
            <a:ext cx="6011863" cy="579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38659196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Un-sharp Masking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Subtracting a blurred version of an original image produces sharpening output image.</a:t>
            </a:r>
          </a:p>
          <a:p>
            <a:r>
              <a:rPr lang="en-US" altLang="en-US" dirty="0"/>
              <a:t>i.e. sharpened image = original image </a:t>
            </a:r>
            <a:r>
              <a:rPr lang="en-US" altLang="en-US" dirty="0">
                <a:latin typeface="Times New Roman" panose="02020603050405020304" pitchFamily="18" charset="0"/>
              </a:rPr>
              <a:t>–</a:t>
            </a:r>
            <a:r>
              <a:rPr lang="en-US" altLang="en-US" dirty="0"/>
              <a:t> blurred image.</a:t>
            </a:r>
          </a:p>
          <a:p>
            <a:endParaRPr lang="th-TH" altLang="en-US" dirty="0"/>
          </a:p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851829"/>
              </p:ext>
            </p:extLst>
          </p:nvPr>
        </p:nvGraphicFramePr>
        <p:xfrm>
          <a:off x="2078808" y="2788920"/>
          <a:ext cx="6303963" cy="515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241300" progId="Equation.3">
                  <p:embed/>
                </p:oleObj>
              </mc:Choice>
              <mc:Fallback>
                <p:oleObj name="Equation" r:id="rId2" imgW="1663700" imgH="241300" progId="Equation.3">
                  <p:embed/>
                  <p:pic>
                    <p:nvPicPr>
                      <p:cNvPr id="522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808" y="2788920"/>
                        <a:ext cx="6303963" cy="515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88566"/>
            <a:ext cx="5830071" cy="2930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520" y="3543866"/>
            <a:ext cx="3557987" cy="297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21102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25464"/>
            <a:ext cx="3657600" cy="633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990601"/>
            <a:ext cx="1981200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00254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High-Boost Filtering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generalized form of Un-sharp masking with A </a:t>
            </a:r>
            <a:r>
              <a:rPr lang="en-US" altLang="en-US" dirty="0">
                <a:sym typeface="Symbol" panose="05050102010706020507" pitchFamily="18" charset="2"/>
              </a:rPr>
              <a:t> 1.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endParaRPr lang="en-US" dirty="0"/>
          </a:p>
        </p:txBody>
      </p:sp>
      <p:grpSp>
        <p:nvGrpSpPr>
          <p:cNvPr id="7" name="Group 11"/>
          <p:cNvGrpSpPr>
            <a:grpSpLocks/>
          </p:cNvGrpSpPr>
          <p:nvPr/>
        </p:nvGrpSpPr>
        <p:grpSpPr bwMode="auto">
          <a:xfrm>
            <a:off x="1915886" y="2179230"/>
            <a:ext cx="7035800" cy="3006725"/>
            <a:chOff x="720" y="1344"/>
            <a:chExt cx="4432" cy="1894"/>
          </a:xfrm>
        </p:grpSpPr>
        <p:graphicFrame>
          <p:nvGraphicFramePr>
            <p:cNvPr id="8" name="Object 2"/>
            <p:cNvGraphicFramePr>
              <a:graphicFrameLocks noChangeAspect="1"/>
            </p:cNvGraphicFramePr>
            <p:nvPr/>
          </p:nvGraphicFramePr>
          <p:xfrm>
            <a:off x="749" y="1344"/>
            <a:ext cx="4305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03400" imgH="241300" progId="Equation.3">
                    <p:embed/>
                  </p:oleObj>
                </mc:Choice>
                <mc:Fallback>
                  <p:oleObj name="Equation" r:id="rId2" imgW="1803400" imgH="241300" progId="Equation.3">
                    <p:embed/>
                    <p:pic>
                      <p:nvPicPr>
                        <p:cNvPr id="5837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9" y="1344"/>
                          <a:ext cx="4305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3"/>
            <p:cNvGraphicFramePr>
              <a:graphicFrameLocks noChangeAspect="1"/>
            </p:cNvGraphicFramePr>
            <p:nvPr/>
          </p:nvGraphicFramePr>
          <p:xfrm>
            <a:off x="720" y="2208"/>
            <a:ext cx="4432" cy="1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52700" imgH="482600" progId="Equation.3">
                    <p:embed/>
                  </p:oleObj>
                </mc:Choice>
                <mc:Fallback>
                  <p:oleObj name="Equation" r:id="rId4" imgW="2552700" imgH="482600" progId="Equation.3">
                    <p:embed/>
                    <p:pic>
                      <p:nvPicPr>
                        <p:cNvPr id="5837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208"/>
                          <a:ext cx="4432" cy="10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117419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B94D68-2E9C-42AE-B707-57371D55668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th-TH" altLang="en-US" sz="1200">
              <a:solidFill>
                <a:srgbClr val="898989"/>
              </a:solidFill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89708"/>
            <a:ext cx="10515600" cy="832370"/>
          </a:xfrm>
        </p:spPr>
        <p:txBody>
          <a:bodyPr/>
          <a:lstStyle/>
          <a:p>
            <a:pPr algn="ctr"/>
            <a:r>
              <a:rPr lang="en-US" altLang="en-US" dirty="0"/>
              <a:t>High-boost filtering</a:t>
            </a:r>
            <a:endParaRPr lang="th-TH" altLang="en-US" dirty="0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5156" y="1853940"/>
            <a:ext cx="8421688" cy="1582738"/>
          </a:xfrm>
        </p:spPr>
        <p:txBody>
          <a:bodyPr/>
          <a:lstStyle/>
          <a:p>
            <a:r>
              <a:rPr lang="en-US" altLang="en-US" dirty="0"/>
              <a:t>if we use Laplacian filter to create sharpen image f</a:t>
            </a:r>
            <a:r>
              <a:rPr lang="en-US" altLang="en-US" baseline="-25000" dirty="0"/>
              <a:t>s</a:t>
            </a:r>
            <a:r>
              <a:rPr lang="en-US" altLang="en-US" dirty="0"/>
              <a:t>(</a:t>
            </a:r>
            <a:r>
              <a:rPr lang="en-US" altLang="en-US" dirty="0" err="1"/>
              <a:t>x,y</a:t>
            </a:r>
            <a:r>
              <a:rPr lang="en-US" altLang="en-US" dirty="0"/>
              <a:t>) with addition of original image</a:t>
            </a:r>
            <a:endParaRPr lang="th-TH" altLang="en-US" dirty="0"/>
          </a:p>
        </p:txBody>
      </p:sp>
      <p:graphicFrame>
        <p:nvGraphicFramePr>
          <p:cNvPr id="6042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372496"/>
              </p:ext>
            </p:extLst>
          </p:nvPr>
        </p:nvGraphicFramePr>
        <p:xfrm>
          <a:off x="2397125" y="1034790"/>
          <a:ext cx="663575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46300" imgH="228600" progId="Equation.3">
                  <p:embed/>
                </p:oleObj>
              </mc:Choice>
              <mc:Fallback>
                <p:oleObj name="Equation" r:id="rId3" imgW="2146300" imgH="228600" progId="Equation.3">
                  <p:embed/>
                  <p:pic>
                    <p:nvPicPr>
                      <p:cNvPr id="6042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5" y="1034790"/>
                        <a:ext cx="663575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42066"/>
              </p:ext>
            </p:extLst>
          </p:nvPr>
        </p:nvGraphicFramePr>
        <p:xfrm>
          <a:off x="2971800" y="2858827"/>
          <a:ext cx="54864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16868" imgH="482391" progId="Equation.3">
                  <p:embed/>
                </p:oleObj>
              </mc:Choice>
              <mc:Fallback>
                <p:oleObj name="Equation" r:id="rId5" imgW="1916868" imgH="482391" progId="Equation.3">
                  <p:embed/>
                  <p:pic>
                    <p:nvPicPr>
                      <p:cNvPr id="604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858827"/>
                        <a:ext cx="54864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958559"/>
              </p:ext>
            </p:extLst>
          </p:nvPr>
        </p:nvGraphicFramePr>
        <p:xfrm>
          <a:off x="2843258" y="4239952"/>
          <a:ext cx="62484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44700" imgH="482600" progId="Equation.3">
                  <p:embed/>
                </p:oleObj>
              </mc:Choice>
              <mc:Fallback>
                <p:oleObj name="Equation" r:id="rId7" imgW="2044700" imgH="482600" progId="Equation.3">
                  <p:embed/>
                  <p:pic>
                    <p:nvPicPr>
                      <p:cNvPr id="604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58" y="4239952"/>
                        <a:ext cx="62484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2748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32C677-89EC-4950-9B0C-D7C7345F2BF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th-TH" altLang="en-US" sz="1200">
              <a:solidFill>
                <a:srgbClr val="898989"/>
              </a:solidFill>
            </a:endParaRPr>
          </a:p>
        </p:txBody>
      </p:sp>
      <p:sp>
        <p:nvSpPr>
          <p:cNvPr id="62467" name="Rectangle 10"/>
          <p:cNvSpPr>
            <a:spLocks noGrp="1" noChangeArrowheads="1"/>
          </p:cNvSpPr>
          <p:nvPr>
            <p:ph type="title"/>
          </p:nvPr>
        </p:nvSpPr>
        <p:spPr>
          <a:xfrm>
            <a:off x="792480" y="-92868"/>
            <a:ext cx="10515600" cy="1325563"/>
          </a:xfrm>
        </p:spPr>
        <p:txBody>
          <a:bodyPr/>
          <a:lstStyle/>
          <a:p>
            <a:pPr algn="ctr"/>
            <a:r>
              <a:rPr lang="en-US" altLang="en-US" dirty="0"/>
              <a:t>High-boost Masks</a:t>
            </a:r>
            <a:endParaRPr lang="th-TH" altLang="en-US" dirty="0"/>
          </a:p>
        </p:txBody>
      </p:sp>
      <p:grpSp>
        <p:nvGrpSpPr>
          <p:cNvPr id="62468" name="Group 13"/>
          <p:cNvGrpSpPr>
            <a:grpSpLocks/>
          </p:cNvGrpSpPr>
          <p:nvPr/>
        </p:nvGrpSpPr>
        <p:grpSpPr bwMode="auto">
          <a:xfrm>
            <a:off x="2044337" y="1232695"/>
            <a:ext cx="8421688" cy="4792663"/>
            <a:chOff x="455" y="1301"/>
            <a:chExt cx="5305" cy="3019"/>
          </a:xfrm>
        </p:grpSpPr>
        <p:sp>
          <p:nvSpPr>
            <p:cNvPr id="62469" name="Rectangle 11"/>
            <p:cNvSpPr>
              <a:spLocks noChangeArrowheads="1"/>
            </p:cNvSpPr>
            <p:nvPr/>
          </p:nvSpPr>
          <p:spPr bwMode="auto">
            <a:xfrm>
              <a:off x="455" y="3339"/>
              <a:ext cx="5305" cy="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</a:pPr>
              <a:r>
                <a:rPr lang="en-US" altLang="en-US"/>
                <a:t>A </a:t>
              </a:r>
              <a:r>
                <a:rPr lang="en-US" altLang="en-US">
                  <a:sym typeface="Symbol" panose="05050102010706020507" pitchFamily="18" charset="2"/>
                </a:rPr>
                <a:t> 1</a:t>
              </a:r>
            </a:p>
            <a:p>
              <a:pPr>
                <a:lnSpc>
                  <a:spcPct val="90000"/>
                </a:lnSpc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</a:pPr>
              <a:r>
                <a:rPr lang="en-US" altLang="en-US">
                  <a:sym typeface="Symbol" panose="05050102010706020507" pitchFamily="18" charset="2"/>
                </a:rPr>
                <a:t>if A = 1, it becomes “standard” Laplacian sharpening</a:t>
              </a:r>
            </a:p>
          </p:txBody>
        </p:sp>
        <p:graphicFrame>
          <p:nvGraphicFramePr>
            <p:cNvPr id="62470" name="Object 2"/>
            <p:cNvGraphicFramePr>
              <a:graphicFrameLocks noChangeAspect="1"/>
            </p:cNvGraphicFramePr>
            <p:nvPr/>
          </p:nvGraphicFramePr>
          <p:xfrm>
            <a:off x="1020" y="1301"/>
            <a:ext cx="3870" cy="19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3" imgW="2781688" imgH="1400000" progId="Paint.Picture">
                    <p:embed/>
                  </p:oleObj>
                </mc:Choice>
                <mc:Fallback>
                  <p:oleObj name="Bitmap Image" r:id="rId3" imgW="2781688" imgH="1400000" progId="Paint.Picture">
                    <p:embed/>
                    <p:pic>
                      <p:nvPicPr>
                        <p:cNvPr id="6247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301"/>
                          <a:ext cx="3870" cy="19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813754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652BA0-36F2-41DC-8731-0988B3A408C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th-TH" altLang="en-US" sz="1200">
              <a:solidFill>
                <a:srgbClr val="898989"/>
              </a:solidFill>
            </a:endParaRPr>
          </a:p>
        </p:txBody>
      </p:sp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19200"/>
            <a:ext cx="7086600" cy="527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6" name="Rectangle 7"/>
          <p:cNvSpPr>
            <a:spLocks noGrp="1" noChangeArrowheads="1"/>
          </p:cNvSpPr>
          <p:nvPr>
            <p:ph type="title"/>
          </p:nvPr>
        </p:nvSpPr>
        <p:spPr>
          <a:xfrm>
            <a:off x="796834" y="0"/>
            <a:ext cx="10515600" cy="1325563"/>
          </a:xfrm>
        </p:spPr>
        <p:txBody>
          <a:bodyPr/>
          <a:lstStyle/>
          <a:p>
            <a:r>
              <a:rPr lang="en-US" altLang="en-US" dirty="0"/>
              <a:t>Example</a:t>
            </a:r>
            <a:endParaRPr lang="th-TH" altLang="en-US" dirty="0"/>
          </a:p>
        </p:txBody>
      </p:sp>
    </p:spTree>
    <p:extLst>
      <p:ext uri="{BB962C8B-B14F-4D97-AF65-F5344CB8AC3E}">
        <p14:creationId xmlns:p14="http://schemas.microsoft.com/office/powerpoint/2010/main" val="1868130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Gradient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0230"/>
            <a:ext cx="10515600" cy="3879669"/>
          </a:xfrm>
        </p:spPr>
        <p:txBody>
          <a:bodyPr/>
          <a:lstStyle/>
          <a:p>
            <a:r>
              <a:rPr lang="en-US" dirty="0"/>
              <a:t>first derivatives are implemented using the magnitude of the gradient.</a:t>
            </a:r>
          </a:p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232609"/>
              </p:ext>
            </p:extLst>
          </p:nvPr>
        </p:nvGraphicFramePr>
        <p:xfrm>
          <a:off x="8475617" y="1461894"/>
          <a:ext cx="2592388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812800" progId="Equation.3">
                  <p:embed/>
                </p:oleObj>
              </mc:Choice>
              <mc:Fallback>
                <p:oleObj name="Equation" r:id="rId2" imgW="1143000" imgH="812800" progId="Equation.3">
                  <p:embed/>
                  <p:pic>
                    <p:nvPicPr>
                      <p:cNvPr id="6656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5617" y="1461894"/>
                        <a:ext cx="2592388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7"/>
          <p:cNvGrpSpPr>
            <a:grpSpLocks/>
          </p:cNvGrpSpPr>
          <p:nvPr/>
        </p:nvGrpSpPr>
        <p:grpSpPr bwMode="auto">
          <a:xfrm>
            <a:off x="713786" y="2579370"/>
            <a:ext cx="8272462" cy="3346450"/>
            <a:chOff x="567" y="2002"/>
            <a:chExt cx="5211" cy="2108"/>
          </a:xfrm>
        </p:grpSpPr>
        <p:grpSp>
          <p:nvGrpSpPr>
            <p:cNvPr id="12" name="Group 16"/>
            <p:cNvGrpSpPr>
              <a:grpSpLocks/>
            </p:cNvGrpSpPr>
            <p:nvPr/>
          </p:nvGrpSpPr>
          <p:grpSpPr bwMode="auto">
            <a:xfrm>
              <a:off x="567" y="2002"/>
              <a:ext cx="3104" cy="2108"/>
              <a:chOff x="567" y="2002"/>
              <a:chExt cx="3104" cy="2108"/>
            </a:xfrm>
          </p:grpSpPr>
          <p:graphicFrame>
            <p:nvGraphicFramePr>
              <p:cNvPr id="15" name="Object 4"/>
              <p:cNvGraphicFramePr>
                <a:graphicFrameLocks noChangeAspect="1"/>
              </p:cNvGraphicFramePr>
              <p:nvPr/>
            </p:nvGraphicFramePr>
            <p:xfrm>
              <a:off x="692" y="2002"/>
              <a:ext cx="2979" cy="15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790700" imgH="914400" progId="Equation.3">
                      <p:embed/>
                    </p:oleObj>
                  </mc:Choice>
                  <mc:Fallback>
                    <p:oleObj name="Equation" r:id="rId4" imgW="1790700" imgH="914400" progId="Equation.3">
                      <p:embed/>
                      <p:pic>
                        <p:nvPicPr>
                          <p:cNvPr id="6657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2" y="2002"/>
                            <a:ext cx="2979" cy="15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2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Text Box 6"/>
              <p:cNvSpPr txBox="1">
                <a:spLocks noChangeArrowheads="1"/>
              </p:cNvSpPr>
              <p:nvPr/>
            </p:nvSpPr>
            <p:spPr bwMode="auto">
              <a:xfrm>
                <a:off x="567" y="3822"/>
                <a:ext cx="307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dirty="0"/>
                  <a:t>the magnitude becomes nonlinear</a:t>
                </a:r>
                <a:endParaRPr lang="th-TH" altLang="en-US" dirty="0"/>
              </a:p>
            </p:txBody>
          </p:sp>
        </p:grpSp>
        <p:graphicFrame>
          <p:nvGraphicFramePr>
            <p:cNvPr id="13" name="Object 3"/>
            <p:cNvGraphicFramePr>
              <a:graphicFrameLocks noChangeAspect="1"/>
            </p:cNvGraphicFramePr>
            <p:nvPr/>
          </p:nvGraphicFramePr>
          <p:xfrm>
            <a:off x="3878" y="3385"/>
            <a:ext cx="1746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39800" imgH="279400" progId="Equation.3">
                    <p:embed/>
                  </p:oleObj>
                </mc:Choice>
                <mc:Fallback>
                  <p:oleObj name="Equation" r:id="rId6" imgW="939800" imgH="279400" progId="Equation.3">
                    <p:embed/>
                    <p:pic>
                      <p:nvPicPr>
                        <p:cNvPr id="6656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3385"/>
                          <a:ext cx="1746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4076" y="2478"/>
              <a:ext cx="17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/>
                <a:t>commonly approx.</a:t>
              </a:r>
              <a:endParaRPr lang="th-TH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83344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D1BD18-3C49-4D0F-AD78-D8CF758CA56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th-TH" altLang="en-US" sz="1200">
              <a:solidFill>
                <a:srgbClr val="898989"/>
              </a:solidFill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Gradient Mask</a:t>
            </a:r>
            <a:endParaRPr lang="th-TH" altLang="en-US"/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295401"/>
            <a:ext cx="8421688" cy="690563"/>
          </a:xfrm>
        </p:spPr>
        <p:txBody>
          <a:bodyPr/>
          <a:lstStyle/>
          <a:p>
            <a:r>
              <a:rPr lang="en-US" altLang="en-US"/>
              <a:t>simplest approximation, 2x2</a:t>
            </a:r>
            <a:endParaRPr lang="th-TH" altLang="en-US"/>
          </a:p>
        </p:txBody>
      </p:sp>
      <p:graphicFrame>
        <p:nvGraphicFramePr>
          <p:cNvPr id="1053722" name="Group 26"/>
          <p:cNvGraphicFramePr>
            <a:graphicFrameLocks noGrp="1"/>
          </p:cNvGraphicFramePr>
          <p:nvPr/>
        </p:nvGraphicFramePr>
        <p:xfrm>
          <a:off x="7696200" y="990600"/>
          <a:ext cx="2700338" cy="1755776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1</a:t>
                      </a:r>
                      <a:endParaRPr kumimoji="0" lang="th-TH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2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3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4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5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6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7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8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9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8631" name="Group 31"/>
          <p:cNvGrpSpPr>
            <a:grpSpLocks/>
          </p:cNvGrpSpPr>
          <p:nvPr/>
        </p:nvGrpSpPr>
        <p:grpSpPr bwMode="auto">
          <a:xfrm>
            <a:off x="2209800" y="2895601"/>
            <a:ext cx="7277100" cy="2784475"/>
            <a:chOff x="745" y="1918"/>
            <a:chExt cx="4584" cy="1754"/>
          </a:xfrm>
        </p:grpSpPr>
        <p:graphicFrame>
          <p:nvGraphicFramePr>
            <p:cNvPr id="68632" name="Object 2"/>
            <p:cNvGraphicFramePr>
              <a:graphicFrameLocks noChangeAspect="1"/>
            </p:cNvGraphicFramePr>
            <p:nvPr/>
          </p:nvGraphicFramePr>
          <p:xfrm>
            <a:off x="745" y="1918"/>
            <a:ext cx="4584" cy="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311400" imgH="241300" progId="Equation.3">
                    <p:embed/>
                  </p:oleObj>
                </mc:Choice>
                <mc:Fallback>
                  <p:oleObj name="Equation" r:id="rId3" imgW="2311400" imgH="241300" progId="Equation.3">
                    <p:embed/>
                    <p:pic>
                      <p:nvPicPr>
                        <p:cNvPr id="6863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" y="1918"/>
                          <a:ext cx="4584" cy="4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33" name="Object 3"/>
            <p:cNvGraphicFramePr>
              <a:graphicFrameLocks noChangeAspect="1"/>
            </p:cNvGraphicFramePr>
            <p:nvPr/>
          </p:nvGraphicFramePr>
          <p:xfrm>
            <a:off x="745" y="2568"/>
            <a:ext cx="4562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705100" imgH="304800" progId="Equation.3">
                    <p:embed/>
                  </p:oleObj>
                </mc:Choice>
                <mc:Fallback>
                  <p:oleObj name="Equation" r:id="rId5" imgW="2705100" imgH="304800" progId="Equation.3">
                    <p:embed/>
                    <p:pic>
                      <p:nvPicPr>
                        <p:cNvPr id="6863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" y="2568"/>
                          <a:ext cx="4562" cy="5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34" name="Object 4"/>
            <p:cNvGraphicFramePr>
              <a:graphicFrameLocks noChangeAspect="1"/>
            </p:cNvGraphicFramePr>
            <p:nvPr/>
          </p:nvGraphicFramePr>
          <p:xfrm>
            <a:off x="745" y="3249"/>
            <a:ext cx="2302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84300" imgH="254000" progId="Equation.3">
                    <p:embed/>
                  </p:oleObj>
                </mc:Choice>
                <mc:Fallback>
                  <p:oleObj name="Equation" r:id="rId7" imgW="1384300" imgH="254000" progId="Equation.3">
                    <p:embed/>
                    <p:pic>
                      <p:nvPicPr>
                        <p:cNvPr id="6863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" y="3249"/>
                          <a:ext cx="2302" cy="4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351756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5E433F-BDA2-4219-B2CF-F0DDC61C91B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th-TH" altLang="en-US" sz="1200">
              <a:solidFill>
                <a:srgbClr val="898989"/>
              </a:solidFill>
            </a:endParaRP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Gradient Mask</a:t>
            </a:r>
            <a:endParaRPr lang="th-TH" altLang="en-US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295401"/>
            <a:ext cx="8421688" cy="690563"/>
          </a:xfrm>
        </p:spPr>
        <p:txBody>
          <a:bodyPr/>
          <a:lstStyle/>
          <a:p>
            <a:r>
              <a:rPr lang="en-US" altLang="en-US"/>
              <a:t>Roberts cross-gradient operators, 2x2</a:t>
            </a:r>
            <a:endParaRPr lang="th-TH" altLang="en-US"/>
          </a:p>
        </p:txBody>
      </p:sp>
      <p:graphicFrame>
        <p:nvGraphicFramePr>
          <p:cNvPr id="1055748" name="Group 4"/>
          <p:cNvGraphicFramePr>
            <a:graphicFrameLocks noGrp="1"/>
          </p:cNvGraphicFramePr>
          <p:nvPr/>
        </p:nvGraphicFramePr>
        <p:xfrm>
          <a:off x="7788275" y="115888"/>
          <a:ext cx="2700338" cy="1755776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1</a:t>
                      </a:r>
                      <a:endParaRPr kumimoji="0" lang="th-TH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2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3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4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5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6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7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8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9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0679" name="Group 22"/>
          <p:cNvGrpSpPr>
            <a:grpSpLocks/>
          </p:cNvGrpSpPr>
          <p:nvPr/>
        </p:nvGrpSpPr>
        <p:grpSpPr bwMode="auto">
          <a:xfrm>
            <a:off x="2286001" y="2362200"/>
            <a:ext cx="7529513" cy="3810000"/>
            <a:chOff x="745" y="1706"/>
            <a:chExt cx="4743" cy="2400"/>
          </a:xfrm>
        </p:grpSpPr>
        <p:graphicFrame>
          <p:nvGraphicFramePr>
            <p:cNvPr id="70680" name="Object 2"/>
            <p:cNvGraphicFramePr>
              <a:graphicFrameLocks noChangeAspect="1"/>
            </p:cNvGraphicFramePr>
            <p:nvPr/>
          </p:nvGraphicFramePr>
          <p:xfrm>
            <a:off x="745" y="1706"/>
            <a:ext cx="4584" cy="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311400" imgH="241300" progId="Equation.3">
                    <p:embed/>
                  </p:oleObj>
                </mc:Choice>
                <mc:Fallback>
                  <p:oleObj name="Equation" r:id="rId3" imgW="2311400" imgH="241300" progId="Equation.3">
                    <p:embed/>
                    <p:pic>
                      <p:nvPicPr>
                        <p:cNvPr id="7068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" y="1706"/>
                          <a:ext cx="4584" cy="4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81" name="Object 3"/>
            <p:cNvGraphicFramePr>
              <a:graphicFrameLocks noChangeAspect="1"/>
            </p:cNvGraphicFramePr>
            <p:nvPr/>
          </p:nvGraphicFramePr>
          <p:xfrm>
            <a:off x="745" y="2341"/>
            <a:ext cx="4584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717800" imgH="304800" progId="Equation.3">
                    <p:embed/>
                  </p:oleObj>
                </mc:Choice>
                <mc:Fallback>
                  <p:oleObj name="Equation" r:id="rId5" imgW="2717800" imgH="304800" progId="Equation.3">
                    <p:embed/>
                    <p:pic>
                      <p:nvPicPr>
                        <p:cNvPr id="7068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" y="2341"/>
                          <a:ext cx="4584" cy="5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82" name="Object 4"/>
            <p:cNvGraphicFramePr>
              <a:graphicFrameLocks noChangeAspect="1"/>
            </p:cNvGraphicFramePr>
            <p:nvPr/>
          </p:nvGraphicFramePr>
          <p:xfrm>
            <a:off x="793" y="3052"/>
            <a:ext cx="2302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84300" imgH="254000" progId="Equation.3">
                    <p:embed/>
                  </p:oleObj>
                </mc:Choice>
                <mc:Fallback>
                  <p:oleObj name="Equation" r:id="rId7" imgW="1384300" imgH="254000" progId="Equation.3">
                    <p:embed/>
                    <p:pic>
                      <p:nvPicPr>
                        <p:cNvPr id="7068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3052"/>
                          <a:ext cx="2302" cy="4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83" name="Object 5"/>
            <p:cNvGraphicFramePr>
              <a:graphicFrameLocks noChangeAspect="1"/>
            </p:cNvGraphicFramePr>
            <p:nvPr/>
          </p:nvGraphicFramePr>
          <p:xfrm>
            <a:off x="3243" y="3022"/>
            <a:ext cx="2245" cy="10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9" imgW="1933333" imgH="933580" progId="Paint.Picture">
                    <p:embed/>
                  </p:oleObj>
                </mc:Choice>
                <mc:Fallback>
                  <p:oleObj name="Bitmap Image" r:id="rId9" imgW="1933333" imgH="933580" progId="Paint.Picture">
                    <p:embed/>
                    <p:pic>
                      <p:nvPicPr>
                        <p:cNvPr id="7068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3022"/>
                          <a:ext cx="2245" cy="10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684" name="AutoShape 27"/>
            <p:cNvSpPr>
              <a:spLocks noChangeArrowheads="1"/>
            </p:cNvSpPr>
            <p:nvPr/>
          </p:nvSpPr>
          <p:spPr bwMode="auto">
            <a:xfrm rot="-3844628">
              <a:off x="2593" y="3552"/>
              <a:ext cx="317" cy="618"/>
            </a:xfrm>
            <a:prstGeom prst="curvedRightArrow">
              <a:avLst>
                <a:gd name="adj1" fmla="val 2311"/>
                <a:gd name="adj2" fmla="val 77981"/>
                <a:gd name="adj3" fmla="val 33333"/>
              </a:avLst>
            </a:prstGeom>
            <a:solidFill>
              <a:srgbClr val="5A79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11233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13E4BC-B0E8-4BDC-B740-2EE8EAA5BB6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th-TH" altLang="en-US" sz="1200">
              <a:solidFill>
                <a:srgbClr val="898989"/>
              </a:solidFill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Gradient Mask</a:t>
            </a:r>
            <a:endParaRPr lang="th-TH" altLang="en-US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219201"/>
            <a:ext cx="4686300" cy="690563"/>
          </a:xfrm>
        </p:spPr>
        <p:txBody>
          <a:bodyPr/>
          <a:lstStyle/>
          <a:p>
            <a:r>
              <a:rPr lang="en-US" altLang="en-US"/>
              <a:t>Sobel operators, 3x3</a:t>
            </a:r>
            <a:endParaRPr lang="th-TH" altLang="en-US"/>
          </a:p>
        </p:txBody>
      </p:sp>
      <p:graphicFrame>
        <p:nvGraphicFramePr>
          <p:cNvPr id="1054727" name="Group 7"/>
          <p:cNvGraphicFramePr>
            <a:graphicFrameLocks noGrp="1"/>
          </p:cNvGraphicFramePr>
          <p:nvPr/>
        </p:nvGraphicFramePr>
        <p:xfrm>
          <a:off x="7788275" y="115888"/>
          <a:ext cx="2700338" cy="1755776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1</a:t>
                      </a:r>
                      <a:endParaRPr kumimoji="0" lang="th-TH" sz="2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2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3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4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5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6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7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8</a:t>
                      </a:r>
                      <a:endParaRPr kumimoji="0" lang="th-TH" sz="28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z</a:t>
                      </a:r>
                      <a:r>
                        <a:rPr kumimoji="0" lang="en-US" sz="2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ahoma" pitchFamily="34" charset="0"/>
                        </a:rPr>
                        <a:t>9</a:t>
                      </a:r>
                      <a:endParaRPr kumimoji="0" lang="th-TH" sz="28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2727" name="Group 30"/>
          <p:cNvGrpSpPr>
            <a:grpSpLocks/>
          </p:cNvGrpSpPr>
          <p:nvPr/>
        </p:nvGrpSpPr>
        <p:grpSpPr bwMode="auto">
          <a:xfrm>
            <a:off x="1524001" y="2286000"/>
            <a:ext cx="8856663" cy="4122738"/>
            <a:chOff x="113" y="1661"/>
            <a:chExt cx="5579" cy="2597"/>
          </a:xfrm>
        </p:grpSpPr>
        <p:grpSp>
          <p:nvGrpSpPr>
            <p:cNvPr id="72728" name="Group 28"/>
            <p:cNvGrpSpPr>
              <a:grpSpLocks/>
            </p:cNvGrpSpPr>
            <p:nvPr/>
          </p:nvGrpSpPr>
          <p:grpSpPr bwMode="auto">
            <a:xfrm>
              <a:off x="1338" y="1661"/>
              <a:ext cx="4354" cy="2313"/>
              <a:chOff x="884" y="1797"/>
              <a:chExt cx="4354" cy="2313"/>
            </a:xfrm>
          </p:grpSpPr>
          <p:graphicFrame>
            <p:nvGraphicFramePr>
              <p:cNvPr id="72730" name="Object 2"/>
              <p:cNvGraphicFramePr>
                <a:graphicFrameLocks noChangeAspect="1"/>
              </p:cNvGraphicFramePr>
              <p:nvPr/>
            </p:nvGraphicFramePr>
            <p:xfrm>
              <a:off x="884" y="1797"/>
              <a:ext cx="4332" cy="9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2184400" imgH="457200" progId="Equation.3">
                      <p:embed/>
                    </p:oleObj>
                  </mc:Choice>
                  <mc:Fallback>
                    <p:oleObj name="Equation" r:id="rId3" imgW="2184400" imgH="457200" progId="Equation.3">
                      <p:embed/>
                      <p:pic>
                        <p:nvPicPr>
                          <p:cNvPr id="7273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4" y="1797"/>
                            <a:ext cx="4332" cy="9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2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731" name="Object 3"/>
              <p:cNvGraphicFramePr>
                <a:graphicFrameLocks noChangeAspect="1"/>
              </p:cNvGraphicFramePr>
              <p:nvPr/>
            </p:nvGraphicFramePr>
            <p:xfrm>
              <a:off x="930" y="2840"/>
              <a:ext cx="1563" cy="4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939800" imgH="279400" progId="Equation.3">
                      <p:embed/>
                    </p:oleObj>
                  </mc:Choice>
                  <mc:Fallback>
                    <p:oleObj name="Equation" r:id="rId5" imgW="939800" imgH="279400" progId="Equation.3">
                      <p:embed/>
                      <p:pic>
                        <p:nvPicPr>
                          <p:cNvPr id="72731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30" y="2840"/>
                            <a:ext cx="1563" cy="4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2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2732" name="AutoShape 26"/>
              <p:cNvSpPr>
                <a:spLocks noChangeArrowheads="1"/>
              </p:cNvSpPr>
              <p:nvPr/>
            </p:nvSpPr>
            <p:spPr bwMode="auto">
              <a:xfrm rot="-3844628">
                <a:off x="1913" y="3462"/>
                <a:ext cx="317" cy="618"/>
              </a:xfrm>
              <a:prstGeom prst="curvedRightArrow">
                <a:avLst>
                  <a:gd name="adj1" fmla="val 2311"/>
                  <a:gd name="adj2" fmla="val 77981"/>
                  <a:gd name="adj3" fmla="val 33333"/>
                </a:avLst>
              </a:prstGeom>
              <a:solidFill>
                <a:srgbClr val="5A79D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/>
              </a:p>
            </p:txBody>
          </p:sp>
          <p:graphicFrame>
            <p:nvGraphicFramePr>
              <p:cNvPr id="72733" name="Object 4"/>
              <p:cNvGraphicFramePr>
                <a:graphicFrameLocks noChangeAspect="1"/>
              </p:cNvGraphicFramePr>
              <p:nvPr/>
            </p:nvGraphicFramePr>
            <p:xfrm>
              <a:off x="2562" y="2786"/>
              <a:ext cx="2676" cy="1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itmap Image" r:id="rId7" imgW="2752381" imgH="1362265" progId="Paint.Picture">
                      <p:embed/>
                    </p:oleObj>
                  </mc:Choice>
                  <mc:Fallback>
                    <p:oleObj name="Bitmap Image" r:id="rId7" imgW="2752381" imgH="1362265" progId="Paint.Picture">
                      <p:embed/>
                      <p:pic>
                        <p:nvPicPr>
                          <p:cNvPr id="72733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62" y="2786"/>
                            <a:ext cx="2676" cy="13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2729" name="Text Box 29"/>
            <p:cNvSpPr txBox="1">
              <a:spLocks noChangeArrowheads="1"/>
            </p:cNvSpPr>
            <p:nvPr/>
          </p:nvSpPr>
          <p:spPr bwMode="auto">
            <a:xfrm>
              <a:off x="113" y="3269"/>
              <a:ext cx="2235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Comic Sans MS" panose="030F0702030302020204" pitchFamily="66" charset="0"/>
                </a:rPr>
                <a:t>the weight value 2 is to achieve smoothing by giving more important to the center point</a:t>
              </a:r>
              <a:endParaRPr lang="th-TH" altLang="en-US"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57196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484"/>
            <a:ext cx="10515600" cy="832370"/>
          </a:xfrm>
        </p:spPr>
        <p:txBody>
          <a:bodyPr/>
          <a:lstStyle/>
          <a:p>
            <a:r>
              <a:rPr lang="en-US" altLang="en-US" dirty="0"/>
              <a:t>Combining Spatial Enhancement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5303"/>
            <a:ext cx="10515600" cy="3879669"/>
          </a:xfrm>
        </p:spPr>
        <p:txBody>
          <a:bodyPr/>
          <a:lstStyle/>
          <a:p>
            <a:r>
              <a:rPr lang="en-US" altLang="en-US" dirty="0"/>
              <a:t>Want to sharpen the original image and bring out more skeletal detail.</a:t>
            </a:r>
          </a:p>
          <a:p>
            <a:r>
              <a:rPr lang="en-US" altLang="en-US" dirty="0"/>
              <a:t>problems: narrow dynamic range of gray level and high noise content makes the image difficult to enhance.</a:t>
            </a:r>
            <a:endParaRPr lang="th-TH" altLang="en-US" dirty="0"/>
          </a:p>
          <a:p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364666"/>
              </p:ext>
            </p:extLst>
          </p:nvPr>
        </p:nvGraphicFramePr>
        <p:xfrm>
          <a:off x="3357154" y="2690948"/>
          <a:ext cx="3997235" cy="3494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314286" imgH="2048161" progId="Paint.Picture">
                  <p:embed/>
                </p:oleObj>
              </mc:Choice>
              <mc:Fallback>
                <p:oleObj name="Bitmap Image" r:id="rId2" imgW="1314286" imgH="2048161" progId="Paint.Picture">
                  <p:embed/>
                  <p:pic>
                    <p:nvPicPr>
                      <p:cNvPr id="7680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154" y="2690948"/>
                        <a:ext cx="3997235" cy="3494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18943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following filters we can enhance the quality.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  <a:defRPr/>
            </a:pPr>
            <a:r>
              <a:rPr lang="en-US" dirty="0"/>
              <a:t>Laplacian filter to highlight fine detail.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  <a:defRPr/>
            </a:pPr>
            <a:r>
              <a:rPr lang="en-US" dirty="0"/>
              <a:t>gradient filter to enhance prominent edges.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  <a:defRPr/>
            </a:pPr>
            <a:r>
              <a:rPr lang="en-US" dirty="0"/>
              <a:t>gray-level transformation to increase the dynamic range of gray levels.</a:t>
            </a:r>
            <a:endParaRPr lang="th-TH" dirty="0"/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3246119"/>
            <a:ext cx="2651759" cy="252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430" y="2952205"/>
            <a:ext cx="5447210" cy="372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27393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998615" y="389708"/>
            <a:ext cx="8373293" cy="5562600"/>
            <a:chOff x="992" y="119"/>
            <a:chExt cx="3929" cy="4087"/>
          </a:xfrm>
        </p:grpSpPr>
        <p:pic>
          <p:nvPicPr>
            <p:cNvPr id="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2" y="119"/>
              <a:ext cx="2568" cy="4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1" y="255"/>
              <a:ext cx="1210" cy="3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39615280"/>
      </p:ext>
    </p:extLst>
  </p:cSld>
  <p:clrMapOvr>
    <a:masterClrMapping/>
  </p:clrMapOvr>
</p:sld>
</file>

<file path=ppt/theme/theme1.xml><?xml version="1.0" encoding="utf-8"?>
<a:theme xmlns:a="http://schemas.openxmlformats.org/drawingml/2006/main" name="PPT FORMA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FORMAT</Template>
  <TotalTime>1455</TotalTime>
  <Words>1175</Words>
  <Application>Microsoft Office PowerPoint</Application>
  <PresentationFormat>Widescreen</PresentationFormat>
  <Paragraphs>202</Paragraphs>
  <Slides>51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PPT FORMAT</vt:lpstr>
      <vt:lpstr>PowerPoint Presentation</vt:lpstr>
      <vt:lpstr>Introduction to Spatial Filtering</vt:lpstr>
      <vt:lpstr>Spatial Filtering</vt:lpstr>
      <vt:lpstr> Spatial Neighborhood </vt:lpstr>
      <vt:lpstr>  Types of Spatial Filters  </vt:lpstr>
      <vt:lpstr>Smoothing Spatial Filter</vt:lpstr>
      <vt:lpstr>Linear Filters</vt:lpstr>
      <vt:lpstr>Averaging Linear Filter</vt:lpstr>
      <vt:lpstr>Weighted Averaging Filter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Order-Statistics Filter</vt:lpstr>
      <vt:lpstr>Types of order-statics filter</vt:lpstr>
      <vt:lpstr>Types of order-statics filter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Original image</vt:lpstr>
      <vt:lpstr>Sharpening Filters(High pass filter)</vt:lpstr>
      <vt:lpstr>Sharpening Filters</vt:lpstr>
      <vt:lpstr>First and second order difference of 1D</vt:lpstr>
      <vt:lpstr>PowerPoint Presentation</vt:lpstr>
      <vt:lpstr>First and Second-order derivative of 2D</vt:lpstr>
      <vt:lpstr>Laplacian Filter</vt:lpstr>
      <vt:lpstr>Types of Laplacian Mask</vt:lpstr>
      <vt:lpstr>Application of Laplacian Filter</vt:lpstr>
      <vt:lpstr>E.g.</vt:lpstr>
      <vt:lpstr>Example</vt:lpstr>
      <vt:lpstr>Un-sharp Masking</vt:lpstr>
      <vt:lpstr>PowerPoint Presentation</vt:lpstr>
      <vt:lpstr>High-Boost Filtering</vt:lpstr>
      <vt:lpstr>High-boost filtering</vt:lpstr>
      <vt:lpstr>High-boost Masks</vt:lpstr>
      <vt:lpstr>Example</vt:lpstr>
      <vt:lpstr>Gradient Operator</vt:lpstr>
      <vt:lpstr>Gradient Mask</vt:lpstr>
      <vt:lpstr>Gradient Mask</vt:lpstr>
      <vt:lpstr>Gradient Mask</vt:lpstr>
      <vt:lpstr>Combining Spatial Enhancement Methods</vt:lpstr>
      <vt:lpstr>Solution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CSE395</dc:title>
  <dc:creator>Windows User</dc:creator>
  <cp:lastModifiedBy>admin</cp:lastModifiedBy>
  <cp:revision>216</cp:revision>
  <dcterms:created xsi:type="dcterms:W3CDTF">2019-08-23T05:46:45Z</dcterms:created>
  <dcterms:modified xsi:type="dcterms:W3CDTF">2023-06-16T14:02:39Z</dcterms:modified>
</cp:coreProperties>
</file>