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301" r:id="rId3"/>
    <p:sldId id="361" r:id="rId4"/>
    <p:sldId id="377" r:id="rId5"/>
    <p:sldId id="378" r:id="rId6"/>
    <p:sldId id="379" r:id="rId7"/>
    <p:sldId id="381" r:id="rId8"/>
    <p:sldId id="382" r:id="rId9"/>
    <p:sldId id="380" r:id="rId10"/>
    <p:sldId id="383" r:id="rId11"/>
    <p:sldId id="384" r:id="rId12"/>
    <p:sldId id="385" r:id="rId13"/>
    <p:sldId id="386" r:id="rId14"/>
    <p:sldId id="387" r:id="rId15"/>
    <p:sldId id="388" r:id="rId16"/>
    <p:sldId id="389" r:id="rId17"/>
    <p:sldId id="390" r:id="rId18"/>
    <p:sldId id="391" r:id="rId19"/>
    <p:sldId id="39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E79008-E739-4DF0-AD6A-2CD797F7AAE6}" type="datetimeFigureOut">
              <a:rPr lang="en-US" smtClean="0"/>
              <a:pPr/>
              <a:t>11/29/2022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4E5A6F-281D-47F3-B400-5377046C32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030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096237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11/29/2022</a:t>
            </a:fld>
            <a:endParaRPr lang="en-US"/>
          </a:p>
        </p:txBody>
      </p:sp>
      <p:sp>
        <p:nvSpPr>
          <p:cNvPr id="5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>
          <a:xfrm>
            <a:off x="9446684" y="6381751"/>
            <a:ext cx="2743200" cy="365125"/>
          </a:xfrm>
        </p:spPr>
        <p:txBody>
          <a:bodyPr/>
          <a:lstStyle>
            <a:lvl1pPr defTabSz="914400">
              <a:defRPr sz="1600" b="1">
                <a:solidFill>
                  <a:srgbClr val="FFFFFF"/>
                </a:solidFill>
                <a:latin typeface="Cambria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2875"/>
            <a:ext cx="10515600" cy="83237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6286"/>
            <a:ext cx="10515600" cy="387966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11/29/2022</a:t>
            </a:fld>
            <a:endParaRPr lang="en-US"/>
          </a:p>
        </p:txBody>
      </p:sp>
      <p:sp>
        <p:nvSpPr>
          <p:cNvPr id="5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>
          <a:xfrm>
            <a:off x="9414933" y="6429376"/>
            <a:ext cx="2743200" cy="365125"/>
          </a:xfrm>
        </p:spPr>
        <p:txBody>
          <a:bodyPr/>
          <a:lstStyle>
            <a:lvl1pPr defTabSz="914400">
              <a:defRPr sz="1400" b="1">
                <a:solidFill>
                  <a:srgbClr val="FFFFFF"/>
                </a:solidFill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730024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3727316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11/29/2022</a:t>
            </a:fld>
            <a:endParaRPr lang="en-US"/>
          </a:p>
        </p:txBody>
      </p:sp>
      <p:sp>
        <p:nvSpPr>
          <p:cNvPr id="5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11/29/2022</a:t>
            </a:fld>
            <a:endParaRPr lang="en-US"/>
          </a:p>
        </p:txBody>
      </p:sp>
      <p:sp>
        <p:nvSpPr>
          <p:cNvPr id="6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11/29/2022</a:t>
            </a:fld>
            <a:endParaRPr lang="en-US"/>
          </a:p>
        </p:txBody>
      </p:sp>
      <p:sp>
        <p:nvSpPr>
          <p:cNvPr id="8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11/29/2022</a:t>
            </a:fld>
            <a:endParaRPr lang="en-US"/>
          </a:p>
        </p:txBody>
      </p:sp>
      <p:sp>
        <p:nvSpPr>
          <p:cNvPr id="4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11/29/2022</a:t>
            </a:fld>
            <a:endParaRPr lang="en-US"/>
          </a:p>
        </p:txBody>
      </p:sp>
      <p:sp>
        <p:nvSpPr>
          <p:cNvPr id="3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4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11/29/2022</a:t>
            </a:fld>
            <a:endParaRPr lang="en-US"/>
          </a:p>
        </p:txBody>
      </p:sp>
      <p:sp>
        <p:nvSpPr>
          <p:cNvPr id="6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11/29/2022</a:t>
            </a:fld>
            <a:endParaRPr lang="en-US"/>
          </a:p>
        </p:txBody>
      </p:sp>
      <p:sp>
        <p:nvSpPr>
          <p:cNvPr id="6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11/29/2022</a:t>
            </a:fld>
            <a:endParaRPr lang="en-US"/>
          </a:p>
        </p:txBody>
      </p:sp>
      <p:sp>
        <p:nvSpPr>
          <p:cNvPr id="5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11/29/2022</a:t>
            </a:fld>
            <a:endParaRPr lang="en-US"/>
          </a:p>
        </p:txBody>
      </p:sp>
      <p:sp>
        <p:nvSpPr>
          <p:cNvPr id="5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>
            <a:extLst/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F0612D14-CBA2-468E-96F8-10D479708BAB}" type="datetimeFigureOut">
              <a:rPr lang="en-US" smtClean="0"/>
              <a:pPr/>
              <a:t>11/29/2022</a:t>
            </a:fld>
            <a:endParaRPr lang="en-US"/>
          </a:p>
        </p:txBody>
      </p:sp>
      <p:sp>
        <p:nvSpPr>
          <p:cNvPr id="5" name="Footer Placeholder 4">
            <a:extLst/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/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31" name="Picture 7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5153026"/>
            <a:ext cx="12192000" cy="170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4930" y="2061005"/>
            <a:ext cx="9144000" cy="2543268"/>
          </a:xfrm>
        </p:spPr>
        <p:txBody>
          <a:bodyPr>
            <a:normAutofit/>
          </a:bodyPr>
          <a:lstStyle/>
          <a:p>
            <a:pPr marL="295275">
              <a:lnSpc>
                <a:spcPts val="7859"/>
              </a:lnSpc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Module-3  </a:t>
            </a:r>
            <a:endParaRPr lang="en-US" sz="4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5275">
              <a:lnSpc>
                <a:spcPts val="7859"/>
              </a:lnSpc>
            </a:pP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Image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Restoration</a:t>
            </a:r>
          </a:p>
        </p:txBody>
      </p:sp>
    </p:spTree>
    <p:extLst>
      <p:ext uri="{BB962C8B-B14F-4D97-AF65-F5344CB8AC3E}">
        <p14:creationId xmlns:p14="http://schemas.microsoft.com/office/powerpoint/2010/main" val="3056945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246"/>
            <a:ext cx="10515600" cy="832370"/>
          </a:xfrm>
        </p:spPr>
        <p:txBody>
          <a:bodyPr/>
          <a:lstStyle/>
          <a:p>
            <a:pPr algn="ctr"/>
            <a:r>
              <a:rPr lang="en-US" spc="-5" dirty="0"/>
              <a:t>Image</a:t>
            </a:r>
            <a:r>
              <a:rPr lang="en-US" spc="-15" dirty="0"/>
              <a:t> </a:t>
            </a:r>
            <a:r>
              <a:rPr lang="en-US" spc="-5" dirty="0"/>
              <a:t>Restoration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14616"/>
            <a:ext cx="10515600" cy="3879669"/>
          </a:xfrm>
        </p:spPr>
        <p:txBody>
          <a:bodyPr/>
          <a:lstStyle/>
          <a:p>
            <a:pPr algn="just"/>
            <a:r>
              <a:rPr lang="en-US" sz="3200" spc="-5" dirty="0" smtClean="0">
                <a:latin typeface="Times New Roman"/>
                <a:cs typeface="Times New Roman"/>
              </a:rPr>
              <a:t>I</a:t>
            </a:r>
            <a:r>
              <a:rPr lang="en-US" sz="3200" spc="-20" dirty="0" smtClean="0">
                <a:latin typeface="Times New Roman"/>
                <a:cs typeface="Times New Roman"/>
              </a:rPr>
              <a:t>m</a:t>
            </a:r>
            <a:r>
              <a:rPr lang="en-US" sz="3200" spc="-5" dirty="0" smtClean="0">
                <a:latin typeface="Times New Roman"/>
                <a:cs typeface="Times New Roman"/>
              </a:rPr>
              <a:t>age</a:t>
            </a:r>
            <a:r>
              <a:rPr lang="en-US" sz="3200" dirty="0" smtClean="0">
                <a:latin typeface="Times New Roman"/>
                <a:cs typeface="Times New Roman"/>
              </a:rPr>
              <a:t> </a:t>
            </a:r>
            <a:r>
              <a:rPr lang="en-US" sz="3200" spc="5" dirty="0" smtClean="0">
                <a:latin typeface="Times New Roman"/>
                <a:cs typeface="Times New Roman"/>
              </a:rPr>
              <a:t>r</a:t>
            </a:r>
            <a:r>
              <a:rPr lang="en-US" sz="3200" spc="-5" dirty="0" smtClean="0">
                <a:latin typeface="Times New Roman"/>
                <a:cs typeface="Times New Roman"/>
              </a:rPr>
              <a:t>estoration a</a:t>
            </a:r>
            <a:r>
              <a:rPr lang="en-US" sz="3200" spc="-25" dirty="0" smtClean="0">
                <a:latin typeface="Times New Roman"/>
                <a:cs typeface="Times New Roman"/>
              </a:rPr>
              <a:t>i</a:t>
            </a:r>
            <a:r>
              <a:rPr lang="en-US" sz="3200" spc="-5" dirty="0" smtClean="0">
                <a:latin typeface="Times New Roman"/>
                <a:cs typeface="Times New Roman"/>
              </a:rPr>
              <a:t>m to i</a:t>
            </a:r>
            <a:r>
              <a:rPr lang="en-US" sz="3200" spc="-20" dirty="0" smtClean="0">
                <a:latin typeface="Times New Roman"/>
                <a:cs typeface="Times New Roman"/>
              </a:rPr>
              <a:t>m</a:t>
            </a:r>
            <a:r>
              <a:rPr lang="en-US" sz="3200" spc="-5" dirty="0" smtClean="0">
                <a:latin typeface="Times New Roman"/>
                <a:cs typeface="Times New Roman"/>
              </a:rPr>
              <a:t>p</a:t>
            </a:r>
            <a:r>
              <a:rPr lang="en-US" sz="3200" spc="10" dirty="0" smtClean="0">
                <a:latin typeface="Times New Roman"/>
                <a:cs typeface="Times New Roman"/>
              </a:rPr>
              <a:t>r</a:t>
            </a:r>
            <a:r>
              <a:rPr lang="en-US" sz="3200" spc="-5" dirty="0" smtClean="0">
                <a:latin typeface="Times New Roman"/>
                <a:cs typeface="Times New Roman"/>
              </a:rPr>
              <a:t>o</a:t>
            </a:r>
            <a:r>
              <a:rPr lang="en-US" sz="3200" dirty="0" smtClean="0">
                <a:latin typeface="Times New Roman"/>
                <a:cs typeface="Times New Roman"/>
              </a:rPr>
              <a:t>v</a:t>
            </a:r>
            <a:r>
              <a:rPr lang="en-US" sz="3200" spc="-5" dirty="0" smtClean="0">
                <a:latin typeface="Times New Roman"/>
                <a:cs typeface="Times New Roman"/>
              </a:rPr>
              <a:t>e </a:t>
            </a:r>
            <a:r>
              <a:rPr lang="en-US" sz="3200" spc="-15" dirty="0" smtClean="0">
                <a:latin typeface="Times New Roman"/>
                <a:cs typeface="Times New Roman"/>
              </a:rPr>
              <a:t>a</a:t>
            </a:r>
            <a:r>
              <a:rPr lang="en-US" sz="3200" spc="-5" dirty="0" smtClean="0">
                <a:latin typeface="Times New Roman"/>
                <a:cs typeface="Times New Roman"/>
              </a:rPr>
              <a:t>n i</a:t>
            </a:r>
            <a:r>
              <a:rPr lang="en-US" sz="3200" spc="-20" dirty="0" smtClean="0">
                <a:latin typeface="Times New Roman"/>
                <a:cs typeface="Times New Roman"/>
              </a:rPr>
              <a:t>m</a:t>
            </a:r>
            <a:r>
              <a:rPr lang="en-US" sz="3200" spc="-5" dirty="0" smtClean="0">
                <a:latin typeface="Times New Roman"/>
                <a:cs typeface="Times New Roman"/>
              </a:rPr>
              <a:t>age</a:t>
            </a:r>
            <a:r>
              <a:rPr lang="en-US" sz="3200" dirty="0">
                <a:latin typeface="Times New Roman"/>
                <a:cs typeface="Times New Roman"/>
              </a:rPr>
              <a:t>	</a:t>
            </a:r>
            <a:r>
              <a:rPr lang="en-US" sz="3200" spc="-5" dirty="0" err="1" smtClean="0">
                <a:latin typeface="Times New Roman"/>
                <a:cs typeface="Times New Roman"/>
              </a:rPr>
              <a:t>inso</a:t>
            </a:r>
            <a:r>
              <a:rPr lang="en-US" sz="3200" spc="-25" dirty="0" err="1" smtClean="0">
                <a:latin typeface="Times New Roman"/>
                <a:cs typeface="Times New Roman"/>
              </a:rPr>
              <a:t>m</a:t>
            </a:r>
            <a:r>
              <a:rPr lang="en-US" sz="3200" spc="-5" dirty="0" err="1" smtClean="0">
                <a:latin typeface="Times New Roman"/>
                <a:cs typeface="Times New Roman"/>
              </a:rPr>
              <a:t>e</a:t>
            </a:r>
            <a:r>
              <a:rPr lang="en-US" sz="3200" spc="-5" dirty="0" smtClean="0">
                <a:latin typeface="Times New Roman"/>
                <a:cs typeface="Times New Roman"/>
              </a:rPr>
              <a:t> predefined</a:t>
            </a:r>
            <a:r>
              <a:rPr lang="en-US" sz="3200" spc="-15" dirty="0" smtClean="0">
                <a:latin typeface="Times New Roman"/>
                <a:cs typeface="Times New Roman"/>
              </a:rPr>
              <a:t> </a:t>
            </a:r>
            <a:r>
              <a:rPr lang="en-US" sz="3200" spc="-5" dirty="0" smtClean="0">
                <a:latin typeface="Times New Roman"/>
                <a:cs typeface="Times New Roman"/>
              </a:rPr>
              <a:t>sense.</a:t>
            </a:r>
          </a:p>
          <a:p>
            <a:pPr algn="just"/>
            <a:r>
              <a:rPr lang="en-US" sz="3200" dirty="0">
                <a:latin typeface="Times New Roman"/>
                <a:cs typeface="Times New Roman"/>
              </a:rPr>
              <a:t>Restoration tries to recover / restore degraded image by using </a:t>
            </a:r>
            <a:r>
              <a:rPr lang="en-US" sz="3200" dirty="0" smtClean="0">
                <a:latin typeface="Times New Roman"/>
                <a:cs typeface="Times New Roman"/>
              </a:rPr>
              <a:t>a prior </a:t>
            </a:r>
            <a:r>
              <a:rPr lang="en-US" sz="3200" dirty="0">
                <a:latin typeface="Times New Roman"/>
                <a:cs typeface="Times New Roman"/>
              </a:rPr>
              <a:t>knowledge of the degradation </a:t>
            </a:r>
            <a:r>
              <a:rPr lang="en-US" sz="3200" dirty="0" smtClean="0">
                <a:latin typeface="Times New Roman"/>
                <a:cs typeface="Times New Roman"/>
              </a:rPr>
              <a:t>phenomenon.</a:t>
            </a:r>
          </a:p>
          <a:p>
            <a:pPr algn="just"/>
            <a:r>
              <a:rPr lang="en-US" sz="3200" dirty="0" smtClean="0">
                <a:latin typeface="Times New Roman"/>
                <a:cs typeface="Times New Roman"/>
              </a:rPr>
              <a:t>Restoration </a:t>
            </a:r>
            <a:r>
              <a:rPr lang="en-US" sz="3200" dirty="0">
                <a:latin typeface="Times New Roman"/>
                <a:cs typeface="Times New Roman"/>
              </a:rPr>
              <a:t>techniques </a:t>
            </a:r>
            <a:r>
              <a:rPr lang="en-US" sz="3200" spc="-5" dirty="0">
                <a:latin typeface="Times New Roman"/>
                <a:cs typeface="Times New Roman"/>
              </a:rPr>
              <a:t>focuses</a:t>
            </a:r>
            <a:r>
              <a:rPr lang="en-US" sz="3200" spc="-8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on</a:t>
            </a:r>
            <a:r>
              <a:rPr lang="en-US" sz="3200" dirty="0" smtClean="0">
                <a:latin typeface="Times New Roman"/>
                <a:cs typeface="Times New Roman"/>
              </a:rPr>
              <a:t>:</a:t>
            </a:r>
            <a:endParaRPr lang="en-US" sz="3200" dirty="0">
              <a:latin typeface="Times New Roman"/>
              <a:cs typeface="Times New Roman"/>
            </a:endParaRPr>
          </a:p>
          <a:p>
            <a:pPr marL="927100" lvl="1" indent="-457200" algn="just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927100" algn="l"/>
                <a:tab pos="927735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Modeling the</a:t>
            </a:r>
            <a:r>
              <a:rPr lang="en-US" sz="3200" spc="-6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degradation</a:t>
            </a:r>
          </a:p>
          <a:p>
            <a:pPr marL="927100" lvl="1" indent="-457200" algn="just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927100" algn="l"/>
                <a:tab pos="927735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Applying inverse process in order to recover the original</a:t>
            </a:r>
            <a:r>
              <a:rPr lang="en-US" sz="3200" spc="-250" dirty="0">
                <a:latin typeface="Times New Roman"/>
                <a:cs typeface="Times New Roman"/>
              </a:rPr>
              <a:t> </a:t>
            </a:r>
            <a:r>
              <a:rPr lang="en-US" sz="3200" spc="-5" dirty="0">
                <a:latin typeface="Times New Roman"/>
                <a:cs typeface="Times New Roman"/>
              </a:rPr>
              <a:t>image.</a:t>
            </a:r>
            <a:endParaRPr lang="en-US" sz="3200" dirty="0">
              <a:latin typeface="Times New Roman"/>
              <a:cs typeface="Times New Roman"/>
            </a:endParaRPr>
          </a:p>
          <a:p>
            <a:endParaRPr lang="en-US" dirty="0" smtClean="0">
              <a:latin typeface="Times New Roman"/>
              <a:cs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9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" y="473916"/>
            <a:ext cx="10515600" cy="832370"/>
          </a:xfrm>
        </p:spPr>
        <p:txBody>
          <a:bodyPr/>
          <a:lstStyle/>
          <a:p>
            <a:pPr algn="ctr"/>
            <a:r>
              <a:rPr lang="en-US" sz="3600" b="1" dirty="0"/>
              <a:t>Model of the Image Degradation / Restoration Process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5" name="object 3"/>
          <p:cNvSpPr/>
          <p:nvPr/>
        </p:nvSpPr>
        <p:spPr>
          <a:xfrm>
            <a:off x="1449978" y="1023274"/>
            <a:ext cx="8509497" cy="23861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26869" y="3409405"/>
            <a:ext cx="11099074" cy="2703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8450" marR="508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5623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Degradation function along </a:t>
            </a:r>
            <a:r>
              <a:rPr lang="en-US" sz="2800" spc="-5" dirty="0">
                <a:latin typeface="Times New Roman"/>
                <a:cs typeface="Times New Roman"/>
              </a:rPr>
              <a:t>with some </a:t>
            </a:r>
            <a:r>
              <a:rPr lang="en-US" sz="2800" dirty="0">
                <a:latin typeface="Times New Roman"/>
                <a:cs typeface="Times New Roman"/>
              </a:rPr>
              <a:t>additive noise operates</a:t>
            </a:r>
            <a:r>
              <a:rPr lang="en-US" sz="2800" spc="-17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on  f(x, y) to produce degraded </a:t>
            </a:r>
            <a:r>
              <a:rPr lang="en-US" sz="2800" spc="-5" dirty="0">
                <a:latin typeface="Times New Roman"/>
                <a:cs typeface="Times New Roman"/>
              </a:rPr>
              <a:t>image </a:t>
            </a:r>
            <a:r>
              <a:rPr lang="en-US" sz="2800" dirty="0">
                <a:latin typeface="Times New Roman"/>
                <a:cs typeface="Times New Roman"/>
              </a:rPr>
              <a:t>g(x,</a:t>
            </a:r>
            <a:r>
              <a:rPr lang="en-US" sz="2800" spc="-7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y</a:t>
            </a:r>
            <a:r>
              <a:rPr lang="en-US" sz="2800" dirty="0" smtClean="0">
                <a:latin typeface="Times New Roman"/>
                <a:cs typeface="Times New Roman"/>
              </a:rPr>
              <a:t>).</a:t>
            </a:r>
          </a:p>
          <a:p>
            <a:pPr marL="298450" marR="5080" indent="-285750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5623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Given g(x, y), </a:t>
            </a:r>
            <a:r>
              <a:rPr lang="en-US" sz="2800" spc="-5" dirty="0">
                <a:latin typeface="Times New Roman"/>
                <a:cs typeface="Times New Roman"/>
              </a:rPr>
              <a:t>some </a:t>
            </a:r>
            <a:r>
              <a:rPr lang="en-US" sz="2800" dirty="0">
                <a:latin typeface="Times New Roman"/>
                <a:cs typeface="Times New Roman"/>
              </a:rPr>
              <a:t>knowledge about the degradation </a:t>
            </a:r>
            <a:r>
              <a:rPr lang="en-US" sz="2800" spc="-5" dirty="0">
                <a:latin typeface="Times New Roman"/>
                <a:cs typeface="Times New Roman"/>
              </a:rPr>
              <a:t>function  H </a:t>
            </a:r>
            <a:r>
              <a:rPr lang="en-US" sz="2800" dirty="0">
                <a:latin typeface="Times New Roman"/>
                <a:cs typeface="Times New Roman"/>
              </a:rPr>
              <a:t>and additive noise η(x, y), objective of restoration </a:t>
            </a:r>
            <a:r>
              <a:rPr lang="en-US" sz="2800" spc="-5" dirty="0">
                <a:latin typeface="Times New Roman"/>
                <a:cs typeface="Times New Roman"/>
              </a:rPr>
              <a:t>is </a:t>
            </a:r>
            <a:r>
              <a:rPr lang="en-US" sz="2800" dirty="0">
                <a:latin typeface="Times New Roman"/>
                <a:cs typeface="Times New Roman"/>
              </a:rPr>
              <a:t>to</a:t>
            </a:r>
            <a:r>
              <a:rPr lang="en-US" sz="2800" spc="-19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obtain  </a:t>
            </a:r>
            <a:r>
              <a:rPr lang="en-US" sz="2800" spc="-5" dirty="0">
                <a:latin typeface="Times New Roman"/>
                <a:cs typeface="Times New Roman"/>
              </a:rPr>
              <a:t>estimate </a:t>
            </a:r>
            <a:r>
              <a:rPr lang="en-US" sz="2800" spc="25" dirty="0">
                <a:latin typeface="Times New Roman"/>
                <a:cs typeface="Times New Roman"/>
              </a:rPr>
              <a:t>f’(x, </a:t>
            </a:r>
            <a:r>
              <a:rPr lang="en-US" sz="2800" dirty="0">
                <a:latin typeface="Times New Roman"/>
                <a:cs typeface="Times New Roman"/>
              </a:rPr>
              <a:t>y) of the original</a:t>
            </a:r>
            <a:r>
              <a:rPr lang="en-US" sz="2800" spc="-100" dirty="0">
                <a:latin typeface="Times New Roman"/>
                <a:cs typeface="Times New Roman"/>
              </a:rPr>
              <a:t> </a:t>
            </a:r>
            <a:r>
              <a:rPr lang="en-US" sz="2800" spc="-5" dirty="0">
                <a:latin typeface="Times New Roman"/>
                <a:cs typeface="Times New Roman"/>
              </a:rPr>
              <a:t>image.</a:t>
            </a:r>
            <a:endParaRPr lang="en-US" sz="2800" dirty="0">
              <a:latin typeface="Times New Roman"/>
              <a:cs typeface="Times New Roman"/>
            </a:endParaRPr>
          </a:p>
          <a:p>
            <a:pPr marL="298450" marR="508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56235" algn="l"/>
              </a:tabLst>
            </a:pPr>
            <a:endParaRPr lang="en-US"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29243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32370"/>
          </a:xfrm>
        </p:spPr>
        <p:txBody>
          <a:bodyPr/>
          <a:lstStyle/>
          <a:p>
            <a:pPr algn="ctr"/>
            <a:r>
              <a:rPr lang="en-US" b="1" dirty="0"/>
              <a:t>Model of the Image Degradation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2778"/>
            <a:ext cx="10515600" cy="3879669"/>
          </a:xfrm>
        </p:spPr>
        <p:txBody>
          <a:bodyPr/>
          <a:lstStyle/>
          <a:p>
            <a:r>
              <a:rPr lang="en-US" dirty="0"/>
              <a:t>If H is linear, position invariant process then degraded image in</a:t>
            </a:r>
          </a:p>
          <a:p>
            <a:r>
              <a:rPr lang="en-US" dirty="0"/>
              <a:t>spatial domain is given by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pPr marL="469900" indent="-457200">
              <a:lnSpc>
                <a:spcPct val="100000"/>
              </a:lnSpc>
              <a:spcBef>
                <a:spcPts val="675"/>
              </a:spcBef>
              <a:tabLst>
                <a:tab pos="356235" algn="l"/>
              </a:tabLst>
            </a:pPr>
            <a:r>
              <a:rPr lang="en-US" dirty="0">
                <a:latin typeface="Times New Roman"/>
                <a:cs typeface="Times New Roman"/>
              </a:rPr>
              <a:t>h(x, y) = Spatial </a:t>
            </a:r>
            <a:r>
              <a:rPr lang="en-US" spc="-5" dirty="0">
                <a:latin typeface="Times New Roman"/>
                <a:cs typeface="Times New Roman"/>
              </a:rPr>
              <a:t>representation </a:t>
            </a:r>
            <a:r>
              <a:rPr lang="en-US" dirty="0">
                <a:latin typeface="Times New Roman"/>
                <a:cs typeface="Times New Roman"/>
              </a:rPr>
              <a:t>of</a:t>
            </a:r>
            <a:r>
              <a:rPr lang="en-US" spc="-100" dirty="0">
                <a:latin typeface="Times New Roman"/>
                <a:cs typeface="Times New Roman"/>
              </a:rPr>
              <a:t> </a:t>
            </a:r>
            <a:r>
              <a:rPr lang="en-US" spc="-5" dirty="0" smtClean="0">
                <a:latin typeface="Times New Roman"/>
                <a:cs typeface="Times New Roman"/>
              </a:rPr>
              <a:t>H.</a:t>
            </a:r>
            <a:endParaRPr lang="en-US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75"/>
              </a:spcBef>
              <a:tabLst>
                <a:tab pos="356235" algn="l"/>
              </a:tabLst>
            </a:pPr>
            <a:r>
              <a:rPr lang="en-US" dirty="0">
                <a:latin typeface="Times New Roman"/>
                <a:cs typeface="Times New Roman"/>
              </a:rPr>
              <a:t>* indicates</a:t>
            </a:r>
            <a:r>
              <a:rPr lang="en-US" spc="-45" dirty="0">
                <a:latin typeface="Times New Roman"/>
                <a:cs typeface="Times New Roman"/>
              </a:rPr>
              <a:t> </a:t>
            </a:r>
            <a:r>
              <a:rPr lang="en-US" dirty="0" smtClean="0">
                <a:latin typeface="Times New Roman"/>
                <a:cs typeface="Times New Roman"/>
              </a:rPr>
              <a:t>convolution.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dirty="0"/>
              <a:t>Since convolution in Spatial domain	= multiplication in  Frequency </a:t>
            </a:r>
            <a:r>
              <a:rPr lang="en-US" dirty="0" smtClean="0"/>
              <a:t>Domain </a:t>
            </a:r>
            <a:endParaRPr lang="en-US" dirty="0"/>
          </a:p>
          <a:p>
            <a:pPr marL="469900" indent="-457200">
              <a:lnSpc>
                <a:spcPct val="100000"/>
              </a:lnSpc>
              <a:spcBef>
                <a:spcPts val="95"/>
              </a:spcBef>
              <a:tabLst>
                <a:tab pos="356235" algn="l"/>
              </a:tabLst>
            </a:pPr>
            <a:r>
              <a:rPr lang="en-US" spc="-95" dirty="0" smtClean="0">
                <a:latin typeface="Times New Roman"/>
                <a:cs typeface="Times New Roman"/>
              </a:rPr>
              <a:t>We </a:t>
            </a:r>
            <a:r>
              <a:rPr lang="en-US" spc="-10" dirty="0">
                <a:latin typeface="Times New Roman"/>
                <a:cs typeface="Times New Roman"/>
              </a:rPr>
              <a:t>Assume </a:t>
            </a:r>
            <a:r>
              <a:rPr lang="en-US" spc="-5" dirty="0">
                <a:latin typeface="Times New Roman"/>
                <a:cs typeface="Times New Roman"/>
              </a:rPr>
              <a:t>that H is identity</a:t>
            </a:r>
            <a:r>
              <a:rPr lang="en-US" spc="5" dirty="0">
                <a:latin typeface="Times New Roman"/>
                <a:cs typeface="Times New Roman"/>
              </a:rPr>
              <a:t> </a:t>
            </a:r>
            <a:r>
              <a:rPr lang="en-US" spc="-5" dirty="0" smtClean="0">
                <a:latin typeface="Times New Roman"/>
                <a:cs typeface="Times New Roman"/>
              </a:rPr>
              <a:t>operator and deal </a:t>
            </a:r>
            <a:r>
              <a:rPr lang="en-US" dirty="0">
                <a:latin typeface="Times New Roman"/>
                <a:cs typeface="Times New Roman"/>
              </a:rPr>
              <a:t>only </a:t>
            </a:r>
            <a:r>
              <a:rPr lang="en-US" spc="-5" dirty="0">
                <a:latin typeface="Times New Roman"/>
                <a:cs typeface="Times New Roman"/>
              </a:rPr>
              <a:t>with degradation due to</a:t>
            </a:r>
            <a:r>
              <a:rPr lang="en-US" spc="120" dirty="0">
                <a:latin typeface="Times New Roman"/>
                <a:cs typeface="Times New Roman"/>
              </a:rPr>
              <a:t> </a:t>
            </a:r>
            <a:r>
              <a:rPr lang="en-US" spc="-5" dirty="0" smtClean="0">
                <a:latin typeface="Times New Roman"/>
                <a:cs typeface="Times New Roman"/>
              </a:rPr>
              <a:t>Noise.</a:t>
            </a:r>
            <a:endParaRPr lang="en-US" dirty="0">
              <a:latin typeface="Times New Roman"/>
              <a:cs typeface="Times New Roman"/>
            </a:endParaRP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object 3"/>
          <p:cNvSpPr/>
          <p:nvPr/>
        </p:nvSpPr>
        <p:spPr>
          <a:xfrm>
            <a:off x="5716845" y="1815737"/>
            <a:ext cx="4263177" cy="5486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/>
          <p:cNvSpPr/>
          <p:nvPr/>
        </p:nvSpPr>
        <p:spPr>
          <a:xfrm>
            <a:off x="5470284" y="4066195"/>
            <a:ext cx="4756297" cy="3118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62369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32370"/>
          </a:xfrm>
        </p:spPr>
        <p:txBody>
          <a:bodyPr/>
          <a:lstStyle/>
          <a:p>
            <a:pPr algn="ctr"/>
            <a:r>
              <a:rPr lang="en-US" b="1" spc="-5" dirty="0"/>
              <a:t>Noise</a:t>
            </a:r>
            <a:r>
              <a:rPr lang="en-US" b="1" spc="-45" dirty="0"/>
              <a:t> </a:t>
            </a:r>
            <a:r>
              <a:rPr lang="en-US" b="1" spc="-5" dirty="0"/>
              <a:t>Models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32370"/>
            <a:ext cx="10515600" cy="3879669"/>
          </a:xfrm>
        </p:spPr>
        <p:txBody>
          <a:bodyPr/>
          <a:lstStyle/>
          <a:p>
            <a:pPr marL="469900" indent="-457200" algn="just">
              <a:lnSpc>
                <a:spcPct val="100000"/>
              </a:lnSpc>
              <a:spcBef>
                <a:spcPts val="645"/>
              </a:spcBef>
              <a:tabLst>
                <a:tab pos="469900" algn="l"/>
                <a:tab pos="470534" algn="l"/>
              </a:tabLst>
            </a:pPr>
            <a:r>
              <a:rPr lang="en-US" dirty="0"/>
              <a:t>Noise in digital image arises </a:t>
            </a:r>
            <a:r>
              <a:rPr lang="en-US" dirty="0" smtClean="0"/>
              <a:t>during - </a:t>
            </a:r>
            <a:r>
              <a:rPr lang="en-US" spc="-5" dirty="0">
                <a:latin typeface="Times New Roman"/>
                <a:cs typeface="Times New Roman"/>
              </a:rPr>
              <a:t>Image</a:t>
            </a:r>
            <a:r>
              <a:rPr lang="en-US" spc="-135" dirty="0">
                <a:latin typeface="Times New Roman"/>
                <a:cs typeface="Times New Roman"/>
              </a:rPr>
              <a:t> </a:t>
            </a:r>
            <a:r>
              <a:rPr lang="en-US" dirty="0" smtClean="0">
                <a:latin typeface="Times New Roman"/>
                <a:cs typeface="Times New Roman"/>
              </a:rPr>
              <a:t>Acquisition and </a:t>
            </a:r>
            <a:r>
              <a:rPr lang="en-US" spc="-10" dirty="0" smtClean="0">
                <a:latin typeface="Times New Roman"/>
                <a:cs typeface="Times New Roman"/>
              </a:rPr>
              <a:t>Transmission.</a:t>
            </a:r>
          </a:p>
          <a:p>
            <a:pPr marL="469900" indent="-457200" algn="just">
              <a:lnSpc>
                <a:spcPct val="100000"/>
              </a:lnSpc>
              <a:spcBef>
                <a:spcPts val="645"/>
              </a:spcBef>
              <a:tabLst>
                <a:tab pos="469900" algn="l"/>
                <a:tab pos="470534" algn="l"/>
              </a:tabLst>
            </a:pPr>
            <a:r>
              <a:rPr lang="en-US" dirty="0">
                <a:latin typeface="Times New Roman"/>
                <a:cs typeface="Times New Roman"/>
              </a:rPr>
              <a:t>During Image </a:t>
            </a:r>
            <a:r>
              <a:rPr lang="en-US" dirty="0" smtClean="0">
                <a:latin typeface="Times New Roman"/>
                <a:cs typeface="Times New Roman"/>
              </a:rPr>
              <a:t>Acquisition</a:t>
            </a:r>
          </a:p>
          <a:p>
            <a:pPr marL="927100" lvl="1" indent="-457200" algn="just">
              <a:lnSpc>
                <a:spcPct val="100000"/>
              </a:lnSpc>
              <a:spcBef>
                <a:spcPts val="645"/>
              </a:spcBef>
              <a:tabLst>
                <a:tab pos="469900" algn="l"/>
                <a:tab pos="470534" algn="l"/>
              </a:tabLst>
            </a:pPr>
            <a:r>
              <a:rPr lang="en-US" dirty="0" smtClean="0">
                <a:latin typeface="Times New Roman"/>
                <a:cs typeface="Times New Roman"/>
              </a:rPr>
              <a:t>due </a:t>
            </a:r>
            <a:r>
              <a:rPr lang="en-US" dirty="0">
                <a:latin typeface="Times New Roman"/>
                <a:cs typeface="Times New Roman"/>
              </a:rPr>
              <a:t>to Environmental conditions (Light </a:t>
            </a:r>
            <a:r>
              <a:rPr lang="en-US" dirty="0" smtClean="0">
                <a:latin typeface="Times New Roman"/>
                <a:cs typeface="Times New Roman"/>
              </a:rPr>
              <a:t>Levels)</a:t>
            </a:r>
          </a:p>
          <a:p>
            <a:pPr marL="927100" lvl="1" indent="-457200" algn="just">
              <a:lnSpc>
                <a:spcPct val="100000"/>
              </a:lnSpc>
              <a:spcBef>
                <a:spcPts val="645"/>
              </a:spcBef>
              <a:tabLst>
                <a:tab pos="469900" algn="l"/>
                <a:tab pos="470534" algn="l"/>
              </a:tabLst>
            </a:pPr>
            <a:r>
              <a:rPr lang="en-US" dirty="0" smtClean="0">
                <a:latin typeface="Times New Roman"/>
                <a:cs typeface="Times New Roman"/>
              </a:rPr>
              <a:t>Quality </a:t>
            </a:r>
            <a:r>
              <a:rPr lang="en-US" dirty="0">
                <a:latin typeface="Times New Roman"/>
                <a:cs typeface="Times New Roman"/>
              </a:rPr>
              <a:t>of sensing </a:t>
            </a:r>
            <a:r>
              <a:rPr lang="en-US" dirty="0" smtClean="0">
                <a:latin typeface="Times New Roman"/>
                <a:cs typeface="Times New Roman"/>
              </a:rPr>
              <a:t>element.</a:t>
            </a:r>
          </a:p>
          <a:p>
            <a:pPr marL="469900" indent="-457200" algn="just">
              <a:lnSpc>
                <a:spcPct val="100000"/>
              </a:lnSpc>
              <a:spcBef>
                <a:spcPts val="645"/>
              </a:spcBef>
              <a:tabLst>
                <a:tab pos="469900" algn="l"/>
                <a:tab pos="470534" algn="l"/>
              </a:tabLst>
            </a:pPr>
            <a:r>
              <a:rPr lang="en-US" dirty="0">
                <a:latin typeface="Times New Roman"/>
                <a:cs typeface="Times New Roman"/>
              </a:rPr>
              <a:t>During </a:t>
            </a:r>
            <a:r>
              <a:rPr lang="en-US" dirty="0" smtClean="0">
                <a:latin typeface="Times New Roman"/>
                <a:cs typeface="Times New Roman"/>
              </a:rPr>
              <a:t>Transmission due to Interference.</a:t>
            </a:r>
            <a:endParaRPr lang="en-US" dirty="0">
              <a:latin typeface="Times New Roman"/>
              <a:cs typeface="Times New Roman"/>
            </a:endParaRPr>
          </a:p>
          <a:p>
            <a:pPr marL="927100" lvl="1" indent="-457200" algn="just">
              <a:lnSpc>
                <a:spcPct val="100000"/>
              </a:lnSpc>
              <a:spcBef>
                <a:spcPts val="95"/>
              </a:spcBef>
              <a:tabLst>
                <a:tab pos="469900" algn="l"/>
                <a:tab pos="470534" algn="l"/>
              </a:tabLst>
            </a:pPr>
            <a:endParaRPr lang="en-US" dirty="0" smtClean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645"/>
              </a:spcBef>
              <a:tabLst>
                <a:tab pos="469900" algn="l"/>
                <a:tab pos="470534" algn="l"/>
              </a:tabLst>
            </a:pPr>
            <a:endParaRPr lang="en-US" dirty="0" smtClean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645"/>
              </a:spcBef>
              <a:tabLst>
                <a:tab pos="469900" algn="l"/>
                <a:tab pos="470534" algn="l"/>
              </a:tabLst>
            </a:pPr>
            <a:endParaRPr lang="en-US" dirty="0" smtClean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645"/>
              </a:spcBef>
              <a:tabLst>
                <a:tab pos="469900" algn="l"/>
                <a:tab pos="470534" algn="l"/>
              </a:tabLst>
            </a:pPr>
            <a:endParaRPr lang="en-US" dirty="0" smtClean="0">
              <a:latin typeface="Times New Roman"/>
              <a:cs typeface="Times New Roman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161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Properties of Noise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62149"/>
            <a:ext cx="10515600" cy="4519748"/>
          </a:xfrm>
        </p:spPr>
        <p:txBody>
          <a:bodyPr/>
          <a:lstStyle/>
          <a:p>
            <a:pPr marL="469900" indent="-457200" algn="just">
              <a:lnSpc>
                <a:spcPct val="100000"/>
              </a:lnSpc>
              <a:spcBef>
                <a:spcPts val="95"/>
              </a:spcBef>
              <a:tabLst>
                <a:tab pos="469900" algn="l"/>
                <a:tab pos="470534" algn="l"/>
              </a:tabLst>
            </a:pPr>
            <a:r>
              <a:rPr lang="en-US" dirty="0"/>
              <a:t>Spatial </a:t>
            </a:r>
            <a:r>
              <a:rPr lang="en-US" spc="-10" dirty="0"/>
              <a:t>Properties </a:t>
            </a:r>
            <a:r>
              <a:rPr lang="en-US" spc="-5" dirty="0"/>
              <a:t>of</a:t>
            </a:r>
            <a:r>
              <a:rPr lang="en-US" spc="-35" dirty="0"/>
              <a:t> </a:t>
            </a:r>
            <a:r>
              <a:rPr lang="en-US" spc="-5" dirty="0"/>
              <a:t>Noise</a:t>
            </a:r>
          </a:p>
          <a:p>
            <a:pPr marL="927100" lvl="1" indent="-457200" algn="just">
              <a:lnSpc>
                <a:spcPct val="100000"/>
              </a:lnSpc>
              <a:spcBef>
                <a:spcPts val="95"/>
              </a:spcBef>
              <a:tabLst>
                <a:tab pos="469900" algn="l"/>
                <a:tab pos="470534" algn="l"/>
              </a:tabLst>
            </a:pPr>
            <a:r>
              <a:rPr lang="en-US" sz="2800" spc="-25" dirty="0">
                <a:latin typeface="Times New Roman"/>
                <a:cs typeface="Times New Roman"/>
              </a:rPr>
              <a:t>With </a:t>
            </a:r>
            <a:r>
              <a:rPr lang="en-US" sz="2800" spc="-5" dirty="0">
                <a:latin typeface="Times New Roman"/>
                <a:cs typeface="Times New Roman"/>
              </a:rPr>
              <a:t>few exception we consider that noise is independent of</a:t>
            </a:r>
            <a:r>
              <a:rPr lang="en-US" sz="2800" spc="105" dirty="0">
                <a:latin typeface="Times New Roman"/>
                <a:cs typeface="Times New Roman"/>
              </a:rPr>
              <a:t> </a:t>
            </a:r>
            <a:r>
              <a:rPr lang="en-US" sz="2800" spc="-5" dirty="0">
                <a:latin typeface="Times New Roman"/>
                <a:cs typeface="Times New Roman"/>
              </a:rPr>
              <a:t>spatial coordinates.</a:t>
            </a:r>
          </a:p>
          <a:p>
            <a:pPr marL="927100" lvl="1" indent="-457200" algn="just">
              <a:lnSpc>
                <a:spcPct val="100000"/>
              </a:lnSpc>
              <a:spcBef>
                <a:spcPts val="95"/>
              </a:spcBef>
              <a:tabLst>
                <a:tab pos="469900" algn="l"/>
                <a:tab pos="470534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We assume that noise is uncorrelated with respect to the image itself  (There is no correlation between image pixels and the values of noise  components</a:t>
            </a:r>
            <a:r>
              <a:rPr lang="en-US" sz="2800" dirty="0" smtClean="0">
                <a:latin typeface="Times New Roman"/>
                <a:cs typeface="Times New Roman"/>
              </a:rPr>
              <a:t>).</a:t>
            </a:r>
          </a:p>
          <a:p>
            <a:pPr marL="469900" lvl="1" indent="-457200" algn="just">
              <a:lnSpc>
                <a:spcPct val="100000"/>
              </a:lnSpc>
              <a:spcBef>
                <a:spcPts val="95"/>
              </a:spcBef>
              <a:tabLst>
                <a:tab pos="469900" algn="l"/>
                <a:tab pos="470534" algn="l"/>
              </a:tabLst>
            </a:pPr>
            <a:r>
              <a:rPr lang="en-US" sz="2800" dirty="0" smtClean="0"/>
              <a:t>Fourier </a:t>
            </a:r>
            <a:r>
              <a:rPr lang="en-US" sz="2800" dirty="0"/>
              <a:t>Properties of Noise</a:t>
            </a:r>
          </a:p>
          <a:p>
            <a:pPr marL="927100" lvl="1" indent="-457200" algn="just">
              <a:lnSpc>
                <a:spcPct val="100000"/>
              </a:lnSpc>
              <a:spcBef>
                <a:spcPts val="95"/>
              </a:spcBef>
              <a:tabLst>
                <a:tab pos="469900" algn="l"/>
                <a:tab pos="470534" algn="l"/>
              </a:tabLst>
            </a:pPr>
            <a:r>
              <a:rPr lang="en-US" sz="2800" dirty="0"/>
              <a:t>Refers to the frequency contents of noise </a:t>
            </a:r>
            <a:r>
              <a:rPr lang="en-US" sz="2800" dirty="0" smtClean="0"/>
              <a:t>in the </a:t>
            </a:r>
            <a:r>
              <a:rPr lang="en-US" sz="2800" dirty="0"/>
              <a:t>Fourier sense.</a:t>
            </a:r>
          </a:p>
          <a:p>
            <a:pPr marL="927100" lvl="1" indent="-457200" algn="just">
              <a:lnSpc>
                <a:spcPct val="100000"/>
              </a:lnSpc>
              <a:spcBef>
                <a:spcPts val="95"/>
              </a:spcBef>
              <a:tabLst>
                <a:tab pos="469900" algn="l"/>
                <a:tab pos="470534" algn="l"/>
              </a:tabLst>
            </a:pPr>
            <a:r>
              <a:rPr lang="en-US" sz="2800" dirty="0"/>
              <a:t>If Fourier spectrum of noise is Constant, the noise is usually </a:t>
            </a:r>
            <a:r>
              <a:rPr lang="en-US" sz="2800" dirty="0" smtClean="0"/>
              <a:t>called WHITE </a:t>
            </a:r>
            <a:r>
              <a:rPr lang="en-US" sz="2800" dirty="0"/>
              <a:t>NOISE</a:t>
            </a:r>
          </a:p>
          <a:p>
            <a:pPr marL="927100" lvl="1" indent="-457200" algn="just">
              <a:lnSpc>
                <a:spcPct val="100000"/>
              </a:lnSpc>
              <a:spcBef>
                <a:spcPts val="95"/>
              </a:spcBef>
              <a:tabLst>
                <a:tab pos="469900" algn="l"/>
                <a:tab pos="470534" algn="l"/>
              </a:tabLs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147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344" y="0"/>
            <a:ext cx="9144000" cy="605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517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Spatial </a:t>
            </a:r>
            <a:r>
              <a:rPr lang="en-US" spc="-5" dirty="0"/>
              <a:t>Noise</a:t>
            </a:r>
            <a:r>
              <a:rPr lang="en-US" spc="-65" dirty="0"/>
              <a:t> </a:t>
            </a:r>
            <a:r>
              <a:rPr lang="en-US" spc="-5" dirty="0"/>
              <a:t>Descriptor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9900" marR="25400" indent="-457200">
              <a:lnSpc>
                <a:spcPct val="100000"/>
              </a:lnSpc>
              <a:spcBef>
                <a:spcPts val="100"/>
              </a:spcBef>
              <a:tabLst>
                <a:tab pos="299085" algn="l"/>
                <a:tab pos="299720" algn="l"/>
              </a:tabLst>
            </a:pPr>
            <a:r>
              <a:rPr lang="en-US" spc="-5" dirty="0">
                <a:latin typeface="Times New Roman"/>
                <a:cs typeface="Times New Roman"/>
              </a:rPr>
              <a:t>Statistical </a:t>
            </a:r>
            <a:r>
              <a:rPr lang="en-US" dirty="0">
                <a:latin typeface="Times New Roman"/>
                <a:cs typeface="Times New Roman"/>
              </a:rPr>
              <a:t>behavior of the gray level values in the</a:t>
            </a:r>
            <a:r>
              <a:rPr lang="en-US" spc="-17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noise  </a:t>
            </a:r>
            <a:r>
              <a:rPr lang="en-US" spc="-5" dirty="0" smtClean="0">
                <a:latin typeface="Times New Roman"/>
                <a:cs typeface="Times New Roman"/>
              </a:rPr>
              <a:t>component.</a:t>
            </a:r>
            <a:endParaRPr lang="en-US" sz="4000" dirty="0" smtClean="0">
              <a:latin typeface="Times New Roman"/>
              <a:cs typeface="Times New Roman"/>
            </a:endParaRPr>
          </a:p>
          <a:p>
            <a:pPr marL="469900" marR="25400" indent="-457200">
              <a:lnSpc>
                <a:spcPct val="100000"/>
              </a:lnSpc>
              <a:spcBef>
                <a:spcPts val="100"/>
              </a:spcBef>
              <a:tabLst>
                <a:tab pos="299085" algn="l"/>
                <a:tab pos="299720" algn="l"/>
              </a:tabLst>
            </a:pPr>
            <a:r>
              <a:rPr lang="en-US" dirty="0" smtClean="0">
                <a:latin typeface="Times New Roman"/>
                <a:cs typeface="Times New Roman"/>
              </a:rPr>
              <a:t>Can </a:t>
            </a:r>
            <a:r>
              <a:rPr lang="en-US" dirty="0">
                <a:latin typeface="Times New Roman"/>
                <a:cs typeface="Times New Roman"/>
              </a:rPr>
              <a:t>be considered </a:t>
            </a:r>
            <a:r>
              <a:rPr lang="en-US" spc="-5" dirty="0">
                <a:latin typeface="Times New Roman"/>
                <a:cs typeface="Times New Roman"/>
              </a:rPr>
              <a:t>as </a:t>
            </a:r>
            <a:r>
              <a:rPr lang="en-US" dirty="0">
                <a:latin typeface="Times New Roman"/>
                <a:cs typeface="Times New Roman"/>
              </a:rPr>
              <a:t>random</a:t>
            </a:r>
            <a:r>
              <a:rPr lang="en-US" spc="-70" dirty="0">
                <a:latin typeface="Times New Roman"/>
                <a:cs typeface="Times New Roman"/>
              </a:rPr>
              <a:t> </a:t>
            </a:r>
            <a:r>
              <a:rPr lang="en-US" dirty="0" smtClean="0">
                <a:latin typeface="Times New Roman"/>
                <a:cs typeface="Times New Roman"/>
              </a:rPr>
              <a:t>variables </a:t>
            </a:r>
            <a:r>
              <a:rPr lang="en-US" spc="-5" dirty="0" smtClean="0">
                <a:latin typeface="Times New Roman"/>
                <a:cs typeface="Times New Roman"/>
              </a:rPr>
              <a:t>Characterized </a:t>
            </a:r>
            <a:r>
              <a:rPr lang="en-US" dirty="0">
                <a:latin typeface="Times New Roman"/>
                <a:cs typeface="Times New Roman"/>
              </a:rPr>
              <a:t>by Probability Density Functions</a:t>
            </a:r>
            <a:r>
              <a:rPr lang="en-US" spc="-105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(PDFs</a:t>
            </a:r>
            <a:r>
              <a:rPr lang="en-US" spc="-5" dirty="0" smtClean="0">
                <a:latin typeface="Times New Roman"/>
                <a:cs typeface="Times New Roman"/>
              </a:rPr>
              <a:t>).</a:t>
            </a:r>
            <a:endParaRPr lang="en-US" dirty="0">
              <a:latin typeface="Times New Roman"/>
              <a:cs typeface="Times New Roman"/>
            </a:endParaRPr>
          </a:p>
          <a:p>
            <a:endParaRPr lang="en-US" dirty="0"/>
          </a:p>
        </p:txBody>
      </p:sp>
      <p:sp>
        <p:nvSpPr>
          <p:cNvPr id="4" name="object 2"/>
          <p:cNvSpPr/>
          <p:nvPr/>
        </p:nvSpPr>
        <p:spPr>
          <a:xfrm>
            <a:off x="1541417" y="2677886"/>
            <a:ext cx="9117873" cy="38774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712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3869"/>
            <a:ext cx="10515600" cy="832370"/>
          </a:xfrm>
        </p:spPr>
        <p:txBody>
          <a:bodyPr/>
          <a:lstStyle/>
          <a:p>
            <a:r>
              <a:rPr lang="en-US" sz="3600" dirty="0"/>
              <a:t>Some Noise Probability Density Functions (PDFs):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6239"/>
            <a:ext cx="10515600" cy="3879669"/>
          </a:xfrm>
        </p:spPr>
        <p:txBody>
          <a:bodyPr/>
          <a:lstStyle/>
          <a:p>
            <a:pPr marL="299085" indent="-286385">
              <a:lnSpc>
                <a:spcPct val="100000"/>
              </a:lnSpc>
              <a:spcBef>
                <a:spcPts val="67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lang="en-US" dirty="0">
                <a:latin typeface="Times New Roman"/>
                <a:cs typeface="Times New Roman"/>
              </a:rPr>
              <a:t>Gaussian</a:t>
            </a:r>
            <a:r>
              <a:rPr lang="en-US" spc="-90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Noise</a:t>
            </a:r>
            <a:endParaRPr lang="en-US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lang="en-US" dirty="0">
                <a:latin typeface="Times New Roman"/>
                <a:cs typeface="Times New Roman"/>
              </a:rPr>
              <a:t>Rayleigh</a:t>
            </a:r>
            <a:r>
              <a:rPr lang="en-US" spc="-100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Noise</a:t>
            </a:r>
            <a:endParaRPr lang="en-US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lang="en-US" dirty="0" err="1">
                <a:latin typeface="Times New Roman"/>
                <a:cs typeface="Times New Roman"/>
              </a:rPr>
              <a:t>Erlang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spc="-10" dirty="0">
                <a:latin typeface="Times New Roman"/>
                <a:cs typeface="Times New Roman"/>
              </a:rPr>
              <a:t>(Gamma)</a:t>
            </a:r>
            <a:r>
              <a:rPr lang="en-US" spc="-5" dirty="0">
                <a:latin typeface="Times New Roman"/>
                <a:cs typeface="Times New Roman"/>
              </a:rPr>
              <a:t> Noise</a:t>
            </a:r>
            <a:endParaRPr lang="en-US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lang="en-US" dirty="0">
                <a:latin typeface="Times New Roman"/>
                <a:cs typeface="Times New Roman"/>
              </a:rPr>
              <a:t>Exponential</a:t>
            </a:r>
            <a:r>
              <a:rPr lang="en-US" spc="-35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Noise</a:t>
            </a:r>
            <a:endParaRPr lang="en-US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lang="en-US" spc="-5" dirty="0">
                <a:latin typeface="Times New Roman"/>
                <a:cs typeface="Times New Roman"/>
              </a:rPr>
              <a:t>Uniform Noise</a:t>
            </a:r>
            <a:endParaRPr lang="en-US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lang="en-US" spc="-5" dirty="0">
                <a:latin typeface="Times New Roman"/>
                <a:cs typeface="Times New Roman"/>
              </a:rPr>
              <a:t>Impulse </a:t>
            </a:r>
            <a:r>
              <a:rPr lang="en-US" dirty="0">
                <a:latin typeface="Times New Roman"/>
                <a:cs typeface="Times New Roman"/>
              </a:rPr>
              <a:t>(Sal &amp; Pepper</a:t>
            </a:r>
            <a:r>
              <a:rPr lang="en-US" spc="-65" dirty="0">
                <a:latin typeface="Times New Roman"/>
                <a:cs typeface="Times New Roman"/>
              </a:rPr>
              <a:t> </a:t>
            </a:r>
            <a:r>
              <a:rPr lang="en-US" spc="-5" dirty="0">
                <a:latin typeface="Times New Roman"/>
                <a:cs typeface="Times New Roman"/>
              </a:rPr>
              <a:t>Noise)</a:t>
            </a:r>
            <a:endParaRPr lang="en-US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lang="en-US" dirty="0">
                <a:latin typeface="Times New Roman"/>
                <a:cs typeface="Times New Roman"/>
              </a:rPr>
              <a:t>Periodic</a:t>
            </a:r>
            <a:r>
              <a:rPr lang="en-US" spc="-25" dirty="0">
                <a:latin typeface="Times New Roman"/>
                <a:cs typeface="Times New Roman"/>
              </a:rPr>
              <a:t> </a:t>
            </a:r>
            <a:r>
              <a:rPr lang="en-US" spc="-5" dirty="0" smtClean="0">
                <a:latin typeface="Times New Roman"/>
                <a:cs typeface="Times New Roman"/>
              </a:rPr>
              <a:t>Noise</a:t>
            </a:r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63335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3741" y="163135"/>
            <a:ext cx="7761150" cy="566822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600" b="1" dirty="0"/>
              <a:t>Gaussian / </a:t>
            </a:r>
            <a:r>
              <a:rPr sz="3600" b="1" spc="-5" dirty="0"/>
              <a:t>Normal Noise</a:t>
            </a:r>
            <a:r>
              <a:rPr sz="3600" b="1" spc="-50" dirty="0"/>
              <a:t> </a:t>
            </a:r>
            <a:r>
              <a:rPr sz="3600" b="1" dirty="0"/>
              <a:t>Model</a:t>
            </a:r>
          </a:p>
        </p:txBody>
      </p:sp>
      <p:sp>
        <p:nvSpPr>
          <p:cNvPr id="3" name="object 3"/>
          <p:cNvSpPr/>
          <p:nvPr/>
        </p:nvSpPr>
        <p:spPr>
          <a:xfrm>
            <a:off x="2316480" y="2103121"/>
            <a:ext cx="3703320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33600" y="3325064"/>
            <a:ext cx="3586276" cy="30531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861820" y="916763"/>
            <a:ext cx="8315959" cy="5719514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469900" indent="-457200">
              <a:spcBef>
                <a:spcPts val="580"/>
              </a:spcBef>
              <a:buAutoNum type="arabicPeriod"/>
              <a:tabLst>
                <a:tab pos="469900" algn="l"/>
                <a:tab pos="470534" algn="l"/>
              </a:tabLst>
            </a:pPr>
            <a:r>
              <a:rPr sz="2000" dirty="0">
                <a:latin typeface="Times New Roman"/>
                <a:cs typeface="Times New Roman"/>
              </a:rPr>
              <a:t>Most frequently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used.</a:t>
            </a:r>
          </a:p>
          <a:p>
            <a:pPr marL="469900" indent="-457200">
              <a:spcBef>
                <a:spcPts val="480"/>
              </a:spcBef>
              <a:buAutoNum type="arabicPeriod"/>
              <a:tabLst>
                <a:tab pos="469900" algn="l"/>
                <a:tab pos="470534" algn="l"/>
              </a:tabLst>
            </a:pPr>
            <a:r>
              <a:rPr sz="2000" dirty="0">
                <a:latin typeface="Times New Roman"/>
                <a:cs typeface="Times New Roman"/>
              </a:rPr>
              <a:t>PDF of Gaussian random variable z is given</a:t>
            </a:r>
            <a:r>
              <a:rPr sz="2000" spc="-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by:</a:t>
            </a:r>
          </a:p>
          <a:p>
            <a:pPr>
              <a:spcBef>
                <a:spcPts val="45"/>
              </a:spcBef>
              <a:buFont typeface="Times New Roman"/>
              <a:buAutoNum type="arabicPeriod"/>
            </a:pPr>
            <a:endParaRPr sz="1950" dirty="0">
              <a:latin typeface="Times New Roman"/>
              <a:cs typeface="Times New Roman"/>
            </a:endParaRPr>
          </a:p>
          <a:p>
            <a:pPr marL="4928235" lvl="1" indent="-342900">
              <a:buFont typeface="Wingdings"/>
              <a:buChar char=""/>
              <a:tabLst>
                <a:tab pos="4928235" algn="l"/>
                <a:tab pos="4928870" algn="l"/>
              </a:tabLst>
            </a:pPr>
            <a:r>
              <a:rPr sz="2400" dirty="0">
                <a:latin typeface="Times New Roman"/>
                <a:cs typeface="Times New Roman"/>
              </a:rPr>
              <a:t>z </a:t>
            </a:r>
            <a:r>
              <a:rPr dirty="0">
                <a:latin typeface="Wingdings"/>
                <a:cs typeface="Wingdings"/>
              </a:rPr>
              <a:t></a:t>
            </a:r>
            <a:r>
              <a:rPr dirty="0">
                <a:latin typeface="Times New Roman"/>
                <a:cs typeface="Times New Roman"/>
              </a:rPr>
              <a:t> Gray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level</a:t>
            </a:r>
          </a:p>
          <a:p>
            <a:pPr marL="4928235" lvl="1" indent="-342900">
              <a:spcBef>
                <a:spcPts val="575"/>
              </a:spcBef>
              <a:buFont typeface="Wingdings"/>
              <a:buChar char=""/>
              <a:tabLst>
                <a:tab pos="4928235" algn="l"/>
                <a:tab pos="4928870" algn="l"/>
              </a:tabLst>
            </a:pPr>
            <a:r>
              <a:rPr sz="2400" spc="-5" dirty="0">
                <a:latin typeface="Times New Roman"/>
                <a:cs typeface="Times New Roman"/>
              </a:rPr>
              <a:t>µ </a:t>
            </a:r>
            <a:r>
              <a:rPr dirty="0">
                <a:latin typeface="Wingdings"/>
                <a:cs typeface="Wingdings"/>
              </a:rPr>
              <a:t></a:t>
            </a:r>
            <a:r>
              <a:rPr dirty="0">
                <a:latin typeface="Times New Roman"/>
                <a:cs typeface="Times New Roman"/>
              </a:rPr>
              <a:t> Mean of average value of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z</a:t>
            </a:r>
          </a:p>
          <a:p>
            <a:pPr marL="4928235" lvl="1" indent="-342900">
              <a:spcBef>
                <a:spcPts val="580"/>
              </a:spcBef>
              <a:buFont typeface="Wingdings"/>
              <a:buChar char=""/>
              <a:tabLst>
                <a:tab pos="4928235" algn="l"/>
                <a:tab pos="4928870" algn="l"/>
              </a:tabLst>
            </a:pPr>
            <a:r>
              <a:rPr sz="2400" dirty="0">
                <a:latin typeface="Times New Roman"/>
                <a:cs typeface="Times New Roman"/>
              </a:rPr>
              <a:t>σ </a:t>
            </a:r>
            <a:r>
              <a:rPr dirty="0">
                <a:latin typeface="Wingdings"/>
                <a:cs typeface="Wingdings"/>
              </a:rPr>
              <a:t></a:t>
            </a:r>
            <a:r>
              <a:rPr dirty="0">
                <a:latin typeface="Times New Roman"/>
                <a:cs typeface="Times New Roman"/>
              </a:rPr>
              <a:t> Standard Deviation of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z</a:t>
            </a:r>
          </a:p>
          <a:p>
            <a:pPr marL="4928235" lvl="1" indent="-342900">
              <a:spcBef>
                <a:spcPts val="575"/>
              </a:spcBef>
              <a:buFont typeface="Wingdings"/>
              <a:buChar char=""/>
              <a:tabLst>
                <a:tab pos="4928235" algn="l"/>
                <a:tab pos="4928870" algn="l"/>
              </a:tabLst>
            </a:pPr>
            <a:r>
              <a:rPr sz="2400" spc="-5" dirty="0">
                <a:latin typeface="Times New Roman"/>
                <a:cs typeface="Times New Roman"/>
              </a:rPr>
              <a:t>σ</a:t>
            </a:r>
            <a:r>
              <a:rPr sz="2400" spc="-7" baseline="24305" dirty="0">
                <a:latin typeface="Times New Roman"/>
                <a:cs typeface="Times New Roman"/>
              </a:rPr>
              <a:t>2 </a:t>
            </a:r>
            <a:r>
              <a:rPr dirty="0">
                <a:latin typeface="Wingdings"/>
                <a:cs typeface="Wingdings"/>
              </a:rPr>
              <a:t>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Variance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spc="-2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z</a:t>
            </a:r>
          </a:p>
          <a:p>
            <a:pPr marL="4051935">
              <a:spcBef>
                <a:spcPts val="2370"/>
              </a:spcBef>
            </a:pPr>
            <a:r>
              <a:rPr sz="2000" dirty="0">
                <a:latin typeface="Times New Roman"/>
                <a:cs typeface="Times New Roman"/>
              </a:rPr>
              <a:t>When z is defined by this equation</a:t>
            </a:r>
            <a:r>
              <a:rPr sz="2000" spc="-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then</a:t>
            </a:r>
          </a:p>
          <a:p>
            <a:pPr>
              <a:spcBef>
                <a:spcPts val="25"/>
              </a:spcBef>
            </a:pPr>
            <a:endParaRPr sz="2900" dirty="0">
              <a:latin typeface="Times New Roman"/>
              <a:cs typeface="Times New Roman"/>
            </a:endParaRPr>
          </a:p>
          <a:p>
            <a:pPr marL="4394835" marR="5080" indent="-342900">
              <a:spcBef>
                <a:spcPts val="5"/>
              </a:spcBef>
              <a:buFont typeface="Wingdings"/>
              <a:buChar char=""/>
              <a:tabLst>
                <a:tab pos="4394835" algn="l"/>
                <a:tab pos="4395470" algn="l"/>
              </a:tabLst>
            </a:pPr>
            <a:r>
              <a:rPr sz="2000" spc="5" dirty="0">
                <a:latin typeface="Times New Roman"/>
                <a:cs typeface="Times New Roman"/>
              </a:rPr>
              <a:t>About 70%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5" dirty="0">
                <a:latin typeface="Times New Roman"/>
                <a:cs typeface="Times New Roman"/>
              </a:rPr>
              <a:t>its </a:t>
            </a:r>
            <a:r>
              <a:rPr sz="2000" dirty="0">
                <a:latin typeface="Times New Roman"/>
                <a:cs typeface="Times New Roman"/>
              </a:rPr>
              <a:t>values will be </a:t>
            </a:r>
            <a:r>
              <a:rPr sz="2000" spc="-5" dirty="0">
                <a:latin typeface="Times New Roman"/>
                <a:cs typeface="Times New Roman"/>
              </a:rPr>
              <a:t>in </a:t>
            </a:r>
            <a:r>
              <a:rPr sz="2000" dirty="0">
                <a:latin typeface="Times New Roman"/>
                <a:cs typeface="Times New Roman"/>
              </a:rPr>
              <a:t>the  range [(µ - σ),(µ + </a:t>
            </a:r>
            <a:r>
              <a:rPr sz="2000" spc="-5" dirty="0">
                <a:latin typeface="Times New Roman"/>
                <a:cs typeface="Times New Roman"/>
              </a:rPr>
              <a:t>σ)]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</a:p>
          <a:p>
            <a:pPr>
              <a:spcBef>
                <a:spcPts val="20"/>
              </a:spcBef>
              <a:buFont typeface="Wingdings"/>
              <a:buChar char=""/>
            </a:pPr>
            <a:endParaRPr sz="2900" dirty="0">
              <a:latin typeface="Times New Roman"/>
              <a:cs typeface="Times New Roman"/>
            </a:endParaRPr>
          </a:p>
          <a:p>
            <a:pPr marL="4394835" indent="-342900">
              <a:spcBef>
                <a:spcPts val="5"/>
              </a:spcBef>
              <a:buFont typeface="Wingdings"/>
              <a:buChar char=""/>
              <a:tabLst>
                <a:tab pos="4394835" algn="l"/>
                <a:tab pos="4395470" algn="l"/>
              </a:tabLst>
            </a:pPr>
            <a:r>
              <a:rPr sz="2000" spc="5" dirty="0">
                <a:latin typeface="Times New Roman"/>
                <a:cs typeface="Times New Roman"/>
              </a:rPr>
              <a:t>About 95%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5" dirty="0">
                <a:latin typeface="Times New Roman"/>
                <a:cs typeface="Times New Roman"/>
              </a:rPr>
              <a:t>its </a:t>
            </a:r>
            <a:r>
              <a:rPr sz="2000" dirty="0">
                <a:latin typeface="Times New Roman"/>
                <a:cs typeface="Times New Roman"/>
              </a:rPr>
              <a:t>values will be </a:t>
            </a:r>
            <a:r>
              <a:rPr sz="2000" spc="-5" dirty="0">
                <a:latin typeface="Times New Roman"/>
                <a:cs typeface="Times New Roman"/>
              </a:rPr>
              <a:t>in</a:t>
            </a:r>
            <a:r>
              <a:rPr sz="2000" spc="-18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endParaRPr sz="2000" dirty="0">
              <a:latin typeface="Times New Roman"/>
              <a:cs typeface="Times New Roman"/>
            </a:endParaRPr>
          </a:p>
          <a:p>
            <a:pPr marL="4394835">
              <a:lnSpc>
                <a:spcPts val="2325"/>
              </a:lnSpc>
            </a:pPr>
            <a:r>
              <a:rPr sz="2000" dirty="0">
                <a:latin typeface="Times New Roman"/>
                <a:cs typeface="Times New Roman"/>
              </a:rPr>
              <a:t>range [(µ - 2σ),(µ +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2σ)]</a:t>
            </a:r>
          </a:p>
          <a:p>
            <a:pPr marL="1409700">
              <a:lnSpc>
                <a:spcPts val="1845"/>
              </a:lnSpc>
            </a:pPr>
            <a:r>
              <a:rPr sz="1600" spc="-75" dirty="0">
                <a:latin typeface="Trebuchet MS"/>
                <a:cs typeface="Trebuchet MS"/>
              </a:rPr>
              <a:t>Plot </a:t>
            </a:r>
            <a:r>
              <a:rPr sz="1600" spc="-65" dirty="0">
                <a:latin typeface="Trebuchet MS"/>
                <a:cs typeface="Trebuchet MS"/>
              </a:rPr>
              <a:t>of</a:t>
            </a:r>
            <a:r>
              <a:rPr sz="1600" spc="-165" dirty="0">
                <a:latin typeface="Trebuchet MS"/>
                <a:cs typeface="Trebuchet MS"/>
              </a:rPr>
              <a:t> </a:t>
            </a:r>
            <a:r>
              <a:rPr sz="1600" spc="-70" dirty="0">
                <a:latin typeface="Trebuchet MS"/>
                <a:cs typeface="Trebuchet MS"/>
              </a:rPr>
              <a:t>function</a:t>
            </a:r>
            <a:endParaRPr sz="16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875585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3741" y="163135"/>
            <a:ext cx="8124443" cy="566822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600" b="1" spc="-5" dirty="0"/>
              <a:t>Rayleigh Noise</a:t>
            </a:r>
            <a:r>
              <a:rPr sz="3600" b="1" spc="-50" dirty="0"/>
              <a:t> </a:t>
            </a:r>
            <a:r>
              <a:rPr sz="3600" b="1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3741" y="1045210"/>
            <a:ext cx="3649345" cy="18678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PDF of </a:t>
            </a:r>
            <a:r>
              <a:rPr sz="2000" spc="-5" dirty="0">
                <a:latin typeface="Times New Roman"/>
                <a:cs typeface="Times New Roman"/>
              </a:rPr>
              <a:t>Rayleigh </a:t>
            </a:r>
            <a:r>
              <a:rPr sz="2000" dirty="0">
                <a:latin typeface="Times New Roman"/>
                <a:cs typeface="Times New Roman"/>
              </a:rPr>
              <a:t>Noise is given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by:</a:t>
            </a:r>
            <a:endParaRPr sz="2000">
              <a:latin typeface="Times New Roman"/>
              <a:cs typeface="Times New Roman"/>
            </a:endParaRPr>
          </a:p>
          <a:p>
            <a:pPr>
              <a:spcBef>
                <a:spcPts val="15"/>
              </a:spcBef>
            </a:pPr>
            <a:endParaRPr sz="1850">
              <a:latin typeface="Times New Roman"/>
              <a:cs typeface="Times New Roman"/>
            </a:endParaRPr>
          </a:p>
          <a:p>
            <a:pPr marL="508000" indent="-342900">
              <a:buFont typeface="Wingdings"/>
              <a:buChar char=""/>
              <a:tabLst>
                <a:tab pos="508000" algn="l"/>
                <a:tab pos="508634" algn="l"/>
              </a:tabLst>
            </a:pPr>
            <a:r>
              <a:rPr sz="2400" dirty="0">
                <a:latin typeface="Times New Roman"/>
                <a:cs typeface="Times New Roman"/>
              </a:rPr>
              <a:t>z </a:t>
            </a:r>
            <a:r>
              <a:rPr dirty="0">
                <a:latin typeface="Wingdings"/>
                <a:cs typeface="Wingdings"/>
              </a:rPr>
              <a:t>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Gray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level</a:t>
            </a:r>
            <a:endParaRPr>
              <a:latin typeface="Times New Roman"/>
              <a:cs typeface="Times New Roman"/>
            </a:endParaRPr>
          </a:p>
          <a:p>
            <a:pPr marL="508000" indent="-342900">
              <a:spcBef>
                <a:spcPts val="580"/>
              </a:spcBef>
              <a:buFont typeface="Wingdings"/>
              <a:buChar char=""/>
              <a:tabLst>
                <a:tab pos="508000" algn="l"/>
                <a:tab pos="508634" algn="l"/>
              </a:tabLst>
            </a:pPr>
            <a:r>
              <a:rPr sz="2400" spc="-5" dirty="0">
                <a:latin typeface="Times New Roman"/>
                <a:cs typeface="Times New Roman"/>
              </a:rPr>
              <a:t>µ </a:t>
            </a:r>
            <a:r>
              <a:rPr dirty="0">
                <a:latin typeface="Wingdings"/>
                <a:cs typeface="Wingdings"/>
              </a:rPr>
              <a:t></a:t>
            </a:r>
            <a:r>
              <a:rPr dirty="0">
                <a:latin typeface="Times New Roman"/>
                <a:cs typeface="Times New Roman"/>
              </a:rPr>
              <a:t> Mean of average value of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z</a:t>
            </a:r>
            <a:endParaRPr>
              <a:latin typeface="Times New Roman"/>
              <a:cs typeface="Times New Roman"/>
            </a:endParaRPr>
          </a:p>
          <a:p>
            <a:pPr marL="508000" indent="-342900">
              <a:spcBef>
                <a:spcPts val="575"/>
              </a:spcBef>
              <a:buFont typeface="Wingdings"/>
              <a:buChar char=""/>
              <a:tabLst>
                <a:tab pos="508000" algn="l"/>
                <a:tab pos="508634" algn="l"/>
              </a:tabLst>
            </a:pPr>
            <a:r>
              <a:rPr sz="2400" spc="-5" dirty="0">
                <a:latin typeface="Times New Roman"/>
                <a:cs typeface="Times New Roman"/>
              </a:rPr>
              <a:t>σ</a:t>
            </a:r>
            <a:r>
              <a:rPr sz="2400" spc="-7" baseline="24305" dirty="0">
                <a:latin typeface="Times New Roman"/>
                <a:cs typeface="Times New Roman"/>
              </a:rPr>
              <a:t>2 </a:t>
            </a:r>
            <a:r>
              <a:rPr dirty="0">
                <a:latin typeface="Wingdings"/>
                <a:cs typeface="Wingdings"/>
              </a:rPr>
              <a:t>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Variance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spc="-2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z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42021" y="1085786"/>
            <a:ext cx="4209550" cy="10434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870842" y="2442919"/>
            <a:ext cx="2438400" cy="5455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62800" y="3302226"/>
            <a:ext cx="1828800" cy="7559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80286" y="3377575"/>
            <a:ext cx="3269868" cy="30472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279394" y="4368166"/>
            <a:ext cx="6828790" cy="24057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635" indent="-343535">
              <a:spcBef>
                <a:spcPts val="100"/>
              </a:spcBef>
              <a:buFont typeface="Wingdings"/>
              <a:buChar char=""/>
              <a:tabLst>
                <a:tab pos="2794000" algn="l"/>
                <a:tab pos="2794635" algn="l"/>
              </a:tabLst>
            </a:pPr>
            <a:r>
              <a:rPr sz="2000" spc="-5" dirty="0">
                <a:latin typeface="Times New Roman"/>
                <a:cs typeface="Times New Roman"/>
              </a:rPr>
              <a:t>Basic </a:t>
            </a:r>
            <a:r>
              <a:rPr sz="2000" dirty="0">
                <a:latin typeface="Times New Roman"/>
                <a:cs typeface="Times New Roman"/>
              </a:rPr>
              <a:t>shape of this density is skewed</a:t>
            </a:r>
            <a:r>
              <a:rPr sz="2000" spc="-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</a:p>
          <a:p>
            <a:pPr marL="2794000"/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right.</a:t>
            </a:r>
          </a:p>
          <a:p>
            <a:pPr>
              <a:spcBef>
                <a:spcPts val="30"/>
              </a:spcBef>
            </a:pPr>
            <a:endParaRPr sz="2900" dirty="0">
              <a:latin typeface="Times New Roman"/>
              <a:cs typeface="Times New Roman"/>
            </a:endParaRPr>
          </a:p>
          <a:p>
            <a:pPr marL="2794635" marR="54610" indent="-343535">
              <a:buFont typeface="Wingdings"/>
              <a:buChar char=""/>
              <a:tabLst>
                <a:tab pos="2794000" algn="l"/>
                <a:tab pos="2794635" algn="l"/>
              </a:tabLst>
            </a:pPr>
            <a:r>
              <a:rPr sz="2000" dirty="0">
                <a:latin typeface="Times New Roman"/>
                <a:cs typeface="Times New Roman"/>
              </a:rPr>
              <a:t>Quite useful for </a:t>
            </a:r>
            <a:r>
              <a:rPr sz="2000" spc="-5" dirty="0">
                <a:latin typeface="Times New Roman"/>
                <a:cs typeface="Times New Roman"/>
              </a:rPr>
              <a:t>approximating</a:t>
            </a:r>
            <a:r>
              <a:rPr sz="2000" spc="-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skewed  </a:t>
            </a:r>
            <a:r>
              <a:rPr sz="2000" spc="-5" dirty="0">
                <a:latin typeface="Times New Roman"/>
                <a:cs typeface="Times New Roman"/>
              </a:rPr>
              <a:t>histograms.</a:t>
            </a:r>
            <a:endParaRPr sz="2000" dirty="0">
              <a:latin typeface="Times New Roman"/>
              <a:cs typeface="Times New Roman"/>
            </a:endParaRPr>
          </a:p>
          <a:p>
            <a:pPr>
              <a:spcBef>
                <a:spcPts val="5"/>
              </a:spcBef>
            </a:pPr>
            <a:endParaRPr sz="3050" dirty="0">
              <a:latin typeface="Times New Roman"/>
              <a:cs typeface="Times New Roman"/>
            </a:endParaRPr>
          </a:p>
          <a:p>
            <a:pPr marL="12700"/>
            <a:r>
              <a:rPr sz="1600" spc="-75" dirty="0">
                <a:latin typeface="Trebuchet MS"/>
                <a:cs typeface="Trebuchet MS"/>
              </a:rPr>
              <a:t>Plot </a:t>
            </a:r>
            <a:r>
              <a:rPr sz="1600" spc="-65" dirty="0">
                <a:latin typeface="Trebuchet MS"/>
                <a:cs typeface="Trebuchet MS"/>
              </a:rPr>
              <a:t>of</a:t>
            </a:r>
            <a:r>
              <a:rPr sz="1600" spc="-175" dirty="0">
                <a:latin typeface="Trebuchet MS"/>
                <a:cs typeface="Trebuchet MS"/>
              </a:rPr>
              <a:t> </a:t>
            </a:r>
            <a:r>
              <a:rPr sz="1600" spc="-75" dirty="0">
                <a:latin typeface="Trebuchet MS"/>
                <a:cs typeface="Trebuchet MS"/>
              </a:rPr>
              <a:t>function</a:t>
            </a:r>
            <a:endParaRPr sz="16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488311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3740" y="163135"/>
            <a:ext cx="8048534" cy="566822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600" b="1" dirty="0"/>
              <a:t>Erlang (Gamma) </a:t>
            </a:r>
            <a:r>
              <a:rPr sz="3600" b="1" spc="-5" dirty="0"/>
              <a:t>Noise</a:t>
            </a:r>
            <a:r>
              <a:rPr sz="3600" b="1" spc="-90" dirty="0"/>
              <a:t> </a:t>
            </a:r>
            <a:r>
              <a:rPr sz="3600" b="1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3741" y="1045210"/>
            <a:ext cx="3549015" cy="18678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PDF of Erlang Noise is given</a:t>
            </a:r>
            <a:r>
              <a:rPr sz="2000" spc="-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by:</a:t>
            </a:r>
            <a:endParaRPr sz="2000">
              <a:latin typeface="Times New Roman"/>
              <a:cs typeface="Times New Roman"/>
            </a:endParaRPr>
          </a:p>
          <a:p>
            <a:pPr>
              <a:spcBef>
                <a:spcPts val="15"/>
              </a:spcBef>
            </a:pPr>
            <a:endParaRPr sz="1850">
              <a:latin typeface="Times New Roman"/>
              <a:cs typeface="Times New Roman"/>
            </a:endParaRPr>
          </a:p>
          <a:p>
            <a:pPr marL="508000" indent="-342900">
              <a:buFont typeface="Wingdings"/>
              <a:buChar char=""/>
              <a:tabLst>
                <a:tab pos="508000" algn="l"/>
                <a:tab pos="508634" algn="l"/>
              </a:tabLst>
            </a:pPr>
            <a:r>
              <a:rPr sz="2400" dirty="0">
                <a:latin typeface="Times New Roman"/>
                <a:cs typeface="Times New Roman"/>
              </a:rPr>
              <a:t>z </a:t>
            </a:r>
            <a:r>
              <a:rPr dirty="0">
                <a:latin typeface="Wingdings"/>
                <a:cs typeface="Wingdings"/>
              </a:rPr>
              <a:t>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Gray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level</a:t>
            </a:r>
            <a:endParaRPr>
              <a:latin typeface="Times New Roman"/>
              <a:cs typeface="Times New Roman"/>
            </a:endParaRPr>
          </a:p>
          <a:p>
            <a:pPr marL="508000" indent="-342900">
              <a:spcBef>
                <a:spcPts val="580"/>
              </a:spcBef>
              <a:buFont typeface="Wingdings"/>
              <a:buChar char=""/>
              <a:tabLst>
                <a:tab pos="508000" algn="l"/>
                <a:tab pos="508634" algn="l"/>
              </a:tabLst>
            </a:pPr>
            <a:r>
              <a:rPr sz="2400" spc="-5" dirty="0">
                <a:latin typeface="Times New Roman"/>
                <a:cs typeface="Times New Roman"/>
              </a:rPr>
              <a:t>µ </a:t>
            </a:r>
            <a:r>
              <a:rPr dirty="0">
                <a:latin typeface="Wingdings"/>
                <a:cs typeface="Wingdings"/>
              </a:rPr>
              <a:t></a:t>
            </a:r>
            <a:r>
              <a:rPr dirty="0">
                <a:latin typeface="Times New Roman"/>
                <a:cs typeface="Times New Roman"/>
              </a:rPr>
              <a:t> Mean of average value of</a:t>
            </a:r>
            <a:r>
              <a:rPr spc="-114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z</a:t>
            </a:r>
            <a:endParaRPr>
              <a:latin typeface="Times New Roman"/>
              <a:cs typeface="Times New Roman"/>
            </a:endParaRPr>
          </a:p>
          <a:p>
            <a:pPr marL="508000" indent="-342900">
              <a:spcBef>
                <a:spcPts val="575"/>
              </a:spcBef>
              <a:buFont typeface="Wingdings"/>
              <a:buChar char=""/>
              <a:tabLst>
                <a:tab pos="508000" algn="l"/>
                <a:tab pos="508634" algn="l"/>
              </a:tabLst>
            </a:pPr>
            <a:r>
              <a:rPr sz="2400" spc="-5" dirty="0">
                <a:latin typeface="Times New Roman"/>
                <a:cs typeface="Times New Roman"/>
              </a:rPr>
              <a:t>σ</a:t>
            </a:r>
            <a:r>
              <a:rPr sz="2400" spc="-7" baseline="24305" dirty="0">
                <a:latin typeface="Times New Roman"/>
                <a:cs typeface="Times New Roman"/>
              </a:rPr>
              <a:t>2 </a:t>
            </a:r>
            <a:r>
              <a:rPr dirty="0">
                <a:latin typeface="Wingdings"/>
                <a:cs typeface="Wingdings"/>
              </a:rPr>
              <a:t>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Variance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spc="-2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z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18176" y="4368165"/>
            <a:ext cx="3891915" cy="16902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spcBef>
                <a:spcPts val="100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2000" spc="5" dirty="0">
                <a:latin typeface="Times New Roman"/>
                <a:cs typeface="Times New Roman"/>
              </a:rPr>
              <a:t>Above </a:t>
            </a:r>
            <a:r>
              <a:rPr sz="2000" dirty="0">
                <a:latin typeface="Times New Roman"/>
                <a:cs typeface="Times New Roman"/>
              </a:rPr>
              <a:t>equation is </a:t>
            </a:r>
            <a:r>
              <a:rPr sz="2000" spc="-5" dirty="0">
                <a:latin typeface="Times New Roman"/>
                <a:cs typeface="Times New Roman"/>
              </a:rPr>
              <a:t>also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called</a:t>
            </a:r>
            <a:endParaRPr sz="2000">
              <a:latin typeface="Times New Roman"/>
              <a:cs typeface="Times New Roman"/>
            </a:endParaRPr>
          </a:p>
          <a:p>
            <a:pPr marL="355600"/>
            <a:r>
              <a:rPr sz="2000" dirty="0">
                <a:latin typeface="Times New Roman"/>
                <a:cs typeface="Times New Roman"/>
              </a:rPr>
              <a:t>Erlang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Density</a:t>
            </a:r>
            <a:endParaRPr sz="2000">
              <a:latin typeface="Times New Roman"/>
              <a:cs typeface="Times New Roman"/>
            </a:endParaRPr>
          </a:p>
          <a:p>
            <a:pPr>
              <a:spcBef>
                <a:spcPts val="30"/>
              </a:spcBef>
            </a:pPr>
            <a:endParaRPr sz="2900">
              <a:latin typeface="Times New Roman"/>
              <a:cs typeface="Times New Roman"/>
            </a:endParaRPr>
          </a:p>
          <a:p>
            <a:pPr marL="355600" marR="5080" indent="-342900"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2000" dirty="0">
                <a:latin typeface="Times New Roman"/>
                <a:cs typeface="Times New Roman"/>
              </a:rPr>
              <a:t>If denominator is </a:t>
            </a:r>
            <a:r>
              <a:rPr sz="2000" spc="-10" dirty="0">
                <a:latin typeface="Times New Roman"/>
                <a:cs typeface="Times New Roman"/>
              </a:rPr>
              <a:t>Gamma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  then it is </a:t>
            </a:r>
            <a:r>
              <a:rPr sz="2000" spc="-5" dirty="0">
                <a:latin typeface="Times New Roman"/>
                <a:cs typeface="Times New Roman"/>
              </a:rPr>
              <a:t>called </a:t>
            </a:r>
            <a:r>
              <a:rPr sz="2000" spc="-10" dirty="0">
                <a:latin typeface="Times New Roman"/>
                <a:cs typeface="Times New Roman"/>
              </a:rPr>
              <a:t>Gamma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density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74594" y="6461252"/>
            <a:ext cx="130302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spc="-75" dirty="0">
                <a:latin typeface="Trebuchet MS"/>
                <a:cs typeface="Trebuchet MS"/>
              </a:rPr>
              <a:t>Plot </a:t>
            </a:r>
            <a:r>
              <a:rPr sz="1600" spc="-65" dirty="0">
                <a:latin typeface="Trebuchet MS"/>
                <a:cs typeface="Trebuchet MS"/>
              </a:rPr>
              <a:t>of</a:t>
            </a:r>
            <a:r>
              <a:rPr sz="1600" spc="-210" dirty="0">
                <a:latin typeface="Trebuchet MS"/>
                <a:cs typeface="Trebuchet MS"/>
              </a:rPr>
              <a:t> </a:t>
            </a:r>
            <a:r>
              <a:rPr sz="1600" spc="-75" dirty="0">
                <a:latin typeface="Trebuchet MS"/>
                <a:cs typeface="Trebuchet MS"/>
              </a:rPr>
              <a:t>function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504628" y="1045210"/>
            <a:ext cx="2681451" cy="9558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338606" y="2126209"/>
            <a:ext cx="2336800" cy="75819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55600" indent="-342900">
              <a:spcBef>
                <a:spcPts val="58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a &gt;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spcBef>
                <a:spcPts val="48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b = positive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integer</a:t>
            </a:r>
          </a:p>
        </p:txBody>
      </p:sp>
      <p:sp>
        <p:nvSpPr>
          <p:cNvPr id="8" name="object 8"/>
          <p:cNvSpPr/>
          <p:nvPr/>
        </p:nvSpPr>
        <p:spPr>
          <a:xfrm>
            <a:off x="6313715" y="3200400"/>
            <a:ext cx="1193291" cy="762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609114" y="3200400"/>
            <a:ext cx="1307592" cy="762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28800" y="3581400"/>
            <a:ext cx="3408978" cy="29337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725062" y="5515017"/>
            <a:ext cx="409896" cy="22893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0952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3741" y="163135"/>
            <a:ext cx="8492670" cy="566822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600" b="1" spc="-5" dirty="0"/>
              <a:t>Exponential Noise</a:t>
            </a:r>
            <a:r>
              <a:rPr sz="3600" b="1" spc="-30" dirty="0"/>
              <a:t> </a:t>
            </a:r>
            <a:r>
              <a:rPr sz="3600" b="1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3740" y="1045209"/>
            <a:ext cx="3958590" cy="196784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PDF of Exponential Noise is given</a:t>
            </a:r>
            <a:r>
              <a:rPr sz="2000" spc="-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by:</a:t>
            </a:r>
            <a:endParaRPr sz="2000">
              <a:latin typeface="Times New Roman"/>
              <a:cs typeface="Times New Roman"/>
            </a:endParaRPr>
          </a:p>
          <a:p>
            <a:pPr>
              <a:spcBef>
                <a:spcPts val="35"/>
              </a:spcBef>
            </a:pPr>
            <a:endParaRPr sz="1850">
              <a:latin typeface="Times New Roman"/>
              <a:cs typeface="Times New Roman"/>
            </a:endParaRPr>
          </a:p>
          <a:p>
            <a:pPr marL="508000" indent="-342900">
              <a:buFont typeface="Wingdings"/>
              <a:buChar char=""/>
              <a:tabLst>
                <a:tab pos="508000" algn="l"/>
                <a:tab pos="508634" algn="l"/>
              </a:tabLst>
            </a:pPr>
            <a:r>
              <a:rPr sz="1900" spc="-5" dirty="0">
                <a:latin typeface="Times New Roman"/>
                <a:cs typeface="Times New Roman"/>
              </a:rPr>
              <a:t>z </a:t>
            </a:r>
            <a:r>
              <a:rPr sz="1900" spc="-5" dirty="0">
                <a:latin typeface="Wingdings"/>
                <a:cs typeface="Wingdings"/>
              </a:rPr>
              <a:t></a:t>
            </a:r>
            <a:r>
              <a:rPr sz="1900" spc="-5" dirty="0">
                <a:latin typeface="Times New Roman"/>
                <a:cs typeface="Times New Roman"/>
              </a:rPr>
              <a:t> Gray level</a:t>
            </a:r>
            <a:endParaRPr sz="1900">
              <a:latin typeface="Times New Roman"/>
              <a:cs typeface="Times New Roman"/>
            </a:endParaRPr>
          </a:p>
          <a:p>
            <a:pPr marL="508000" indent="-342900">
              <a:spcBef>
                <a:spcPts val="459"/>
              </a:spcBef>
              <a:buFont typeface="Wingdings"/>
              <a:buChar char=""/>
              <a:tabLst>
                <a:tab pos="508000" algn="l"/>
                <a:tab pos="508634" algn="l"/>
              </a:tabLst>
            </a:pPr>
            <a:r>
              <a:rPr sz="1900" spc="-5" dirty="0">
                <a:latin typeface="Times New Roman"/>
                <a:cs typeface="Times New Roman"/>
              </a:rPr>
              <a:t>µ </a:t>
            </a:r>
            <a:r>
              <a:rPr sz="1900" spc="-5" dirty="0">
                <a:latin typeface="Wingdings"/>
                <a:cs typeface="Wingdings"/>
              </a:rPr>
              <a:t></a:t>
            </a:r>
            <a:r>
              <a:rPr sz="1900" spc="-5" dirty="0">
                <a:latin typeface="Times New Roman"/>
                <a:cs typeface="Times New Roman"/>
              </a:rPr>
              <a:t> Mean of average value of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z</a:t>
            </a:r>
            <a:endParaRPr sz="1900">
              <a:latin typeface="Times New Roman"/>
              <a:cs typeface="Times New Roman"/>
            </a:endParaRPr>
          </a:p>
          <a:p>
            <a:pPr marL="508000" indent="-342900">
              <a:spcBef>
                <a:spcPts val="455"/>
              </a:spcBef>
              <a:buFont typeface="Wingdings"/>
              <a:buChar char=""/>
              <a:tabLst>
                <a:tab pos="508000" algn="l"/>
                <a:tab pos="508634" algn="l"/>
              </a:tabLst>
            </a:pPr>
            <a:r>
              <a:rPr sz="1900" dirty="0">
                <a:latin typeface="Times New Roman"/>
                <a:cs typeface="Times New Roman"/>
              </a:rPr>
              <a:t>σ</a:t>
            </a:r>
            <a:r>
              <a:rPr sz="1875" baseline="26666" dirty="0">
                <a:latin typeface="Times New Roman"/>
                <a:cs typeface="Times New Roman"/>
              </a:rPr>
              <a:t>2 </a:t>
            </a:r>
            <a:r>
              <a:rPr sz="1900" spc="-5" dirty="0">
                <a:latin typeface="Wingdings"/>
                <a:cs typeface="Wingdings"/>
              </a:rPr>
              <a:t>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spc="-30" dirty="0">
                <a:latin typeface="Times New Roman"/>
                <a:cs typeface="Times New Roman"/>
              </a:rPr>
              <a:t>Variance </a:t>
            </a:r>
            <a:r>
              <a:rPr sz="1900" spc="-5" dirty="0">
                <a:latin typeface="Times New Roman"/>
                <a:cs typeface="Times New Roman"/>
              </a:rPr>
              <a:t>of</a:t>
            </a:r>
            <a:r>
              <a:rPr sz="1900" spc="-15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z</a:t>
            </a:r>
            <a:endParaRPr sz="1900">
              <a:latin typeface="Times New Roman"/>
              <a:cs typeface="Times New Roman"/>
            </a:endParaRPr>
          </a:p>
          <a:p>
            <a:pPr marL="508000" indent="-342900">
              <a:spcBef>
                <a:spcPts val="455"/>
              </a:spcBef>
              <a:buFont typeface="Wingdings"/>
              <a:buChar char=""/>
              <a:tabLst>
                <a:tab pos="508000" algn="l"/>
                <a:tab pos="508634" algn="l"/>
              </a:tabLst>
            </a:pPr>
            <a:r>
              <a:rPr sz="1900" spc="-5" dirty="0">
                <a:latin typeface="Times New Roman"/>
                <a:cs typeface="Times New Roman"/>
              </a:rPr>
              <a:t>a &gt;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18176" y="4215765"/>
            <a:ext cx="3484879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spcBef>
                <a:spcPts val="100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2000" dirty="0">
                <a:latin typeface="Times New Roman"/>
                <a:cs typeface="Times New Roman"/>
              </a:rPr>
              <a:t>Special case of Erlang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Density</a:t>
            </a:r>
            <a:endParaRPr sz="2000">
              <a:latin typeface="Times New Roman"/>
              <a:cs typeface="Times New Roman"/>
            </a:endParaRPr>
          </a:p>
          <a:p>
            <a:pPr marL="355600"/>
            <a:r>
              <a:rPr sz="2000" spc="5" dirty="0">
                <a:latin typeface="Times New Roman"/>
                <a:cs typeface="Times New Roman"/>
              </a:rPr>
              <a:t>Where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b=1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74594" y="6270142"/>
            <a:ext cx="130302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spc="-75" dirty="0">
                <a:latin typeface="Trebuchet MS"/>
                <a:cs typeface="Trebuchet MS"/>
              </a:rPr>
              <a:t>Plot </a:t>
            </a:r>
            <a:r>
              <a:rPr sz="1600" spc="-65" dirty="0">
                <a:latin typeface="Trebuchet MS"/>
                <a:cs typeface="Trebuchet MS"/>
              </a:rPr>
              <a:t>of</a:t>
            </a:r>
            <a:r>
              <a:rPr sz="1600" spc="-240" dirty="0">
                <a:latin typeface="Trebuchet MS"/>
                <a:cs typeface="Trebuchet MS"/>
              </a:rPr>
              <a:t> </a:t>
            </a:r>
            <a:r>
              <a:rPr sz="1600" spc="-70" dirty="0">
                <a:latin typeface="Trebuchet MS"/>
                <a:cs typeface="Trebuchet MS"/>
              </a:rPr>
              <a:t>function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188560" y="1343084"/>
            <a:ext cx="2544110" cy="6860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532718" y="2471410"/>
            <a:ext cx="952500" cy="762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477000" y="3429000"/>
            <a:ext cx="1066800" cy="7360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45208" y="3429000"/>
            <a:ext cx="3149600" cy="28448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66468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3741" y="163135"/>
            <a:ext cx="7970156" cy="566822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600" b="1" dirty="0"/>
              <a:t>Uniform </a:t>
            </a:r>
            <a:r>
              <a:rPr sz="3600" b="1" spc="-5" dirty="0"/>
              <a:t>Noise</a:t>
            </a:r>
            <a:r>
              <a:rPr sz="3600" b="1" spc="-75" dirty="0"/>
              <a:t> </a:t>
            </a:r>
            <a:r>
              <a:rPr sz="3600" b="1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3741" y="1314703"/>
            <a:ext cx="3644900" cy="177292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PDF of Uniform Noise is given</a:t>
            </a:r>
            <a:r>
              <a:rPr sz="2000" spc="-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by:</a:t>
            </a:r>
          </a:p>
          <a:p>
            <a:pPr>
              <a:spcBef>
                <a:spcPts val="25"/>
              </a:spcBef>
            </a:pPr>
            <a:endParaRPr sz="2900" dirty="0">
              <a:latin typeface="Times New Roman"/>
              <a:cs typeface="Times New Roman"/>
            </a:endParaRPr>
          </a:p>
          <a:p>
            <a:pPr marL="508000" indent="-342900">
              <a:buFont typeface="Wingdings"/>
              <a:buChar char=""/>
              <a:tabLst>
                <a:tab pos="508000" algn="l"/>
                <a:tab pos="508634" algn="l"/>
              </a:tabLst>
            </a:pPr>
            <a:r>
              <a:rPr sz="1900" spc="-5" dirty="0">
                <a:latin typeface="Times New Roman"/>
                <a:cs typeface="Times New Roman"/>
              </a:rPr>
              <a:t>z </a:t>
            </a:r>
            <a:r>
              <a:rPr sz="1900" spc="-5" dirty="0">
                <a:latin typeface="Wingdings"/>
                <a:cs typeface="Wingdings"/>
              </a:rPr>
              <a:t></a:t>
            </a:r>
            <a:r>
              <a:rPr sz="1900" spc="-5" dirty="0">
                <a:latin typeface="Times New Roman"/>
                <a:cs typeface="Times New Roman"/>
              </a:rPr>
              <a:t> Gray level</a:t>
            </a:r>
            <a:endParaRPr sz="1900" dirty="0">
              <a:latin typeface="Times New Roman"/>
              <a:cs typeface="Times New Roman"/>
            </a:endParaRPr>
          </a:p>
          <a:p>
            <a:pPr marL="508000" indent="-342900">
              <a:spcBef>
                <a:spcPts val="459"/>
              </a:spcBef>
              <a:buFont typeface="Wingdings"/>
              <a:buChar char=""/>
              <a:tabLst>
                <a:tab pos="508000" algn="l"/>
                <a:tab pos="508634" algn="l"/>
              </a:tabLst>
            </a:pPr>
            <a:r>
              <a:rPr sz="1900" spc="-5" dirty="0">
                <a:latin typeface="Times New Roman"/>
                <a:cs typeface="Times New Roman"/>
              </a:rPr>
              <a:t>µ </a:t>
            </a:r>
            <a:r>
              <a:rPr sz="1900" spc="-5" dirty="0">
                <a:latin typeface="Wingdings"/>
                <a:cs typeface="Wingdings"/>
              </a:rPr>
              <a:t></a:t>
            </a:r>
            <a:r>
              <a:rPr sz="1900" spc="-5" dirty="0">
                <a:latin typeface="Times New Roman"/>
                <a:cs typeface="Times New Roman"/>
              </a:rPr>
              <a:t> Mean of average value of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z</a:t>
            </a:r>
            <a:endParaRPr sz="1900" dirty="0">
              <a:latin typeface="Times New Roman"/>
              <a:cs typeface="Times New Roman"/>
            </a:endParaRPr>
          </a:p>
          <a:p>
            <a:pPr marL="508000" indent="-342900">
              <a:spcBef>
                <a:spcPts val="455"/>
              </a:spcBef>
              <a:buFont typeface="Wingdings"/>
              <a:buChar char=""/>
              <a:tabLst>
                <a:tab pos="508000" algn="l"/>
                <a:tab pos="508634" algn="l"/>
              </a:tabLst>
            </a:pPr>
            <a:r>
              <a:rPr sz="1900" dirty="0">
                <a:latin typeface="Times New Roman"/>
                <a:cs typeface="Times New Roman"/>
              </a:rPr>
              <a:t>σ</a:t>
            </a:r>
            <a:r>
              <a:rPr sz="1875" baseline="26666" dirty="0">
                <a:latin typeface="Times New Roman"/>
                <a:cs typeface="Times New Roman"/>
              </a:rPr>
              <a:t>2 </a:t>
            </a:r>
            <a:r>
              <a:rPr sz="1900" spc="-5" dirty="0">
                <a:latin typeface="Wingdings"/>
                <a:cs typeface="Wingdings"/>
              </a:rPr>
              <a:t>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spc="-30" dirty="0">
                <a:latin typeface="Times New Roman"/>
                <a:cs typeface="Times New Roman"/>
              </a:rPr>
              <a:t>Variance </a:t>
            </a:r>
            <a:r>
              <a:rPr sz="1900" spc="-5" dirty="0">
                <a:latin typeface="Times New Roman"/>
                <a:cs typeface="Times New Roman"/>
              </a:rPr>
              <a:t>of</a:t>
            </a:r>
            <a:r>
              <a:rPr sz="1900" spc="-15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z</a:t>
            </a:r>
            <a:endParaRPr sz="19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74594" y="6270142"/>
            <a:ext cx="130302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spc="-75" dirty="0">
                <a:latin typeface="Trebuchet MS"/>
                <a:cs typeface="Trebuchet MS"/>
              </a:rPr>
              <a:t>Plot </a:t>
            </a:r>
            <a:r>
              <a:rPr sz="1600" spc="-65" dirty="0">
                <a:latin typeface="Trebuchet MS"/>
                <a:cs typeface="Trebuchet MS"/>
              </a:rPr>
              <a:t>of</a:t>
            </a:r>
            <a:r>
              <a:rPr sz="1600" spc="-240" dirty="0">
                <a:latin typeface="Trebuchet MS"/>
                <a:cs typeface="Trebuchet MS"/>
              </a:rPr>
              <a:t> </a:t>
            </a:r>
            <a:r>
              <a:rPr sz="1600" spc="-70" dirty="0">
                <a:latin typeface="Trebuchet MS"/>
                <a:cs typeface="Trebuchet MS"/>
              </a:rPr>
              <a:t>function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209145" y="1314703"/>
            <a:ext cx="2974109" cy="7920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86600" y="2438400"/>
            <a:ext cx="1219200" cy="6492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10400" y="3276600"/>
            <a:ext cx="1545336" cy="609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82800" y="3378200"/>
            <a:ext cx="3251200" cy="28448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34963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3741" y="180199"/>
            <a:ext cx="7434579" cy="504625"/>
          </a:xfrm>
          <a:prstGeom prst="rect">
            <a:avLst/>
          </a:prstGeom>
        </p:spPr>
        <p:txBody>
          <a:bodyPr vert="horz" wrap="square" lIns="0" tIns="1206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3200" b="1" spc="-5" dirty="0"/>
              <a:t>Impulse (Salt &amp; Pepper) Noise</a:t>
            </a:r>
            <a:r>
              <a:rPr sz="3200" b="1" spc="40" dirty="0"/>
              <a:t> </a:t>
            </a:r>
            <a:r>
              <a:rPr sz="3200" b="1" spc="-5" dirty="0"/>
              <a:t>Model</a:t>
            </a:r>
            <a:endParaRPr sz="32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1983740" y="994917"/>
            <a:ext cx="343027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900" spc="-5" dirty="0">
                <a:latin typeface="Times New Roman"/>
                <a:cs typeface="Times New Roman"/>
              </a:rPr>
              <a:t>PDF of Uniform Noise is given</a:t>
            </a:r>
            <a:r>
              <a:rPr sz="1900" spc="3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by:</a:t>
            </a:r>
            <a:endParaRPr sz="19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0891" y="1625125"/>
            <a:ext cx="5572897" cy="93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spcBef>
                <a:spcPts val="105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2000" dirty="0">
                <a:latin typeface="Times New Roman"/>
                <a:cs typeface="Times New Roman"/>
              </a:rPr>
              <a:t>z </a:t>
            </a:r>
            <a:r>
              <a:rPr sz="2000" dirty="0">
                <a:latin typeface="Wingdings"/>
                <a:cs typeface="Wingdings"/>
              </a:rPr>
              <a:t></a:t>
            </a:r>
            <a:r>
              <a:rPr sz="2000" dirty="0">
                <a:latin typeface="Times New Roman"/>
                <a:cs typeface="Times New Roman"/>
              </a:rPr>
              <a:t> Gray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 smtClean="0">
                <a:latin typeface="Times New Roman"/>
                <a:cs typeface="Times New Roman"/>
              </a:rPr>
              <a:t>level</a:t>
            </a:r>
            <a:endParaRPr sz="2900" dirty="0">
              <a:latin typeface="Times New Roman"/>
              <a:cs typeface="Times New Roman"/>
            </a:endParaRPr>
          </a:p>
          <a:p>
            <a:pPr marL="355600" indent="-342900">
              <a:spcBef>
                <a:spcPts val="5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2000" spc="-5" dirty="0">
                <a:latin typeface="Times New Roman"/>
                <a:cs typeface="Times New Roman"/>
              </a:rPr>
              <a:t>If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&gt;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then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Wingdings"/>
                <a:cs typeface="Wingdings"/>
              </a:rPr>
              <a:t>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light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dot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Wingdings"/>
                <a:cs typeface="Wingdings"/>
              </a:rPr>
              <a:t>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dark</a:t>
            </a:r>
          </a:p>
          <a:p>
            <a:pPr marL="355600"/>
            <a:r>
              <a:rPr sz="2000" dirty="0">
                <a:latin typeface="Times New Roman"/>
                <a:cs typeface="Times New Roman"/>
              </a:rPr>
              <a:t>dot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00891" y="2691370"/>
            <a:ext cx="24180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spcBef>
                <a:spcPts val="100"/>
              </a:spcBef>
              <a:buFont typeface="Wingdings"/>
              <a:buChar char=""/>
              <a:tabLst>
                <a:tab pos="355600" algn="l"/>
                <a:tab pos="356235" algn="l"/>
                <a:tab pos="687705" algn="l"/>
                <a:tab pos="1426845" algn="l"/>
                <a:tab pos="1804670" algn="l"/>
                <a:tab pos="2179955" algn="l"/>
              </a:tabLst>
            </a:pPr>
            <a:r>
              <a:rPr sz="2000" spc="-1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f	e</a:t>
            </a:r>
            <a:r>
              <a:rPr sz="2000" spc="-10" dirty="0">
                <a:latin typeface="Times New Roman"/>
                <a:cs typeface="Times New Roman"/>
              </a:rPr>
              <a:t>i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r	P</a:t>
            </a:r>
            <a:r>
              <a:rPr sz="1950" spc="15" baseline="-21367" dirty="0">
                <a:latin typeface="Times New Roman"/>
                <a:cs typeface="Times New Roman"/>
              </a:rPr>
              <a:t>a</a:t>
            </a:r>
            <a:r>
              <a:rPr sz="1950" baseline="-21367" dirty="0">
                <a:latin typeface="Times New Roman"/>
                <a:cs typeface="Times New Roman"/>
              </a:rPr>
              <a:t>	</a:t>
            </a:r>
            <a:r>
              <a:rPr sz="2000" spc="5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r	</a:t>
            </a:r>
            <a:r>
              <a:rPr sz="2000" spc="-15" dirty="0">
                <a:latin typeface="Times New Roman"/>
                <a:cs typeface="Times New Roman"/>
              </a:rPr>
              <a:t>P</a:t>
            </a:r>
            <a:r>
              <a:rPr sz="1950" spc="22" baseline="-21367" dirty="0">
                <a:latin typeface="Times New Roman"/>
                <a:cs typeface="Times New Roman"/>
              </a:rPr>
              <a:t>b</a:t>
            </a:r>
            <a:endParaRPr sz="1950" baseline="-21367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14380" y="2694414"/>
            <a:ext cx="19367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316865" algn="l"/>
                <a:tab pos="606425" algn="l"/>
                <a:tab pos="1019810" algn="l"/>
              </a:tabLst>
            </a:pPr>
            <a:r>
              <a:rPr sz="2000" dirty="0">
                <a:latin typeface="Times New Roman"/>
                <a:cs typeface="Times New Roman"/>
              </a:rPr>
              <a:t>=	0	</a:t>
            </a:r>
            <a:r>
              <a:rPr sz="2000" dirty="0">
                <a:latin typeface="Wingdings"/>
                <a:cs typeface="Wingdings"/>
              </a:rPr>
              <a:t>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Unipolar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173788" y="960862"/>
            <a:ext cx="2705325" cy="10635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296602" y="2204306"/>
            <a:ext cx="3149600" cy="2844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05644" y="3043562"/>
            <a:ext cx="8227695" cy="22467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0">
              <a:spcBef>
                <a:spcPts val="100"/>
              </a:spcBef>
              <a:tabLst>
                <a:tab pos="1571625" algn="l"/>
                <a:tab pos="2484755" algn="l"/>
                <a:tab pos="3794125" algn="l"/>
              </a:tabLst>
            </a:pPr>
            <a:r>
              <a:rPr sz="2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Impulse	Noise</a:t>
            </a:r>
            <a:r>
              <a:rPr sz="2000" spc="-5" dirty="0">
                <a:latin typeface="Times New Roman"/>
                <a:cs typeface="Times New Roman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otherwise	</a:t>
            </a:r>
            <a:r>
              <a:rPr sz="2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Bipolar</a:t>
            </a:r>
            <a:endParaRPr sz="2000" dirty="0">
              <a:latin typeface="Times New Roman"/>
              <a:cs typeface="Times New Roman"/>
            </a:endParaRPr>
          </a:p>
          <a:p>
            <a:pPr marL="431800"/>
            <a:r>
              <a:rPr sz="2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Impulse</a:t>
            </a:r>
            <a:r>
              <a:rPr sz="2000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Noise.</a:t>
            </a:r>
            <a:endParaRPr sz="2000" dirty="0">
              <a:latin typeface="Times New Roman"/>
              <a:cs typeface="Times New Roman"/>
            </a:endParaRPr>
          </a:p>
          <a:p>
            <a:pPr marL="355600" marR="5080" indent="-342900">
              <a:spcBef>
                <a:spcPts val="1110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2400" spc="-5" dirty="0" smtClean="0">
                <a:latin typeface="Times New Roman"/>
                <a:cs typeface="Times New Roman"/>
              </a:rPr>
              <a:t>If </a:t>
            </a:r>
            <a:r>
              <a:rPr sz="2400" spc="-5" dirty="0">
                <a:latin typeface="Times New Roman"/>
                <a:cs typeface="Times New Roman"/>
              </a:rPr>
              <a:t>Neither probability is </a:t>
            </a:r>
            <a:r>
              <a:rPr sz="2400" dirty="0">
                <a:latin typeface="Times New Roman"/>
                <a:cs typeface="Times New Roman"/>
              </a:rPr>
              <a:t>0 </a:t>
            </a:r>
            <a:r>
              <a:rPr sz="2400" spc="-5" dirty="0">
                <a:latin typeface="Times New Roman"/>
                <a:cs typeface="Times New Roman"/>
              </a:rPr>
              <a:t>and approximately equal </a:t>
            </a:r>
            <a:r>
              <a:rPr sz="2400" spc="-10" dirty="0">
                <a:latin typeface="Times New Roman"/>
                <a:cs typeface="Times New Roman"/>
              </a:rPr>
              <a:t>then </a:t>
            </a:r>
            <a:r>
              <a:rPr sz="2400" spc="-5" dirty="0">
                <a:latin typeface="Times New Roman"/>
                <a:cs typeface="Times New Roman"/>
              </a:rPr>
              <a:t>noise values </a:t>
            </a:r>
            <a:r>
              <a:rPr sz="2400" dirty="0">
                <a:latin typeface="Times New Roman"/>
                <a:cs typeface="Times New Roman"/>
              </a:rPr>
              <a:t>will  </a:t>
            </a:r>
            <a:r>
              <a:rPr sz="2400" spc="-5" dirty="0">
                <a:latin typeface="Times New Roman"/>
                <a:cs typeface="Times New Roman"/>
              </a:rPr>
              <a:t>resemble salt </a:t>
            </a:r>
            <a:r>
              <a:rPr sz="2400" dirty="0">
                <a:latin typeface="Times New Roman"/>
                <a:cs typeface="Times New Roman"/>
              </a:rPr>
              <a:t>&amp; pepper granules randomly distributed over the</a:t>
            </a:r>
            <a:r>
              <a:rPr sz="2400" spc="-1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image.</a:t>
            </a:r>
            <a:endParaRPr sz="2400" dirty="0">
              <a:latin typeface="Times New Roman"/>
              <a:cs typeface="Times New Roman"/>
            </a:endParaRPr>
          </a:p>
          <a:p>
            <a:pPr marL="355600" indent="-342900">
              <a:spcBef>
                <a:spcPts val="5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2400" dirty="0" smtClean="0">
                <a:latin typeface="Times New Roman"/>
                <a:cs typeface="Times New Roman"/>
              </a:rPr>
              <a:t>Also </a:t>
            </a:r>
            <a:r>
              <a:rPr sz="2400" dirty="0">
                <a:latin typeface="Times New Roman"/>
                <a:cs typeface="Times New Roman"/>
              </a:rPr>
              <a:t>referred </a:t>
            </a:r>
            <a:r>
              <a:rPr sz="2400" spc="-5" dirty="0">
                <a:latin typeface="Times New Roman"/>
                <a:cs typeface="Times New Roman"/>
              </a:rPr>
              <a:t>as </a:t>
            </a:r>
            <a:r>
              <a:rPr sz="2400" dirty="0">
                <a:latin typeface="Times New Roman"/>
                <a:cs typeface="Times New Roman"/>
              </a:rPr>
              <a:t>Shot and Spike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Noise</a:t>
            </a:r>
          </a:p>
        </p:txBody>
      </p:sp>
    </p:spTree>
    <p:extLst>
      <p:ext uri="{BB962C8B-B14F-4D97-AF65-F5344CB8AC3E}">
        <p14:creationId xmlns:p14="http://schemas.microsoft.com/office/powerpoint/2010/main" val="2763838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24598" y="1254033"/>
            <a:ext cx="4930139" cy="2400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760843" y="3971888"/>
            <a:ext cx="813562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This test </a:t>
            </a:r>
            <a:r>
              <a:rPr spc="-5" dirty="0">
                <a:latin typeface="Times New Roman"/>
                <a:cs typeface="Times New Roman"/>
              </a:rPr>
              <a:t>pattern is well-suited for illustrating the noise models, </a:t>
            </a:r>
            <a:r>
              <a:rPr dirty="0">
                <a:latin typeface="Times New Roman"/>
                <a:cs typeface="Times New Roman"/>
              </a:rPr>
              <a:t>because </a:t>
            </a:r>
            <a:r>
              <a:rPr spc="-5" dirty="0">
                <a:latin typeface="Times New Roman"/>
                <a:cs typeface="Times New Roman"/>
              </a:rPr>
              <a:t>it is composed  </a:t>
            </a:r>
            <a:r>
              <a:rPr dirty="0">
                <a:latin typeface="Times New Roman"/>
                <a:cs typeface="Times New Roman"/>
              </a:rPr>
              <a:t>of </a:t>
            </a:r>
            <a:r>
              <a:rPr spc="-5" dirty="0">
                <a:latin typeface="Times New Roman"/>
                <a:cs typeface="Times New Roman"/>
              </a:rPr>
              <a:t>simple, constant </a:t>
            </a:r>
            <a:r>
              <a:rPr dirty="0">
                <a:latin typeface="Times New Roman"/>
                <a:cs typeface="Times New Roman"/>
              </a:rPr>
              <a:t>areas </a:t>
            </a:r>
            <a:r>
              <a:rPr spc="-5" dirty="0">
                <a:latin typeface="Times New Roman"/>
                <a:cs typeface="Times New Roman"/>
              </a:rPr>
              <a:t>that </a:t>
            </a:r>
            <a:r>
              <a:rPr dirty="0">
                <a:latin typeface="Times New Roman"/>
                <a:cs typeface="Times New Roman"/>
              </a:rPr>
              <a:t>span </a:t>
            </a:r>
            <a:r>
              <a:rPr spc="-5" dirty="0">
                <a:latin typeface="Times New Roman"/>
                <a:cs typeface="Times New Roman"/>
              </a:rPr>
              <a:t>the grey </a:t>
            </a:r>
            <a:r>
              <a:rPr spc="-10" dirty="0">
                <a:latin typeface="Times New Roman"/>
                <a:cs typeface="Times New Roman"/>
              </a:rPr>
              <a:t>scale </a:t>
            </a:r>
            <a:r>
              <a:rPr dirty="0">
                <a:latin typeface="Times New Roman"/>
                <a:cs typeface="Times New Roman"/>
              </a:rPr>
              <a:t>from </a:t>
            </a:r>
            <a:r>
              <a:rPr spc="-5" dirty="0">
                <a:latin typeface="Times New Roman"/>
                <a:cs typeface="Times New Roman"/>
              </a:rPr>
              <a:t>black to </a:t>
            </a:r>
            <a:r>
              <a:rPr dirty="0">
                <a:latin typeface="Times New Roman"/>
                <a:cs typeface="Times New Roman"/>
              </a:rPr>
              <a:t>white in </a:t>
            </a:r>
            <a:r>
              <a:rPr spc="-5" dirty="0">
                <a:latin typeface="Times New Roman"/>
                <a:cs typeface="Times New Roman"/>
              </a:rPr>
              <a:t>only </a:t>
            </a:r>
            <a:r>
              <a:rPr dirty="0">
                <a:latin typeface="Times New Roman"/>
                <a:cs typeface="Times New Roman"/>
              </a:rPr>
              <a:t>three  increments. This facilitates </a:t>
            </a:r>
            <a:r>
              <a:rPr spc="-5" dirty="0">
                <a:latin typeface="Times New Roman"/>
                <a:cs typeface="Times New Roman"/>
              </a:rPr>
              <a:t>visual analysis </a:t>
            </a:r>
            <a:r>
              <a:rPr dirty="0">
                <a:latin typeface="Times New Roman"/>
                <a:cs typeface="Times New Roman"/>
              </a:rPr>
              <a:t>of </a:t>
            </a:r>
            <a:r>
              <a:rPr spc="-5" dirty="0">
                <a:latin typeface="Times New Roman"/>
                <a:cs typeface="Times New Roman"/>
              </a:rPr>
              <a:t>the </a:t>
            </a:r>
            <a:r>
              <a:rPr dirty="0">
                <a:latin typeface="Times New Roman"/>
                <a:cs typeface="Times New Roman"/>
              </a:rPr>
              <a:t>characteristics of the various noise  components added to the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image.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80886" y="501576"/>
            <a:ext cx="1177925" cy="391160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Examp</a:t>
            </a:r>
            <a:r>
              <a:rPr sz="2400" spc="5" dirty="0"/>
              <a:t>l</a:t>
            </a:r>
            <a:r>
              <a:rPr sz="2400" spc="-5" dirty="0"/>
              <a:t>e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90352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33601" y="228600"/>
            <a:ext cx="7649781" cy="64434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3744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001" y="228600"/>
            <a:ext cx="7610763" cy="63533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415016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8163" y="130537"/>
            <a:ext cx="5132820" cy="689291"/>
          </a:xfrm>
          <a:prstGeom prst="rect">
            <a:avLst/>
          </a:prstGeom>
        </p:spPr>
        <p:txBody>
          <a:bodyPr vert="horz" wrap="square" lIns="0" tIns="1206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-5" dirty="0"/>
              <a:t>Periodic</a:t>
            </a:r>
            <a:r>
              <a:rPr b="1" spc="-55" dirty="0"/>
              <a:t> </a:t>
            </a:r>
            <a:r>
              <a:rPr b="1" spc="-5" dirty="0"/>
              <a:t>Noise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4766" y="1158383"/>
            <a:ext cx="6439988" cy="475322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133985" indent="-457200" algn="just">
              <a:spcBef>
                <a:spcPts val="105"/>
              </a:spcBef>
              <a:buSzPct val="95000"/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sz="2800" spc="-20" dirty="0">
                <a:latin typeface="Times New Roman"/>
                <a:cs typeface="Times New Roman"/>
              </a:rPr>
              <a:t>Typically </a:t>
            </a:r>
            <a:r>
              <a:rPr sz="2800" dirty="0">
                <a:latin typeface="Times New Roman"/>
                <a:cs typeface="Times New Roman"/>
              </a:rPr>
              <a:t>arises </a:t>
            </a:r>
            <a:r>
              <a:rPr sz="2800" spc="5" dirty="0">
                <a:latin typeface="Times New Roman"/>
                <a:cs typeface="Times New Roman"/>
              </a:rPr>
              <a:t>due </a:t>
            </a:r>
            <a:r>
              <a:rPr sz="2800" dirty="0">
                <a:latin typeface="Times New Roman"/>
                <a:cs typeface="Times New Roman"/>
              </a:rPr>
              <a:t>to </a:t>
            </a:r>
            <a:r>
              <a:rPr sz="2800" spc="-5" dirty="0">
                <a:latin typeface="Times New Roman"/>
                <a:cs typeface="Times New Roman"/>
              </a:rPr>
              <a:t>electrical </a:t>
            </a:r>
            <a:r>
              <a:rPr sz="2800" dirty="0">
                <a:latin typeface="Times New Roman"/>
                <a:cs typeface="Times New Roman"/>
              </a:rPr>
              <a:t>/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Electro-  </a:t>
            </a:r>
            <a:r>
              <a:rPr sz="2800" spc="-5" dirty="0">
                <a:latin typeface="Times New Roman"/>
                <a:cs typeface="Times New Roman"/>
              </a:rPr>
              <a:t>mechanical </a:t>
            </a:r>
            <a:r>
              <a:rPr sz="2800" dirty="0">
                <a:latin typeface="Times New Roman"/>
                <a:cs typeface="Times New Roman"/>
              </a:rPr>
              <a:t>interference during </a:t>
            </a:r>
            <a:r>
              <a:rPr sz="2800" spc="-5" dirty="0">
                <a:latin typeface="Times New Roman"/>
                <a:cs typeface="Times New Roman"/>
              </a:rPr>
              <a:t>image  </a:t>
            </a:r>
            <a:r>
              <a:rPr sz="2800" dirty="0">
                <a:latin typeface="Times New Roman"/>
                <a:cs typeface="Times New Roman"/>
              </a:rPr>
              <a:t>acquisition</a:t>
            </a:r>
            <a:r>
              <a:rPr sz="2800" dirty="0" smtClean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 algn="just">
              <a:buSzPct val="95000"/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sz="2800" spc="-5" dirty="0">
                <a:latin typeface="Times New Roman"/>
                <a:cs typeface="Times New Roman"/>
              </a:rPr>
              <a:t>Spatially </a:t>
            </a:r>
            <a:r>
              <a:rPr sz="2800" dirty="0">
                <a:latin typeface="Times New Roman"/>
                <a:cs typeface="Times New Roman"/>
              </a:rPr>
              <a:t>dependent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noise</a:t>
            </a:r>
            <a:r>
              <a:rPr sz="2800" dirty="0" smtClean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 algn="just">
              <a:buSzPct val="95000"/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sz="2800" dirty="0" smtClean="0">
                <a:latin typeface="Times New Roman"/>
                <a:cs typeface="Times New Roman"/>
              </a:rPr>
              <a:t>Can</a:t>
            </a:r>
            <a:r>
              <a:rPr lang="en-US" sz="2800" dirty="0" smtClean="0">
                <a:latin typeface="Times New Roman"/>
                <a:cs typeface="Times New Roman"/>
              </a:rPr>
              <a:t> </a:t>
            </a:r>
            <a:r>
              <a:rPr sz="2800" dirty="0" smtClean="0">
                <a:latin typeface="Times New Roman"/>
                <a:cs typeface="Times New Roman"/>
              </a:rPr>
              <a:t>be </a:t>
            </a:r>
            <a:r>
              <a:rPr sz="2800" dirty="0">
                <a:latin typeface="Times New Roman"/>
                <a:cs typeface="Times New Roman"/>
              </a:rPr>
              <a:t>reduced </a:t>
            </a:r>
            <a:r>
              <a:rPr sz="2800" spc="-5" dirty="0">
                <a:latin typeface="Times New Roman"/>
                <a:cs typeface="Times New Roman"/>
              </a:rPr>
              <a:t>significantly </a:t>
            </a:r>
            <a:r>
              <a:rPr sz="2800" dirty="0">
                <a:latin typeface="Times New Roman"/>
                <a:cs typeface="Times New Roman"/>
              </a:rPr>
              <a:t>via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 smtClean="0">
                <a:latin typeface="Times New Roman"/>
                <a:cs typeface="Times New Roman"/>
              </a:rPr>
              <a:t>Frequency</a:t>
            </a:r>
            <a:r>
              <a:rPr lang="en-US" sz="2800" dirty="0" smtClean="0">
                <a:latin typeface="Times New Roman"/>
                <a:cs typeface="Times New Roman"/>
              </a:rPr>
              <a:t> </a:t>
            </a:r>
            <a:r>
              <a:rPr sz="2800" spc="-5" dirty="0" smtClean="0">
                <a:latin typeface="Times New Roman"/>
                <a:cs typeface="Times New Roman"/>
              </a:rPr>
              <a:t>Domain </a:t>
            </a:r>
            <a:r>
              <a:rPr sz="2800" spc="-5" dirty="0">
                <a:latin typeface="Times New Roman"/>
                <a:cs typeface="Times New Roman"/>
              </a:rPr>
              <a:t>Filtering</a:t>
            </a:r>
            <a:r>
              <a:rPr sz="2800" spc="-5" dirty="0" smtClean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 algn="just">
              <a:spcBef>
                <a:spcPts val="5"/>
              </a:spcBef>
              <a:buSzPct val="95000"/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sz="2800" spc="-5" dirty="0">
                <a:latin typeface="Times New Roman"/>
                <a:cs typeface="Times New Roman"/>
              </a:rPr>
              <a:t>Parameters </a:t>
            </a:r>
            <a:r>
              <a:rPr sz="2800" dirty="0">
                <a:latin typeface="Times New Roman"/>
                <a:cs typeface="Times New Roman"/>
              </a:rPr>
              <a:t>can be </a:t>
            </a:r>
            <a:r>
              <a:rPr sz="2800" spc="-5" dirty="0">
                <a:latin typeface="Times New Roman"/>
                <a:cs typeface="Times New Roman"/>
              </a:rPr>
              <a:t>estimated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 smtClean="0">
                <a:latin typeface="Times New Roman"/>
                <a:cs typeface="Times New Roman"/>
              </a:rPr>
              <a:t>inspecting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sz="2800" dirty="0" smtClean="0">
                <a:latin typeface="Times New Roman"/>
                <a:cs typeface="Times New Roman"/>
              </a:rPr>
              <a:t>the </a:t>
            </a:r>
            <a:r>
              <a:rPr sz="2800" dirty="0">
                <a:latin typeface="Times New Roman"/>
                <a:cs typeface="Times New Roman"/>
              </a:rPr>
              <a:t>Frequency Spectrum of the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image</a:t>
            </a:r>
            <a:r>
              <a:rPr sz="2800" spc="-5" dirty="0" smtClean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469900" marR="259715" indent="-457200" algn="just">
              <a:buSzPct val="95000"/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sz="2800" dirty="0">
                <a:latin typeface="Times New Roman"/>
                <a:cs typeface="Times New Roman"/>
              </a:rPr>
              <a:t>Periodic noise </a:t>
            </a:r>
            <a:r>
              <a:rPr sz="2800" spc="-5" dirty="0">
                <a:latin typeface="Times New Roman"/>
                <a:cs typeface="Times New Roman"/>
              </a:rPr>
              <a:t>tend </a:t>
            </a:r>
            <a:r>
              <a:rPr sz="2800" dirty="0">
                <a:latin typeface="Times New Roman"/>
                <a:cs typeface="Times New Roman"/>
              </a:rPr>
              <a:t>to produce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frequency  spikes</a:t>
            </a:r>
          </a:p>
        </p:txBody>
      </p:sp>
      <p:sp>
        <p:nvSpPr>
          <p:cNvPr id="4" name="object 4"/>
          <p:cNvSpPr/>
          <p:nvPr/>
        </p:nvSpPr>
        <p:spPr>
          <a:xfrm>
            <a:off x="7303627" y="1054558"/>
            <a:ext cx="3158633" cy="47855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916927" y="438403"/>
            <a:ext cx="18446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165" marR="5080" indent="-165100">
              <a:spcBef>
                <a:spcPts val="100"/>
              </a:spcBef>
            </a:pPr>
            <a:r>
              <a:rPr spc="-70" dirty="0">
                <a:latin typeface="Trebuchet MS"/>
                <a:cs typeface="Trebuchet MS"/>
              </a:rPr>
              <a:t>Image </a:t>
            </a:r>
            <a:r>
              <a:rPr spc="-85" dirty="0">
                <a:latin typeface="Trebuchet MS"/>
                <a:cs typeface="Trebuchet MS"/>
              </a:rPr>
              <a:t>corrupted</a:t>
            </a:r>
            <a:r>
              <a:rPr spc="-235" dirty="0">
                <a:latin typeface="Trebuchet MS"/>
                <a:cs typeface="Trebuchet MS"/>
              </a:rPr>
              <a:t> </a:t>
            </a:r>
            <a:r>
              <a:rPr spc="-70" dirty="0">
                <a:latin typeface="Trebuchet MS"/>
                <a:cs typeface="Trebuchet MS"/>
              </a:rPr>
              <a:t>by  Sinusoidal</a:t>
            </a:r>
            <a:r>
              <a:rPr spc="-145" dirty="0">
                <a:latin typeface="Trebuchet MS"/>
                <a:cs typeface="Trebuchet MS"/>
              </a:rPr>
              <a:t> </a:t>
            </a:r>
            <a:r>
              <a:rPr spc="-60" dirty="0">
                <a:latin typeface="Trebuchet MS"/>
                <a:cs typeface="Trebuchet MS"/>
              </a:rPr>
              <a:t>noise</a:t>
            </a:r>
            <a:endParaRPr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49058" y="5849823"/>
            <a:ext cx="28575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3175" algn="ctr">
              <a:spcBef>
                <a:spcPts val="100"/>
              </a:spcBef>
            </a:pPr>
            <a:r>
              <a:rPr spc="-80" dirty="0">
                <a:latin typeface="Trebuchet MS"/>
                <a:cs typeface="Trebuchet MS"/>
              </a:rPr>
              <a:t>Spectrum </a:t>
            </a:r>
            <a:r>
              <a:rPr spc="-100" dirty="0">
                <a:latin typeface="Trebuchet MS"/>
                <a:cs typeface="Trebuchet MS"/>
              </a:rPr>
              <a:t>(Each </a:t>
            </a:r>
            <a:r>
              <a:rPr spc="-85" dirty="0">
                <a:latin typeface="Trebuchet MS"/>
                <a:cs typeface="Trebuchet MS"/>
              </a:rPr>
              <a:t>pair </a:t>
            </a:r>
            <a:r>
              <a:rPr spc="-75" dirty="0">
                <a:latin typeface="Trebuchet MS"/>
                <a:cs typeface="Trebuchet MS"/>
              </a:rPr>
              <a:t>of  </a:t>
            </a:r>
            <a:r>
              <a:rPr spc="-105" dirty="0">
                <a:latin typeface="Trebuchet MS"/>
                <a:cs typeface="Trebuchet MS"/>
              </a:rPr>
              <a:t>conjugate </a:t>
            </a:r>
            <a:r>
              <a:rPr spc="-65" dirty="0">
                <a:latin typeface="Trebuchet MS"/>
                <a:cs typeface="Trebuchet MS"/>
              </a:rPr>
              <a:t>impulses  corresponds </a:t>
            </a:r>
            <a:r>
              <a:rPr spc="-75" dirty="0">
                <a:latin typeface="Trebuchet MS"/>
                <a:cs typeface="Trebuchet MS"/>
              </a:rPr>
              <a:t>to </a:t>
            </a:r>
            <a:r>
              <a:rPr spc="-55" dirty="0">
                <a:latin typeface="Trebuchet MS"/>
                <a:cs typeface="Trebuchet MS"/>
              </a:rPr>
              <a:t>one </a:t>
            </a:r>
            <a:r>
              <a:rPr spc="-70" dirty="0">
                <a:latin typeface="Trebuchet MS"/>
                <a:cs typeface="Trebuchet MS"/>
              </a:rPr>
              <a:t>sine</a:t>
            </a:r>
            <a:r>
              <a:rPr spc="-345" dirty="0">
                <a:latin typeface="Trebuchet MS"/>
                <a:cs typeface="Trebuchet MS"/>
              </a:rPr>
              <a:t> </a:t>
            </a:r>
            <a:r>
              <a:rPr spc="-95" dirty="0">
                <a:latin typeface="Trebuchet MS"/>
                <a:cs typeface="Trebuchet MS"/>
              </a:rPr>
              <a:t>wave)</a:t>
            </a:r>
            <a:endParaRPr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82095829"/>
      </p:ext>
    </p:extLst>
  </p:cSld>
  <p:clrMapOvr>
    <a:masterClrMapping/>
  </p:clrMapOvr>
</p:sld>
</file>

<file path=ppt/theme/theme1.xml><?xml version="1.0" encoding="utf-8"?>
<a:theme xmlns:a="http://schemas.openxmlformats.org/drawingml/2006/main" name="PPT FORMAT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FORMAT</Template>
  <TotalTime>1648</TotalTime>
  <Words>722</Words>
  <Application>Microsoft Office PowerPoint</Application>
  <PresentationFormat>Widescreen</PresentationFormat>
  <Paragraphs>125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Cambria</vt:lpstr>
      <vt:lpstr>Times New Roman</vt:lpstr>
      <vt:lpstr>Trebuchet MS</vt:lpstr>
      <vt:lpstr>Wingdings</vt:lpstr>
      <vt:lpstr>PPT FORMAT</vt:lpstr>
      <vt:lpstr>PowerPoint Presentation</vt:lpstr>
      <vt:lpstr>Image Restoration</vt:lpstr>
      <vt:lpstr>Model of the Image Degradation / Restoration Process </vt:lpstr>
      <vt:lpstr>Model of the Image Degradation</vt:lpstr>
      <vt:lpstr>Noise Models</vt:lpstr>
      <vt:lpstr>Properties of Noise </vt:lpstr>
      <vt:lpstr>PowerPoint Presentation</vt:lpstr>
      <vt:lpstr>Spatial Noise Descriptor</vt:lpstr>
      <vt:lpstr>Some Noise Probability Density Functions (PDFs):</vt:lpstr>
      <vt:lpstr>Gaussian / Normal Noise Model</vt:lpstr>
      <vt:lpstr>Rayleigh Noise Model</vt:lpstr>
      <vt:lpstr>Erlang (Gamma) Noise Model</vt:lpstr>
      <vt:lpstr>Exponential Noise Model</vt:lpstr>
      <vt:lpstr>Uniform Noise Model</vt:lpstr>
      <vt:lpstr>Impulse (Salt &amp; Pepper) Noise Model</vt:lpstr>
      <vt:lpstr>Example</vt:lpstr>
      <vt:lpstr>PowerPoint Presentation</vt:lpstr>
      <vt:lpstr>PowerPoint Presentation</vt:lpstr>
      <vt:lpstr>Periodic Noise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CSE395</dc:title>
  <dc:creator>Windows User</dc:creator>
  <cp:lastModifiedBy>admin</cp:lastModifiedBy>
  <cp:revision>268</cp:revision>
  <dcterms:created xsi:type="dcterms:W3CDTF">2019-08-23T05:46:45Z</dcterms:created>
  <dcterms:modified xsi:type="dcterms:W3CDTF">2022-11-29T04:31:23Z</dcterms:modified>
</cp:coreProperties>
</file>