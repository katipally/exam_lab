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411" r:id="rId2"/>
    <p:sldId id="412" r:id="rId3"/>
    <p:sldId id="417" r:id="rId4"/>
    <p:sldId id="418" r:id="rId5"/>
    <p:sldId id="419" r:id="rId6"/>
    <p:sldId id="421" r:id="rId7"/>
    <p:sldId id="414" r:id="rId8"/>
    <p:sldId id="422" r:id="rId9"/>
    <p:sldId id="423" r:id="rId10"/>
    <p:sldId id="424" r:id="rId11"/>
    <p:sldId id="425" r:id="rId12"/>
    <p:sldId id="4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79008-E739-4DF0-AD6A-2CD797F7AAE6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E5A6F-281D-47F3-B400-5377046C32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96237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>
          <a:xfrm>
            <a:off x="9446684" y="6381751"/>
            <a:ext cx="2743200" cy="365125"/>
          </a:xfrm>
        </p:spPr>
        <p:txBody>
          <a:bodyPr/>
          <a:lstStyle>
            <a:lvl1pPr defTabSz="914400">
              <a:defRPr sz="1600" b="1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875"/>
            <a:ext cx="10515600" cy="8323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38796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>
          <a:xfrm>
            <a:off x="9414933" y="6429376"/>
            <a:ext cx="2743200" cy="365125"/>
          </a:xfrm>
        </p:spPr>
        <p:txBody>
          <a:bodyPr/>
          <a:lstStyle>
            <a:lvl1pPr defTabSz="914400">
              <a:defRPr sz="1400" b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300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273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8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4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3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934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0612D14-CBA2-468E-96F8-10D479708BAB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5153026"/>
            <a:ext cx="121920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125981"/>
            <a:ext cx="7772400" cy="1354217"/>
          </a:xfrm>
        </p:spPr>
        <p:txBody>
          <a:bodyPr/>
          <a:lstStyle/>
          <a:p>
            <a:pPr algn="ctr"/>
            <a:r>
              <a:rPr kumimoji="1" lang="en-US" altLang="zh-TW" sz="4400" b="1" dirty="0" smtClean="0">
                <a:solidFill>
                  <a:srgbClr val="333399"/>
                </a:solidFill>
                <a:latin typeface="Tahoma"/>
              </a:rPr>
              <a:t>Periodic Noise Reduction Using </a:t>
            </a:r>
            <a:r>
              <a:rPr kumimoji="1" lang="en-US" sz="4400" b="1" spc="-5" dirty="0" smtClean="0">
                <a:solidFill>
                  <a:srgbClr val="333399"/>
                </a:solidFill>
                <a:latin typeface="Tahoma"/>
              </a:rPr>
              <a:t>Frequency </a:t>
            </a:r>
            <a:r>
              <a:rPr kumimoji="1" lang="en-US" sz="4400" b="1" dirty="0" smtClean="0">
                <a:solidFill>
                  <a:srgbClr val="333399"/>
                </a:solidFill>
                <a:latin typeface="Tahoma"/>
              </a:rPr>
              <a:t>Domain</a:t>
            </a:r>
            <a:r>
              <a:rPr kumimoji="1" lang="en-US" sz="4400" b="1" spc="-100" dirty="0" smtClean="0">
                <a:solidFill>
                  <a:srgbClr val="333399"/>
                </a:solidFill>
                <a:latin typeface="Tahoma"/>
              </a:rPr>
              <a:t> </a:t>
            </a:r>
            <a:r>
              <a:rPr kumimoji="1" lang="en-US" sz="4400" b="1" spc="-5" dirty="0" smtClean="0">
                <a:solidFill>
                  <a:srgbClr val="333399"/>
                </a:solidFill>
                <a:latin typeface="Tahoma"/>
              </a:rPr>
              <a:t>Filtering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8729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65662" y="139337"/>
            <a:ext cx="8358051" cy="12714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Periodic Noise Reduction by Frequency Domain Filtering </a:t>
            </a:r>
            <a:r>
              <a:rPr lang="en-US" altLang="zh-TW" sz="3600" dirty="0">
                <a:solidFill>
                  <a:schemeClr val="tx1"/>
                </a:solidFill>
                <a:ea typeface="新細明體" pitchFamily="18" charset="-120"/>
              </a:rPr>
              <a:t/>
            </a:r>
            <a:br>
              <a:rPr lang="en-US" altLang="zh-TW" sz="3600" dirty="0">
                <a:solidFill>
                  <a:schemeClr val="tx1"/>
                </a:solidFill>
                <a:ea typeface="新細明體" pitchFamily="18" charset="-120"/>
              </a:rPr>
            </a:br>
            <a:endParaRPr lang="zh-TW" altLang="en-US" sz="3600" dirty="0">
              <a:solidFill>
                <a:schemeClr val="tx1"/>
              </a:solidFill>
              <a:ea typeface="新細明體" pitchFamily="18" charset="-12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3697" y="1193303"/>
            <a:ext cx="10839994" cy="4484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dirty="0" smtClean="0">
                <a:ea typeface="新細明體" pitchFamily="18" charset="-120"/>
              </a:rPr>
              <a:t>Periodic noise is due to the electrical or electromechanical interference during image acquisition.</a:t>
            </a:r>
          </a:p>
          <a:p>
            <a:r>
              <a:rPr lang="en-US" altLang="zh-TW" dirty="0" smtClean="0">
                <a:ea typeface="新細明體" pitchFamily="18" charset="-120"/>
              </a:rPr>
              <a:t>Can be estimated through the inspection of the Fourier spectrum of the image.</a:t>
            </a:r>
          </a:p>
          <a:p>
            <a:endParaRPr lang="en-US" altLang="zh-TW" dirty="0" smtClean="0">
              <a:ea typeface="新細明體" pitchFamily="18" charset="-12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29" y="3207747"/>
            <a:ext cx="8869680" cy="256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3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4217" y="381001"/>
            <a:ext cx="9383759" cy="1116013"/>
          </a:xfrm>
        </p:spPr>
        <p:txBody>
          <a:bodyPr/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</a:rPr>
              <a:t>N</a:t>
            </a:r>
            <a:r>
              <a:rPr lang="en-US" altLang="zh-TW" b="1" dirty="0" smtClean="0">
                <a:solidFill>
                  <a:schemeClr val="accent1"/>
                </a:solidFill>
              </a:rPr>
              <a:t>oise </a:t>
            </a:r>
            <a:r>
              <a:rPr lang="en-US" altLang="zh-TW" b="1" dirty="0">
                <a:solidFill>
                  <a:schemeClr val="accent1"/>
                </a:solidFill>
              </a:rPr>
              <a:t>R</a:t>
            </a:r>
            <a:r>
              <a:rPr lang="en-US" altLang="zh-TW" b="1" dirty="0" smtClean="0">
                <a:solidFill>
                  <a:schemeClr val="accent1"/>
                </a:solidFill>
              </a:rPr>
              <a:t>eduction using </a:t>
            </a:r>
            <a:r>
              <a:rPr lang="en-US" b="1" spc="-5" dirty="0">
                <a:solidFill>
                  <a:schemeClr val="accent1"/>
                </a:solidFill>
              </a:rPr>
              <a:t>Frequency </a:t>
            </a:r>
            <a:r>
              <a:rPr lang="en-US" b="1" dirty="0" smtClean="0">
                <a:solidFill>
                  <a:schemeClr val="accent1"/>
                </a:solidFill>
              </a:rPr>
              <a:t>Domain</a:t>
            </a:r>
            <a:r>
              <a:rPr lang="en-US" b="1" spc="-100" dirty="0">
                <a:solidFill>
                  <a:schemeClr val="accent1"/>
                </a:solidFill>
              </a:rPr>
              <a:t> </a:t>
            </a:r>
            <a:r>
              <a:rPr lang="en-US" b="1" spc="-5" dirty="0">
                <a:solidFill>
                  <a:schemeClr val="accent1"/>
                </a:solidFill>
              </a:rPr>
              <a:t>Filtering</a:t>
            </a:r>
            <a:endParaRPr lang="en-US" altLang="zh-TW" b="1" dirty="0">
              <a:solidFill>
                <a:schemeClr val="accent1"/>
              </a:solidFill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4217" y="1722121"/>
            <a:ext cx="8704263" cy="5445125"/>
          </a:xfrm>
        </p:spPr>
        <p:txBody>
          <a:bodyPr/>
          <a:lstStyle/>
          <a:p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BandReject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filters</a:t>
            </a:r>
          </a:p>
          <a:p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BandPass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filters</a:t>
            </a:r>
          </a:p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Notch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endPara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39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45245"/>
            <a:ext cx="9144000" cy="4527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/>
            <a:r>
              <a:rPr lang="en-US" altLang="zh-TW" dirty="0" smtClean="0">
                <a:ea typeface="新細明體" pitchFamily="18" charset="-120"/>
              </a:rPr>
              <a:t>Remove or attenuate a band of frequencies.</a:t>
            </a:r>
          </a:p>
          <a:p>
            <a:pPr lvl="1" algn="just"/>
            <a:endParaRPr lang="en-US" altLang="zh-TW" dirty="0" smtClean="0">
              <a:ea typeface="新細明體" pitchFamily="18" charset="-120"/>
            </a:endParaRPr>
          </a:p>
          <a:p>
            <a:pPr lvl="1" algn="just"/>
            <a:endParaRPr lang="en-US" altLang="zh-TW" dirty="0" smtClean="0">
              <a:ea typeface="新細明體" pitchFamily="18" charset="-120"/>
            </a:endParaRPr>
          </a:p>
          <a:p>
            <a:pPr lvl="1" algn="just"/>
            <a:endParaRPr lang="en-US" altLang="zh-TW" dirty="0" smtClean="0">
              <a:ea typeface="新細明體" pitchFamily="18" charset="-120"/>
            </a:endParaRPr>
          </a:p>
          <a:p>
            <a:pPr lvl="1" algn="just"/>
            <a:endParaRPr lang="en-US" altLang="zh-TW" dirty="0" smtClean="0">
              <a:ea typeface="新細明體" pitchFamily="18" charset="-120"/>
            </a:endParaRPr>
          </a:p>
          <a:p>
            <a:pPr lvl="2" algn="just"/>
            <a:endParaRPr lang="en-US" altLang="zh-TW" sz="2400" i="1" dirty="0" smtClean="0">
              <a:ea typeface="新細明體" pitchFamily="18" charset="-120"/>
            </a:endParaRPr>
          </a:p>
          <a:p>
            <a:pPr lvl="2" algn="just"/>
            <a:endParaRPr lang="en-US" altLang="zh-TW" sz="2400" i="1" dirty="0">
              <a:ea typeface="新細明體" pitchFamily="18" charset="-120"/>
            </a:endParaRPr>
          </a:p>
          <a:p>
            <a:pPr lvl="2" algn="just"/>
            <a:r>
              <a:rPr lang="en-US" altLang="zh-TW" sz="2400" i="1" dirty="0" smtClean="0">
                <a:ea typeface="新細明體" pitchFamily="18" charset="-120"/>
              </a:rPr>
              <a:t>D</a:t>
            </a:r>
            <a:r>
              <a:rPr lang="en-US" altLang="zh-TW" sz="2400" baseline="-25000" dirty="0" smtClean="0">
                <a:ea typeface="新細明體" pitchFamily="18" charset="-120"/>
              </a:rPr>
              <a:t>0</a:t>
            </a:r>
            <a:r>
              <a:rPr lang="en-US" altLang="zh-TW" sz="2400" dirty="0" smtClean="0">
                <a:ea typeface="新細明體" pitchFamily="18" charset="-120"/>
              </a:rPr>
              <a:t> is the radius.</a:t>
            </a:r>
          </a:p>
          <a:p>
            <a:pPr lvl="2" algn="just"/>
            <a:r>
              <a:rPr lang="en-US" altLang="zh-TW" sz="2400" i="1" dirty="0" smtClean="0">
                <a:ea typeface="新細明體" pitchFamily="18" charset="-120"/>
              </a:rPr>
              <a:t>D</a:t>
            </a:r>
            <a:r>
              <a:rPr lang="en-US" altLang="zh-TW" sz="2400" dirty="0" smtClean="0">
                <a:ea typeface="新細明體" pitchFamily="18" charset="-120"/>
              </a:rPr>
              <a:t>(</a:t>
            </a:r>
            <a:r>
              <a:rPr lang="en-US" altLang="zh-TW" sz="2400" i="1" dirty="0" smtClean="0">
                <a:ea typeface="新細明體" pitchFamily="18" charset="-120"/>
              </a:rPr>
              <a:t>u</a:t>
            </a:r>
            <a:r>
              <a:rPr lang="en-US" altLang="zh-TW" sz="2400" dirty="0" smtClean="0">
                <a:ea typeface="新細明體" pitchFamily="18" charset="-120"/>
              </a:rPr>
              <a:t>, </a:t>
            </a:r>
            <a:r>
              <a:rPr lang="en-US" altLang="zh-TW" sz="2400" i="1" dirty="0" smtClean="0">
                <a:ea typeface="新細明體" pitchFamily="18" charset="-120"/>
              </a:rPr>
              <a:t>v</a:t>
            </a:r>
            <a:r>
              <a:rPr lang="en-US" altLang="zh-TW" sz="2400" dirty="0" smtClean="0">
                <a:ea typeface="新細明體" pitchFamily="18" charset="-120"/>
              </a:rPr>
              <a:t>) is the distance from the origin, and</a:t>
            </a:r>
          </a:p>
          <a:p>
            <a:pPr lvl="2" algn="just"/>
            <a:r>
              <a:rPr lang="en-US" altLang="zh-TW" sz="2400" i="1" dirty="0" smtClean="0">
                <a:ea typeface="新細明體" pitchFamily="18" charset="-120"/>
              </a:rPr>
              <a:t>W</a:t>
            </a:r>
            <a:r>
              <a:rPr lang="en-US" altLang="zh-TW" sz="2400" dirty="0" smtClean="0">
                <a:ea typeface="新細明體" pitchFamily="18" charset="-120"/>
              </a:rPr>
              <a:t> is the width of the frequency band.</a:t>
            </a:r>
          </a:p>
          <a:p>
            <a:pPr lvl="1"/>
            <a:endParaRPr lang="en-US" altLang="zh-TW" dirty="0" smtClean="0">
              <a:ea typeface="新細明體" pitchFamily="18" charset="-120"/>
            </a:endParaRPr>
          </a:p>
          <a:p>
            <a:endParaRPr lang="en-US" altLang="zh-TW" dirty="0" smtClean="0">
              <a:ea typeface="新細明體" pitchFamily="18" charset="-120"/>
            </a:endParaRPr>
          </a:p>
          <a:p>
            <a:endParaRPr lang="en-US" altLang="zh-TW" dirty="0" smtClean="0">
              <a:ea typeface="新細明體" pitchFamily="18" charset="-120"/>
            </a:endParaRPr>
          </a:p>
          <a:p>
            <a:endParaRPr lang="en-US" altLang="zh-TW" dirty="0" smtClean="0">
              <a:ea typeface="新細明體" pitchFamily="18" charset="-120"/>
            </a:endParaRPr>
          </a:p>
          <a:p>
            <a:endParaRPr lang="en-US" altLang="zh-TW" dirty="0" smtClean="0">
              <a:ea typeface="新細明體" pitchFamily="18" charset="-120"/>
            </a:endParaRP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365500"/>
              </p:ext>
            </p:extLst>
          </p:nvPr>
        </p:nvGraphicFramePr>
        <p:xfrm>
          <a:off x="1761037" y="1972332"/>
          <a:ext cx="7029450" cy="143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Equation" r:id="rId3" imgW="3479760" imgH="711000" progId="Equation.3">
                  <p:embed/>
                </p:oleObj>
              </mc:Choice>
              <mc:Fallback>
                <p:oleObj name="Equation" r:id="rId3" imgW="3479760" imgH="711000" progId="Equation.3">
                  <p:embed/>
                  <p:pic>
                    <p:nvPicPr>
                      <p:cNvPr id="194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037" y="1972332"/>
                        <a:ext cx="7029450" cy="1436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 err="1">
                <a:solidFill>
                  <a:schemeClr val="accent1"/>
                </a:solidFill>
                <a:ea typeface="新細明體" pitchFamily="18" charset="-120"/>
              </a:rPr>
              <a:t>Bandreject</a:t>
            </a:r>
            <a:r>
              <a:rPr lang="en-US" altLang="zh-TW" b="1" dirty="0">
                <a:solidFill>
                  <a:schemeClr val="accent1"/>
                </a:solidFill>
                <a:ea typeface="新細明體" pitchFamily="18" charset="-120"/>
              </a:rPr>
              <a:t> filters</a:t>
            </a:r>
            <a:br>
              <a:rPr lang="en-US" altLang="zh-TW" b="1" dirty="0">
                <a:solidFill>
                  <a:schemeClr val="accent1"/>
                </a:solidFill>
                <a:ea typeface="新細明體" pitchFamily="18" charset="-120"/>
              </a:rPr>
            </a:b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61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031966" y="1045029"/>
            <a:ext cx="9045484" cy="508113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dirty="0">
                <a:ea typeface="新細明體" pitchFamily="18" charset="-120"/>
              </a:rPr>
              <a:t>Butterworth </a:t>
            </a:r>
            <a:r>
              <a:rPr lang="en-US" altLang="zh-TW" dirty="0" err="1">
                <a:ea typeface="新細明體" pitchFamily="18" charset="-120"/>
              </a:rPr>
              <a:t>bandreject</a:t>
            </a:r>
            <a:r>
              <a:rPr lang="en-US" altLang="zh-TW" dirty="0">
                <a:ea typeface="新細明體" pitchFamily="18" charset="-120"/>
              </a:rPr>
              <a:t> filter (order </a:t>
            </a:r>
            <a:r>
              <a:rPr lang="en-US" altLang="zh-TW" i="1" dirty="0">
                <a:ea typeface="新細明體" pitchFamily="18" charset="-120"/>
              </a:rPr>
              <a:t>n</a:t>
            </a:r>
            <a:r>
              <a:rPr lang="en-US" altLang="zh-TW" dirty="0">
                <a:ea typeface="新細明體" pitchFamily="18" charset="-120"/>
              </a:rPr>
              <a:t>)</a:t>
            </a: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r>
              <a:rPr lang="en-US" altLang="zh-TW" dirty="0" smtClean="0">
                <a:ea typeface="新細明體" pitchFamily="18" charset="-120"/>
              </a:rPr>
              <a:t>Gaussian </a:t>
            </a:r>
            <a:r>
              <a:rPr lang="en-US" altLang="zh-TW" dirty="0">
                <a:ea typeface="新細明體" pitchFamily="18" charset="-120"/>
              </a:rPr>
              <a:t>band reject filter</a:t>
            </a:r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080455"/>
              </p:ext>
            </p:extLst>
          </p:nvPr>
        </p:nvGraphicFramePr>
        <p:xfrm>
          <a:off x="3210606" y="1414779"/>
          <a:ext cx="3741737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" name="Equation" r:id="rId3" imgW="1943100" imgH="698500" progId="Equation.3">
                  <p:embed/>
                </p:oleObj>
              </mc:Choice>
              <mc:Fallback>
                <p:oleObj name="Equation" r:id="rId3" imgW="1943100" imgH="698500" progId="Equation.3">
                  <p:embed/>
                  <p:pic>
                    <p:nvPicPr>
                      <p:cNvPr id="204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0606" y="1414779"/>
                        <a:ext cx="3741737" cy="1344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4" name="Text Box 6"/>
          <p:cNvSpPr txBox="1">
            <a:spLocks noChangeArrowheads="1"/>
          </p:cNvSpPr>
          <p:nvPr/>
        </p:nvSpPr>
        <p:spPr bwMode="auto">
          <a:xfrm>
            <a:off x="1457325" y="176212"/>
            <a:ext cx="9144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3200" b="1" dirty="0">
                <a:solidFill>
                  <a:schemeClr val="accent1"/>
                </a:solidFill>
                <a:latin typeface="Arial" charset="0"/>
                <a:ea typeface="新細明體" pitchFamily="18" charset="-120"/>
              </a:rPr>
              <a:t>Butterworth and Gaussian </a:t>
            </a:r>
            <a:r>
              <a:rPr lang="en-US" altLang="zh-TW" sz="3200" b="1" dirty="0" err="1">
                <a:solidFill>
                  <a:schemeClr val="accent1"/>
                </a:solidFill>
                <a:latin typeface="Arial" charset="0"/>
                <a:ea typeface="新細明體" pitchFamily="18" charset="-120"/>
              </a:rPr>
              <a:t>Bandreject</a:t>
            </a:r>
            <a:r>
              <a:rPr lang="en-US" altLang="zh-TW" sz="3200" b="1" dirty="0">
                <a:solidFill>
                  <a:schemeClr val="accent1"/>
                </a:solidFill>
                <a:latin typeface="Arial" charset="0"/>
                <a:ea typeface="新細明體" pitchFamily="18" charset="-120"/>
              </a:rPr>
              <a:t> Filters</a:t>
            </a:r>
          </a:p>
        </p:txBody>
      </p:sp>
      <p:graphicFrame>
        <p:nvGraphicFramePr>
          <p:cNvPr id="20483" name="Object 3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84261754"/>
              </p:ext>
            </p:extLst>
          </p:nvPr>
        </p:nvGraphicFramePr>
        <p:xfrm>
          <a:off x="3273311" y="3178426"/>
          <a:ext cx="361632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" name="Equation" r:id="rId5" imgW="1651000" imgH="431800" progId="Equation.3">
                  <p:embed/>
                </p:oleObj>
              </mc:Choice>
              <mc:Fallback>
                <p:oleObj name="Equation" r:id="rId5" imgW="1651000" imgH="431800" progId="Equation.3">
                  <p:embed/>
                  <p:pic>
                    <p:nvPicPr>
                      <p:cNvPr id="20483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311" y="3178426"/>
                        <a:ext cx="3616325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597" y="4137323"/>
            <a:ext cx="8013700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600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1788" y="191590"/>
            <a:ext cx="7772400" cy="930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4000" b="1" dirty="0" err="1">
                <a:solidFill>
                  <a:schemeClr val="accent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Bandpass</a:t>
            </a:r>
            <a:r>
              <a:rPr lang="en-US" altLang="zh-TW" sz="4000" b="1" dirty="0">
                <a:solidFill>
                  <a:schemeClr val="accent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filter</a:t>
            </a:r>
            <a:br>
              <a:rPr lang="en-US" altLang="zh-TW" sz="4000" b="1" dirty="0">
                <a:solidFill>
                  <a:schemeClr val="accent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</a:br>
            <a:endParaRPr lang="zh-TW" altLang="en-US" sz="4000" b="1" dirty="0">
              <a:solidFill>
                <a:schemeClr val="accent1"/>
              </a:solidFill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23406" y="1005840"/>
            <a:ext cx="8858794" cy="50901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altLang="zh-TW" dirty="0" smtClean="0">
                <a:ea typeface="新細明體" pitchFamily="18" charset="-120"/>
              </a:rPr>
              <a:t>Obtained form </a:t>
            </a:r>
            <a:r>
              <a:rPr lang="en-US" altLang="zh-TW" dirty="0" err="1" smtClean="0">
                <a:ea typeface="新細明體" pitchFamily="18" charset="-120"/>
              </a:rPr>
              <a:t>bandreject</a:t>
            </a:r>
            <a:r>
              <a:rPr lang="en-US" altLang="zh-TW" dirty="0" smtClean="0">
                <a:ea typeface="新細明體" pitchFamily="18" charset="-120"/>
              </a:rPr>
              <a:t> filter</a:t>
            </a:r>
          </a:p>
          <a:p>
            <a:pPr algn="just"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	</a:t>
            </a:r>
            <a:r>
              <a:rPr lang="en-US" altLang="zh-TW" i="1" dirty="0" smtClean="0">
                <a:ea typeface="新細明體" pitchFamily="18" charset="-120"/>
              </a:rPr>
              <a:t>	</a:t>
            </a:r>
            <a:r>
              <a:rPr lang="en-US" altLang="zh-TW" i="1" dirty="0" err="1" smtClean="0">
                <a:ea typeface="新細明體" pitchFamily="18" charset="-120"/>
              </a:rPr>
              <a:t>H</a:t>
            </a:r>
            <a:r>
              <a:rPr lang="en-US" altLang="zh-TW" i="1" baseline="-25000" dirty="0" err="1" smtClean="0">
                <a:ea typeface="新細明體" pitchFamily="18" charset="-120"/>
              </a:rPr>
              <a:t>bp</a:t>
            </a:r>
            <a:r>
              <a:rPr lang="en-US" altLang="zh-TW" i="1" dirty="0" smtClean="0">
                <a:ea typeface="新細明體" pitchFamily="18" charset="-120"/>
              </a:rPr>
              <a:t>(</a:t>
            </a:r>
            <a:r>
              <a:rPr lang="en-US" altLang="zh-TW" i="1" dirty="0" err="1" smtClean="0">
                <a:ea typeface="新細明體" pitchFamily="18" charset="-120"/>
              </a:rPr>
              <a:t>u,v</a:t>
            </a:r>
            <a:r>
              <a:rPr lang="en-US" altLang="zh-TW" i="1" dirty="0" smtClean="0">
                <a:ea typeface="新細明體" pitchFamily="18" charset="-120"/>
              </a:rPr>
              <a:t>)=1-H</a:t>
            </a:r>
            <a:r>
              <a:rPr lang="en-US" altLang="zh-TW" i="1" baseline="-25000" dirty="0" smtClean="0">
                <a:ea typeface="新細明體" pitchFamily="18" charset="-120"/>
              </a:rPr>
              <a:t>br</a:t>
            </a:r>
            <a:r>
              <a:rPr lang="en-US" altLang="zh-TW" i="1" dirty="0" smtClean="0">
                <a:ea typeface="新細明體" pitchFamily="18" charset="-120"/>
              </a:rPr>
              <a:t>(</a:t>
            </a:r>
            <a:r>
              <a:rPr lang="en-US" altLang="zh-TW" i="1" dirty="0" err="1" smtClean="0">
                <a:ea typeface="新細明體" pitchFamily="18" charset="-120"/>
              </a:rPr>
              <a:t>u,v</a:t>
            </a:r>
            <a:r>
              <a:rPr lang="en-US" altLang="zh-TW" i="1" dirty="0" smtClean="0">
                <a:ea typeface="新細明體" pitchFamily="18" charset="-120"/>
              </a:rPr>
              <a:t>)</a:t>
            </a:r>
            <a:endParaRPr lang="en-US" altLang="zh-TW" dirty="0" smtClean="0">
              <a:ea typeface="新細明體" pitchFamily="18" charset="-120"/>
            </a:endParaRPr>
          </a:p>
          <a:p>
            <a:pPr algn="just"/>
            <a:r>
              <a:rPr lang="en-US" altLang="zh-TW" dirty="0" smtClean="0">
                <a:ea typeface="新細明體" pitchFamily="18" charset="-120"/>
              </a:rPr>
              <a:t>The goal of the </a:t>
            </a:r>
            <a:r>
              <a:rPr lang="en-US" altLang="zh-TW" dirty="0" err="1" smtClean="0">
                <a:ea typeface="新細明體" pitchFamily="18" charset="-120"/>
              </a:rPr>
              <a:t>bandpass</a:t>
            </a:r>
            <a:r>
              <a:rPr lang="en-US" altLang="zh-TW" dirty="0" smtClean="0">
                <a:ea typeface="新細明體" pitchFamily="18" charset="-120"/>
              </a:rPr>
              <a:t> filter is to isolate the noise pattern from the original image, which can help simplify the analysis of noise, reasonably independent of image content.</a:t>
            </a:r>
          </a:p>
        </p:txBody>
      </p:sp>
    </p:spTree>
    <p:extLst>
      <p:ext uri="{BB962C8B-B14F-4D97-AF65-F5344CB8AC3E}">
        <p14:creationId xmlns:p14="http://schemas.microsoft.com/office/powerpoint/2010/main" val="242984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ext Box 2"/>
          <p:cNvSpPr txBox="1">
            <a:spLocks noChangeArrowheads="1"/>
          </p:cNvSpPr>
          <p:nvPr/>
        </p:nvSpPr>
        <p:spPr bwMode="auto">
          <a:xfrm>
            <a:off x="1497874" y="181519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800" b="1" dirty="0">
                <a:solidFill>
                  <a:schemeClr val="accent1"/>
                </a:solidFill>
                <a:latin typeface="Arial" charset="0"/>
                <a:ea typeface="新細明體" pitchFamily="18" charset="-120"/>
              </a:rPr>
              <a:t>Periodic Noise Reduction by Frequency Domain Filtering</a:t>
            </a:r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725" y="1255713"/>
            <a:ext cx="8212138" cy="493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158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2"/>
          <p:cNvSpPr txBox="1">
            <a:spLocks noChangeArrowheads="1"/>
          </p:cNvSpPr>
          <p:nvPr/>
        </p:nvSpPr>
        <p:spPr bwMode="auto">
          <a:xfrm>
            <a:off x="2402206" y="327797"/>
            <a:ext cx="695007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3600" b="1" dirty="0">
                <a:solidFill>
                  <a:schemeClr val="accent1"/>
                </a:solidFill>
                <a:latin typeface="Verdana" pitchFamily="34" charset="0"/>
                <a:ea typeface="新細明體" pitchFamily="18" charset="-120"/>
              </a:rPr>
              <a:t>Result of The </a:t>
            </a:r>
            <a:r>
              <a:rPr lang="en-US" altLang="zh-TW" sz="3600" b="1" dirty="0" err="1">
                <a:solidFill>
                  <a:schemeClr val="accent1"/>
                </a:solidFill>
                <a:latin typeface="Verdana" pitchFamily="34" charset="0"/>
                <a:ea typeface="新細明體" pitchFamily="18" charset="-120"/>
              </a:rPr>
              <a:t>BandPass</a:t>
            </a:r>
            <a:r>
              <a:rPr lang="en-US" altLang="zh-TW" sz="3600" b="1" dirty="0">
                <a:solidFill>
                  <a:schemeClr val="accent1"/>
                </a:solidFill>
                <a:latin typeface="Verdana" pitchFamily="34" charset="0"/>
                <a:ea typeface="新細明體" pitchFamily="18" charset="-120"/>
              </a:rPr>
              <a:t> Filter</a:t>
            </a:r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050" y="1908811"/>
            <a:ext cx="8040687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51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24706" y="203200"/>
            <a:ext cx="8257493" cy="7969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3200" b="1" dirty="0">
                <a:solidFill>
                  <a:schemeClr val="accent1"/>
                </a:solidFill>
                <a:latin typeface="Verdana" panose="020B0604030504040204" pitchFamily="34" charset="0"/>
                <a:ea typeface="新細明體" pitchFamily="18" charset="-120"/>
              </a:rPr>
              <a:t>Notch filters</a:t>
            </a:r>
            <a:r>
              <a:rPr lang="en-US" altLang="zh-TW" sz="3200" dirty="0">
                <a:solidFill>
                  <a:srgbClr val="FF0000"/>
                </a:solidFill>
                <a:latin typeface="Verdana" panose="020B0604030504040204" pitchFamily="34" charset="0"/>
                <a:ea typeface="新細明體" pitchFamily="18" charset="-120"/>
              </a:rPr>
              <a:t/>
            </a:r>
            <a:br>
              <a:rPr lang="en-US" altLang="zh-TW" sz="3200" dirty="0">
                <a:solidFill>
                  <a:srgbClr val="FF0000"/>
                </a:solidFill>
                <a:latin typeface="Verdana" panose="020B0604030504040204" pitchFamily="34" charset="0"/>
                <a:ea typeface="新細明體" pitchFamily="18" charset="-120"/>
              </a:rPr>
            </a:br>
            <a:endParaRPr lang="zh-TW" altLang="en-US" sz="3200" dirty="0">
              <a:solidFill>
                <a:srgbClr val="FF0000"/>
              </a:solidFill>
              <a:latin typeface="Verdana" panose="020B0604030504040204" pitchFamily="34" charset="0"/>
              <a:ea typeface="新細明體" pitchFamily="18" charset="-120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092" y="754857"/>
            <a:ext cx="7772400" cy="46656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dirty="0" smtClean="0">
                <a:ea typeface="新細明體" pitchFamily="18" charset="-120"/>
              </a:rPr>
              <a:t>Notch filter rejects (passes) frequencies in predefined neighborhoods about a center frequency.</a:t>
            </a:r>
          </a:p>
          <a:p>
            <a:pPr lvl="1"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where</a:t>
            </a:r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866750"/>
              </p:ext>
            </p:extLst>
          </p:nvPr>
        </p:nvGraphicFramePr>
        <p:xfrm>
          <a:off x="1984784" y="2559050"/>
          <a:ext cx="7612062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9" name="Equation" r:id="rId3" imgW="3098800" imgH="457200" progId="Equation.3">
                  <p:embed/>
                </p:oleObj>
              </mc:Choice>
              <mc:Fallback>
                <p:oleObj name="Equation" r:id="rId3" imgW="3098800" imgH="457200" progId="Equation.3">
                  <p:embed/>
                  <p:pic>
                    <p:nvPicPr>
                      <p:cNvPr id="215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784" y="2559050"/>
                        <a:ext cx="7612062" cy="1122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303759"/>
              </p:ext>
            </p:extLst>
          </p:nvPr>
        </p:nvGraphicFramePr>
        <p:xfrm>
          <a:off x="2490199" y="4066779"/>
          <a:ext cx="620712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0" name="Equation" r:id="rId5" imgW="2895480" imgH="279360" progId="Equation.3">
                  <p:embed/>
                </p:oleObj>
              </mc:Choice>
              <mc:Fallback>
                <p:oleObj name="Equation" r:id="rId5" imgW="2895480" imgH="279360" progId="Equation.3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199" y="4066779"/>
                        <a:ext cx="6207125" cy="598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711521"/>
              </p:ext>
            </p:extLst>
          </p:nvPr>
        </p:nvGraphicFramePr>
        <p:xfrm>
          <a:off x="2490199" y="4838088"/>
          <a:ext cx="59705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1" name="Equation" r:id="rId7" imgW="2921000" imgH="279400" progId="Equation.3">
                  <p:embed/>
                </p:oleObj>
              </mc:Choice>
              <mc:Fallback>
                <p:oleObj name="Equation" r:id="rId7" imgW="2921000" imgH="279400" progId="Equation.3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199" y="4838088"/>
                        <a:ext cx="5970587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399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58537" y="1110343"/>
            <a:ext cx="8623663" cy="53190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dirty="0" smtClean="0">
                <a:ea typeface="新細明體" pitchFamily="18" charset="-120"/>
              </a:rPr>
              <a:t>Butterworth notch filter</a:t>
            </a:r>
          </a:p>
          <a:p>
            <a:endParaRPr lang="en-US" altLang="zh-TW" dirty="0" smtClean="0">
              <a:ea typeface="新細明體" pitchFamily="18" charset="-120"/>
            </a:endParaRPr>
          </a:p>
          <a:p>
            <a:endParaRPr lang="en-US" altLang="zh-TW" dirty="0" smtClean="0">
              <a:ea typeface="新細明體" pitchFamily="18" charset="-120"/>
            </a:endParaRPr>
          </a:p>
          <a:p>
            <a:r>
              <a:rPr lang="en-US" altLang="zh-TW" dirty="0" smtClean="0">
                <a:ea typeface="新細明體" pitchFamily="18" charset="-120"/>
              </a:rPr>
              <a:t>Gaussian notch filter</a:t>
            </a:r>
          </a:p>
          <a:p>
            <a:endParaRPr lang="en-US" altLang="zh-TW" dirty="0" smtClean="0">
              <a:ea typeface="新細明體" pitchFamily="18" charset="-120"/>
            </a:endParaRPr>
          </a:p>
          <a:p>
            <a:endParaRPr lang="en-US" altLang="zh-TW" dirty="0" smtClean="0">
              <a:ea typeface="新細明體" pitchFamily="18" charset="-120"/>
            </a:endParaRPr>
          </a:p>
          <a:p>
            <a:r>
              <a:rPr lang="en-US" altLang="zh-TW" dirty="0" smtClean="0">
                <a:ea typeface="新細明體" pitchFamily="18" charset="-120"/>
              </a:rPr>
              <a:t>Note that these notch filters will become </a:t>
            </a:r>
            <a:r>
              <a:rPr lang="en-US" altLang="zh-TW" dirty="0" err="1" smtClean="0">
                <a:ea typeface="新細明體" pitchFamily="18" charset="-120"/>
              </a:rPr>
              <a:t>highpass</a:t>
            </a:r>
            <a:r>
              <a:rPr lang="en-US" altLang="zh-TW" dirty="0" smtClean="0">
                <a:ea typeface="新細明體" pitchFamily="18" charset="-120"/>
              </a:rPr>
              <a:t> when</a:t>
            </a:r>
            <a:r>
              <a:rPr lang="en-US" altLang="zh-TW" i="1" dirty="0" smtClean="0">
                <a:ea typeface="新細明體" pitchFamily="18" charset="-120"/>
              </a:rPr>
              <a:t> u</a:t>
            </a:r>
            <a:r>
              <a:rPr lang="en-US" altLang="zh-TW" i="1" baseline="-25000" dirty="0" smtClean="0">
                <a:ea typeface="新細明體" pitchFamily="18" charset="-120"/>
              </a:rPr>
              <a:t>0</a:t>
            </a:r>
            <a:r>
              <a:rPr lang="en-US" altLang="zh-TW" i="1" dirty="0" smtClean="0">
                <a:ea typeface="新細明體" pitchFamily="18" charset="-120"/>
              </a:rPr>
              <a:t>=v</a:t>
            </a:r>
            <a:r>
              <a:rPr lang="en-US" altLang="zh-TW" i="1" baseline="-25000" dirty="0" smtClean="0">
                <a:ea typeface="新細明體" pitchFamily="18" charset="-120"/>
              </a:rPr>
              <a:t>0</a:t>
            </a:r>
            <a:r>
              <a:rPr lang="en-US" altLang="zh-TW" i="1" dirty="0" smtClean="0">
                <a:ea typeface="新細明體" pitchFamily="18" charset="-120"/>
              </a:rPr>
              <a:t>=0</a:t>
            </a:r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606880"/>
              </p:ext>
            </p:extLst>
          </p:nvPr>
        </p:nvGraphicFramePr>
        <p:xfrm>
          <a:off x="3661819" y="1539874"/>
          <a:ext cx="335915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Equation" r:id="rId3" imgW="2032000" imgH="698500" progId="Equation.3">
                  <p:embed/>
                </p:oleObj>
              </mc:Choice>
              <mc:Fallback>
                <p:oleObj name="Equation" r:id="rId3" imgW="2032000" imgH="698500" progId="Equation.3">
                  <p:embed/>
                  <p:pic>
                    <p:nvPicPr>
                      <p:cNvPr id="225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1819" y="1539874"/>
                        <a:ext cx="3359150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287203"/>
              </p:ext>
            </p:extLst>
          </p:nvPr>
        </p:nvGraphicFramePr>
        <p:xfrm>
          <a:off x="3661819" y="3125105"/>
          <a:ext cx="33972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Equation" r:id="rId5" imgW="1713756" imgH="406224" progId="Equation.3">
                  <p:embed/>
                </p:oleObj>
              </mc:Choice>
              <mc:Fallback>
                <p:oleObj name="Equation" r:id="rId5" imgW="1713756" imgH="406224" progId="Equation.3">
                  <p:embed/>
                  <p:pic>
                    <p:nvPicPr>
                      <p:cNvPr id="22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1819" y="3125105"/>
                        <a:ext cx="3397250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739900" y="297657"/>
            <a:ext cx="7772400" cy="474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4000" b="1" dirty="0" smtClean="0">
                <a:solidFill>
                  <a:schemeClr val="accent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Notch Filters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新細明體" pitchFamily="18" charset="-120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新細明體" pitchFamily="18" charset="-120"/>
              </a:rPr>
            </a:br>
            <a:endParaRPr lang="zh-TW" altLang="en-US" dirty="0" smtClean="0">
              <a:solidFill>
                <a:srgbClr val="FF0000"/>
              </a:solidFill>
              <a:latin typeface="Arial" panose="020B0604020202020204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712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ext Box 2"/>
          <p:cNvSpPr txBox="1">
            <a:spLocks noChangeArrowheads="1"/>
          </p:cNvSpPr>
          <p:nvPr/>
        </p:nvSpPr>
        <p:spPr bwMode="auto">
          <a:xfrm>
            <a:off x="3030583" y="306388"/>
            <a:ext cx="578684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4000" b="1" dirty="0">
                <a:solidFill>
                  <a:schemeClr val="accent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Notch filters</a:t>
            </a:r>
          </a:p>
        </p:txBody>
      </p:sp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725" y="1306514"/>
            <a:ext cx="6319838" cy="508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522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138" y="584201"/>
            <a:ext cx="4114800" cy="591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1" y="858839"/>
            <a:ext cx="5114925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1757364" y="4151314"/>
            <a:ext cx="41370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Use 1-D Notch pass filter to find the horizontal ripple noise</a:t>
            </a:r>
          </a:p>
        </p:txBody>
      </p:sp>
    </p:spTree>
    <p:extLst>
      <p:ext uri="{BB962C8B-B14F-4D97-AF65-F5344CB8AC3E}">
        <p14:creationId xmlns:p14="http://schemas.microsoft.com/office/powerpoint/2010/main" val="336284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 FORMA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FORMAT</Template>
  <TotalTime>1711</TotalTime>
  <Words>173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Cambria</vt:lpstr>
      <vt:lpstr>新細明體</vt:lpstr>
      <vt:lpstr>Tahoma</vt:lpstr>
      <vt:lpstr>Times New Roman</vt:lpstr>
      <vt:lpstr>Verdana</vt:lpstr>
      <vt:lpstr>PPT FORMAT</vt:lpstr>
      <vt:lpstr>Equation</vt:lpstr>
      <vt:lpstr>Periodic Noise Reduction Using Frequency Domain Filtering</vt:lpstr>
      <vt:lpstr>Periodic Noise Reduction by Frequency Domain Filtering  </vt:lpstr>
      <vt:lpstr>Noise Reduction using Frequency Domain Filtering</vt:lpstr>
      <vt:lpstr>Bandreject filters </vt:lpstr>
      <vt:lpstr>PowerPoint Presentation</vt:lpstr>
      <vt:lpstr>Bandpass filter </vt:lpstr>
      <vt:lpstr>PowerPoint Presentation</vt:lpstr>
      <vt:lpstr>PowerPoint Presentation</vt:lpstr>
      <vt:lpstr>Notch filters </vt:lpstr>
      <vt:lpstr>Notch Filters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CSE395</dc:title>
  <dc:creator>Windows User</dc:creator>
  <cp:lastModifiedBy>admin</cp:lastModifiedBy>
  <cp:revision>307</cp:revision>
  <dcterms:created xsi:type="dcterms:W3CDTF">2019-08-23T05:46:45Z</dcterms:created>
  <dcterms:modified xsi:type="dcterms:W3CDTF">2022-12-04T06:14:56Z</dcterms:modified>
</cp:coreProperties>
</file>