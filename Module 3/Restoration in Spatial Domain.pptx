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393" r:id="rId3"/>
    <p:sldId id="394" r:id="rId4"/>
    <p:sldId id="395" r:id="rId5"/>
    <p:sldId id="396" r:id="rId6"/>
    <p:sldId id="397" r:id="rId7"/>
    <p:sldId id="398" r:id="rId8"/>
    <p:sldId id="399" r:id="rId9"/>
    <p:sldId id="400" r:id="rId10"/>
    <p:sldId id="402" r:id="rId11"/>
    <p:sldId id="403" r:id="rId12"/>
    <p:sldId id="404" r:id="rId13"/>
    <p:sldId id="405" r:id="rId14"/>
    <p:sldId id="406" r:id="rId15"/>
    <p:sldId id="407" r:id="rId16"/>
    <p:sldId id="409" r:id="rId17"/>
    <p:sldId id="41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79008-E739-4DF0-AD6A-2CD797F7AAE6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E5A6F-281D-47F3-B400-5377046C32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3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096237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>
          <a:xfrm>
            <a:off x="9446684" y="6381751"/>
            <a:ext cx="2743200" cy="365125"/>
          </a:xfrm>
        </p:spPr>
        <p:txBody>
          <a:bodyPr/>
          <a:lstStyle>
            <a:lvl1pPr defTabSz="914400">
              <a:defRPr sz="1600" b="1">
                <a:solidFill>
                  <a:srgbClr val="FFFFFF"/>
                </a:solidFill>
                <a:latin typeface="Cambria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2875"/>
            <a:ext cx="10515600" cy="8323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387966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>
          <a:xfrm>
            <a:off x="9414933" y="6429376"/>
            <a:ext cx="2743200" cy="365125"/>
          </a:xfrm>
        </p:spPr>
        <p:txBody>
          <a:bodyPr/>
          <a:lstStyle>
            <a:lvl1pPr defTabSz="914400">
              <a:defRPr sz="1400" b="1"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73002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72731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6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8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4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3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6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6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7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5153026"/>
            <a:ext cx="121920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8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4930" y="953589"/>
            <a:ext cx="9144000" cy="3650684"/>
          </a:xfrm>
        </p:spPr>
        <p:txBody>
          <a:bodyPr>
            <a:normAutofit/>
          </a:bodyPr>
          <a:lstStyle/>
          <a:p>
            <a:pPr marL="295275">
              <a:lnSpc>
                <a:spcPts val="7859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Restoration in the Presence of Noise Only using Spatial Filtering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94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b="1" dirty="0"/>
              <a:t>Additive noise only</a:t>
            </a:r>
            <a:endParaRPr lang="en-US" b="1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52"/>
          <a:stretch>
            <a:fillRect/>
          </a:stretch>
        </p:blipFill>
        <p:spPr bwMode="auto">
          <a:xfrm>
            <a:off x="1306286" y="1533660"/>
            <a:ext cx="9366068" cy="2215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733800" y="4137454"/>
            <a:ext cx="3549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800" dirty="0">
                <a:solidFill>
                  <a:schemeClr val="hlink"/>
                </a:solidFill>
              </a:rPr>
              <a:t>g(</a:t>
            </a:r>
            <a:r>
              <a:rPr lang="en-US" altLang="zh-TW" sz="2800" dirty="0" err="1">
                <a:solidFill>
                  <a:schemeClr val="hlink"/>
                </a:solidFill>
              </a:rPr>
              <a:t>x,y</a:t>
            </a:r>
            <a:r>
              <a:rPr lang="en-US" altLang="zh-TW" sz="2800" dirty="0">
                <a:solidFill>
                  <a:schemeClr val="hlink"/>
                </a:solidFill>
              </a:rPr>
              <a:t>)=f(</a:t>
            </a:r>
            <a:r>
              <a:rPr lang="en-US" altLang="zh-TW" sz="2800" dirty="0" err="1">
                <a:solidFill>
                  <a:schemeClr val="hlink"/>
                </a:solidFill>
              </a:rPr>
              <a:t>x,y</a:t>
            </a:r>
            <a:r>
              <a:rPr lang="en-US" altLang="zh-TW" sz="2800" dirty="0">
                <a:solidFill>
                  <a:schemeClr val="hlink"/>
                </a:solidFill>
              </a:rPr>
              <a:t>)+</a:t>
            </a:r>
            <a:r>
              <a:rPr lang="en-US" altLang="zh-TW" sz="2800" b="1" dirty="0">
                <a:solidFill>
                  <a:schemeClr val="hlink"/>
                </a:solidFill>
                <a:latin typeface="Symbol" panose="05050102010706020507" pitchFamily="18" charset="2"/>
              </a:rPr>
              <a:t>h</a:t>
            </a:r>
            <a:r>
              <a:rPr lang="en-US" altLang="zh-TW" sz="2800" b="1" dirty="0">
                <a:solidFill>
                  <a:schemeClr val="hlink"/>
                </a:solidFill>
              </a:rPr>
              <a:t>(</a:t>
            </a:r>
            <a:r>
              <a:rPr lang="en-US" altLang="zh-TW" sz="2800" b="1" dirty="0" err="1">
                <a:solidFill>
                  <a:schemeClr val="hlink"/>
                </a:solidFill>
              </a:rPr>
              <a:t>x,y</a:t>
            </a:r>
            <a:r>
              <a:rPr lang="en-US" altLang="zh-TW" sz="2800" b="1" dirty="0">
                <a:solidFill>
                  <a:schemeClr val="hlink"/>
                </a:solidFill>
              </a:rPr>
              <a:t>)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733800" y="4823254"/>
            <a:ext cx="3635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800" dirty="0">
                <a:solidFill>
                  <a:schemeClr val="hlink"/>
                </a:solidFill>
              </a:rPr>
              <a:t>G(</a:t>
            </a:r>
            <a:r>
              <a:rPr lang="en-US" altLang="zh-TW" sz="2800" dirty="0" err="1">
                <a:solidFill>
                  <a:schemeClr val="hlink"/>
                </a:solidFill>
              </a:rPr>
              <a:t>u,v</a:t>
            </a:r>
            <a:r>
              <a:rPr lang="en-US" altLang="zh-TW" sz="2800" dirty="0">
                <a:solidFill>
                  <a:schemeClr val="hlink"/>
                </a:solidFill>
              </a:rPr>
              <a:t>)=F(</a:t>
            </a:r>
            <a:r>
              <a:rPr lang="en-US" altLang="zh-TW" sz="2800" dirty="0" err="1">
                <a:solidFill>
                  <a:schemeClr val="hlink"/>
                </a:solidFill>
              </a:rPr>
              <a:t>u,v</a:t>
            </a:r>
            <a:r>
              <a:rPr lang="en-US" altLang="zh-TW" sz="2800" dirty="0">
                <a:solidFill>
                  <a:schemeClr val="hlink"/>
                </a:solidFill>
              </a:rPr>
              <a:t>)+N(</a:t>
            </a:r>
            <a:r>
              <a:rPr lang="en-US" altLang="zh-TW" sz="2800" dirty="0" err="1">
                <a:solidFill>
                  <a:schemeClr val="hlink"/>
                </a:solidFill>
              </a:rPr>
              <a:t>u,v</a:t>
            </a:r>
            <a:r>
              <a:rPr lang="en-US" altLang="zh-TW" sz="2800" dirty="0">
                <a:solidFill>
                  <a:schemeClr val="hlink"/>
                </a:solidFill>
              </a:rPr>
              <a:t>)</a:t>
            </a:r>
          </a:p>
        </p:txBody>
      </p:sp>
      <p:sp>
        <p:nvSpPr>
          <p:cNvPr id="7" name="AutoShape 7"/>
          <p:cNvSpPr>
            <a:spLocks/>
          </p:cNvSpPr>
          <p:nvPr/>
        </p:nvSpPr>
        <p:spPr bwMode="auto">
          <a:xfrm>
            <a:off x="3352800" y="4137454"/>
            <a:ext cx="228600" cy="11430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4177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Spatial filters for de-noising additive noise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648097" y="1328058"/>
            <a:ext cx="3848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dirty="0"/>
              <a:t>Mean filters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 dirty="0"/>
              <a:t>Arithmetic mean filter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 dirty="0"/>
              <a:t>Geometric mean filter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 dirty="0"/>
              <a:t>Harmonic mean filter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 dirty="0"/>
              <a:t>Contra-harmonic mean filter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dirty="0"/>
              <a:t>Order statistics filters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 dirty="0"/>
              <a:t>Median filter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 dirty="0"/>
              <a:t>Max and min filters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 dirty="0"/>
              <a:t>Mid-point filter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 dirty="0"/>
              <a:t>alpha-trimmed filters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6896100" y="1497875"/>
            <a:ext cx="3848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dirty="0"/>
              <a:t>Adaptive filters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 dirty="0"/>
              <a:t>Adaptive local noise reduction filter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 dirty="0"/>
              <a:t>Adaptive median filter</a:t>
            </a:r>
          </a:p>
        </p:txBody>
      </p:sp>
    </p:spTree>
    <p:extLst>
      <p:ext uri="{BB962C8B-B14F-4D97-AF65-F5344CB8AC3E}">
        <p14:creationId xmlns:p14="http://schemas.microsoft.com/office/powerpoint/2010/main" val="1884172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b="1" dirty="0" smtClean="0"/>
              <a:t>Mean filters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Arithmetic mean</a:t>
            </a:r>
          </a:p>
          <a:p>
            <a:pPr eaLnBrk="1" hangingPunct="1"/>
            <a:endParaRPr lang="en-US" altLang="zh-TW" smtClean="0"/>
          </a:p>
          <a:p>
            <a:pPr eaLnBrk="1" hangingPunct="1"/>
            <a:endParaRPr lang="en-US" altLang="zh-TW" smtClean="0"/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/>
              <a:t>Geometric mean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2711450" y="2205039"/>
          <a:ext cx="38100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Equation" r:id="rId3" imgW="1511300" imgH="457200" progId="Equation.3">
                  <p:embed/>
                </p:oleObj>
              </mc:Choice>
              <mc:Fallback>
                <p:oleObj name="Equation" r:id="rId3" imgW="1511300" imgH="457200" progId="Equation.3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2205039"/>
                        <a:ext cx="3810000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Line 5"/>
          <p:cNvSpPr>
            <a:spLocks noChangeShapeType="1"/>
          </p:cNvSpPr>
          <p:nvPr/>
        </p:nvSpPr>
        <p:spPr bwMode="auto">
          <a:xfrm flipH="1" flipV="1">
            <a:off x="5759450" y="3195638"/>
            <a:ext cx="762000" cy="3048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31" name="Text Box 6"/>
          <p:cNvSpPr txBox="1">
            <a:spLocks noChangeArrowheads="1"/>
          </p:cNvSpPr>
          <p:nvPr/>
        </p:nvSpPr>
        <p:spPr bwMode="auto">
          <a:xfrm>
            <a:off x="6505575" y="3152775"/>
            <a:ext cx="3608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Window centered at (x,y)</a:t>
            </a:r>
          </a:p>
        </p:txBody>
      </p:sp>
      <p:graphicFrame>
        <p:nvGraphicFramePr>
          <p:cNvPr id="1027" name="Object 7"/>
          <p:cNvGraphicFramePr>
            <a:graphicFrameLocks noChangeAspect="1"/>
          </p:cNvGraphicFramePr>
          <p:nvPr/>
        </p:nvGraphicFramePr>
        <p:xfrm>
          <a:off x="2640013" y="4508501"/>
          <a:ext cx="4291012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Equation" r:id="rId5" imgW="1701800" imgH="469900" progId="Equation.3">
                  <p:embed/>
                </p:oleObj>
              </mc:Choice>
              <mc:Fallback>
                <p:oleObj name="Equation" r:id="rId5" imgW="1701800" imgH="469900" progId="Equation.3">
                  <p:embed/>
                  <p:pic>
                    <p:nvPicPr>
                      <p:cNvPr id="10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4508501"/>
                        <a:ext cx="4291012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9707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18"/>
          <a:stretch>
            <a:fillRect/>
          </a:stretch>
        </p:blipFill>
        <p:spPr bwMode="auto">
          <a:xfrm>
            <a:off x="2362200" y="1588"/>
            <a:ext cx="71628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172594" y="228601"/>
            <a:ext cx="1166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 dirty="0"/>
              <a:t>original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9322202" y="1"/>
            <a:ext cx="140294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algn="r" eaLnBrk="1" hangingPunct="1"/>
            <a:r>
              <a:rPr lang="en-US" altLang="zh-TW" sz="2400" dirty="0"/>
              <a:t>Noisy</a:t>
            </a:r>
          </a:p>
          <a:p>
            <a:pPr algn="r" eaLnBrk="1" hangingPunct="1"/>
            <a:r>
              <a:rPr lang="en-US" altLang="zh-TW" sz="2400" dirty="0"/>
              <a:t>Gaussian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9601201" y="685801"/>
            <a:ext cx="84670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>
                <a:latin typeface="Symbol" panose="05050102010706020507" pitchFamily="18" charset="2"/>
              </a:rPr>
              <a:t>m=0</a:t>
            </a:r>
          </a:p>
          <a:p>
            <a:pPr eaLnBrk="1" hangingPunct="1"/>
            <a:r>
              <a:rPr lang="en-US" altLang="zh-TW" sz="2400">
                <a:latin typeface="Symbol" panose="05050102010706020507" pitchFamily="18" charset="2"/>
              </a:rPr>
              <a:t>s=20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1347922" y="4363630"/>
            <a:ext cx="93807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 dirty="0" err="1"/>
              <a:t>Arith</a:t>
            </a:r>
            <a:r>
              <a:rPr lang="en-US" altLang="zh-TW" sz="2400" dirty="0"/>
              <a:t>.</a:t>
            </a:r>
          </a:p>
          <a:p>
            <a:pPr eaLnBrk="1" hangingPunct="1"/>
            <a:r>
              <a:rPr lang="en-US" altLang="zh-TW" sz="2400" dirty="0"/>
              <a:t>mean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9342649" y="4779128"/>
            <a:ext cx="156485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 dirty="0"/>
              <a:t>Geometric</a:t>
            </a:r>
          </a:p>
          <a:p>
            <a:pPr eaLnBrk="1" hangingPunct="1"/>
            <a:r>
              <a:rPr lang="en-US" altLang="zh-TW" sz="2400" dirty="0"/>
              <a:t>mean</a:t>
            </a:r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4038600" y="3505200"/>
            <a:ext cx="228600" cy="6096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7" name="Oval 9"/>
          <p:cNvSpPr>
            <a:spLocks noChangeArrowheads="1"/>
          </p:cNvSpPr>
          <p:nvPr/>
        </p:nvSpPr>
        <p:spPr bwMode="auto">
          <a:xfrm>
            <a:off x="7543800" y="3505200"/>
            <a:ext cx="304800" cy="5334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424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b="1" dirty="0" smtClean="0"/>
              <a:t>Mean filters (cont.)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Harmonic mean filter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Contra-harmonic </a:t>
            </a:r>
            <a:r>
              <a:rPr lang="en-US" altLang="zh-TW" dirty="0" smtClean="0"/>
              <a:t>mean filter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2640013" y="3860801"/>
          <a:ext cx="3467100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Equation" r:id="rId3" imgW="1485900" imgH="736600" progId="Equation.3">
                  <p:embed/>
                </p:oleObj>
              </mc:Choice>
              <mc:Fallback>
                <p:oleObj name="Equation" r:id="rId3" imgW="1485900" imgH="736600" progId="Equation.3">
                  <p:embed/>
                  <p:pic>
                    <p:nvPicPr>
                      <p:cNvPr id="20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3860801"/>
                        <a:ext cx="3467100" cy="171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234648"/>
              </p:ext>
            </p:extLst>
          </p:nvPr>
        </p:nvGraphicFramePr>
        <p:xfrm>
          <a:off x="2640013" y="1790383"/>
          <a:ext cx="3200400" cy="145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Equation" r:id="rId5" imgW="1422400" imgH="647700" progId="Equation.3">
                  <p:embed/>
                </p:oleObj>
              </mc:Choice>
              <mc:Fallback>
                <p:oleObj name="Equation" r:id="rId5" imgW="1422400" imgH="647700" progId="Equation.3">
                  <p:embed/>
                  <p:pic>
                    <p:nvPicPr>
                      <p:cNvPr id="20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1790383"/>
                        <a:ext cx="3200400" cy="1455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7015164" y="5156201"/>
            <a:ext cx="2338387" cy="4667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Q=-1, harmonic</a:t>
            </a:r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 flipH="1" flipV="1">
            <a:off x="5951539" y="4941888"/>
            <a:ext cx="1292225" cy="138112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7015164" y="5765801"/>
            <a:ext cx="2530475" cy="4667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Q=0, airth. mean</a:t>
            </a:r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7015163" y="6375401"/>
            <a:ext cx="1185862" cy="4667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Q=+, ?</a:t>
            </a:r>
          </a:p>
        </p:txBody>
      </p:sp>
    </p:spTree>
    <p:extLst>
      <p:ext uri="{BB962C8B-B14F-4D97-AF65-F5344CB8AC3E}">
        <p14:creationId xmlns:p14="http://schemas.microsoft.com/office/powerpoint/2010/main" val="1546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77"/>
          <a:stretch>
            <a:fillRect/>
          </a:stretch>
        </p:blipFill>
        <p:spPr bwMode="auto">
          <a:xfrm>
            <a:off x="2438400" y="0"/>
            <a:ext cx="7086600" cy="684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431926" y="-42863"/>
            <a:ext cx="1122363" cy="1200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Pepper</a:t>
            </a:r>
          </a:p>
          <a:p>
            <a:pPr eaLnBrk="1" hangingPunct="1"/>
            <a:r>
              <a:rPr lang="en-US" altLang="zh-TW" sz="2400"/>
              <a:t>Noise</a:t>
            </a:r>
          </a:p>
          <a:p>
            <a:pPr eaLnBrk="1" hangingPunct="1"/>
            <a:endParaRPr lang="zh-TW" altLang="en-US" sz="2400">
              <a:ea typeface="DFKai-SB" pitchFamily="1" charset="-120"/>
            </a:endParaRP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9661525" y="33338"/>
            <a:ext cx="9271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Salt</a:t>
            </a:r>
          </a:p>
          <a:p>
            <a:pPr eaLnBrk="1" hangingPunct="1"/>
            <a:r>
              <a:rPr lang="en-US" altLang="zh-TW" sz="2400"/>
              <a:t>Noise</a:t>
            </a:r>
          </a:p>
          <a:p>
            <a:pPr eaLnBrk="1" hangingPunct="1"/>
            <a:endParaRPr lang="zh-TW" altLang="en-US" sz="2400">
              <a:ea typeface="DFKai-SB" pitchFamily="1" charset="-120"/>
            </a:endParaRP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1431925" y="5138739"/>
            <a:ext cx="143821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Contra-</a:t>
            </a:r>
          </a:p>
          <a:p>
            <a:pPr eaLnBrk="1" hangingPunct="1"/>
            <a:r>
              <a:rPr lang="en-US" altLang="zh-TW" sz="2400"/>
              <a:t>harmonic</a:t>
            </a:r>
          </a:p>
          <a:p>
            <a:pPr eaLnBrk="1" hangingPunct="1"/>
            <a:r>
              <a:rPr lang="en-US" altLang="zh-TW" sz="2400"/>
              <a:t>Q=1.5</a:t>
            </a: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9229786" y="5105401"/>
            <a:ext cx="143821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algn="r" eaLnBrk="1" hangingPunct="1"/>
            <a:r>
              <a:rPr lang="en-US" altLang="zh-TW" sz="2400"/>
              <a:t>Contra-</a:t>
            </a:r>
          </a:p>
          <a:p>
            <a:pPr algn="r" eaLnBrk="1" hangingPunct="1"/>
            <a:r>
              <a:rPr lang="en-US" altLang="zh-TW" sz="2400"/>
              <a:t>harmonic</a:t>
            </a:r>
          </a:p>
          <a:p>
            <a:pPr algn="r" eaLnBrk="1" hangingPunct="1"/>
            <a:r>
              <a:rPr lang="en-US" altLang="zh-TW" sz="2400"/>
              <a:t>Q=-1.5</a:t>
            </a:r>
          </a:p>
        </p:txBody>
      </p:sp>
    </p:spTree>
    <p:extLst>
      <p:ext uri="{BB962C8B-B14F-4D97-AF65-F5344CB8AC3E}">
        <p14:creationId xmlns:p14="http://schemas.microsoft.com/office/powerpoint/2010/main" val="158718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521"/>
          <a:stretch>
            <a:fillRect/>
          </a:stretch>
        </p:blipFill>
        <p:spPr bwMode="auto">
          <a:xfrm>
            <a:off x="1752600" y="1467009"/>
            <a:ext cx="8686800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395975" y="337457"/>
            <a:ext cx="93778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algn="ctr" eaLnBrk="1" hangingPunct="1"/>
            <a:r>
              <a:rPr lang="en-US" altLang="zh-TW" sz="3600" b="1" dirty="0">
                <a:solidFill>
                  <a:schemeClr val="hlink"/>
                </a:solidFill>
              </a:rPr>
              <a:t>Wrong sign</a:t>
            </a:r>
            <a:r>
              <a:rPr lang="en-US" altLang="zh-TW" sz="3600" b="1" dirty="0"/>
              <a:t> in contra-harmonic filtering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593725" y="3562100"/>
            <a:ext cx="115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 dirty="0"/>
              <a:t>Q=-1.5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10249988" y="3439886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Q=1.5</a:t>
            </a:r>
          </a:p>
        </p:txBody>
      </p:sp>
    </p:spTree>
    <p:extLst>
      <p:ext uri="{BB962C8B-B14F-4D97-AF65-F5344CB8AC3E}">
        <p14:creationId xmlns:p14="http://schemas.microsoft.com/office/powerpoint/2010/main" val="335273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b="1" dirty="0" smtClean="0"/>
              <a:t>Order-statistics filters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Based on the ordering(ranking) of pixels</a:t>
            </a:r>
          </a:p>
          <a:p>
            <a:pPr lvl="1" eaLnBrk="1" hangingPunct="1"/>
            <a:r>
              <a:rPr lang="en-US" altLang="zh-TW" dirty="0" smtClean="0"/>
              <a:t>Suitable for unipolar or bipolar noise </a:t>
            </a:r>
            <a:r>
              <a:rPr lang="en-US" altLang="zh-TW" dirty="0" smtClean="0">
                <a:solidFill>
                  <a:schemeClr val="hlink"/>
                </a:solidFill>
              </a:rPr>
              <a:t>(salt and pepper noise</a:t>
            </a:r>
            <a:r>
              <a:rPr lang="en-US" altLang="zh-TW" dirty="0" smtClean="0"/>
              <a:t>)</a:t>
            </a:r>
          </a:p>
          <a:p>
            <a:pPr eaLnBrk="1" hangingPunct="1"/>
            <a:r>
              <a:rPr lang="en-US" altLang="zh-TW" dirty="0" smtClean="0"/>
              <a:t>Median filters</a:t>
            </a:r>
          </a:p>
          <a:p>
            <a:pPr eaLnBrk="1" hangingPunct="1"/>
            <a:r>
              <a:rPr lang="en-US" altLang="zh-TW" dirty="0" smtClean="0"/>
              <a:t>Max/min filters</a:t>
            </a:r>
          </a:p>
          <a:p>
            <a:pPr eaLnBrk="1" hangingPunct="1"/>
            <a:r>
              <a:rPr lang="en-US" altLang="zh-TW" dirty="0" smtClean="0"/>
              <a:t>Midpoint filters</a:t>
            </a:r>
          </a:p>
          <a:p>
            <a:pPr eaLnBrk="1" hangingPunct="1"/>
            <a:r>
              <a:rPr lang="en-US" altLang="zh-TW" dirty="0" smtClean="0"/>
              <a:t>Alpha-trimmed mean filters</a:t>
            </a:r>
          </a:p>
        </p:txBody>
      </p:sp>
    </p:spTree>
    <p:extLst>
      <p:ext uri="{BB962C8B-B14F-4D97-AF65-F5344CB8AC3E}">
        <p14:creationId xmlns:p14="http://schemas.microsoft.com/office/powerpoint/2010/main" val="108785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b="1" dirty="0" smtClean="0"/>
              <a:t>Order-statistics filters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Median filter</a:t>
            </a:r>
          </a:p>
          <a:p>
            <a:pPr eaLnBrk="1" hangingPunct="1"/>
            <a:endParaRPr lang="en-US" altLang="zh-TW" smtClean="0"/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/>
              <a:t>Max/min filters</a:t>
            </a: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2279650" y="2133601"/>
          <a:ext cx="41910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Equation" r:id="rId3" imgW="1574800" imgH="342900" progId="Equation.3">
                  <p:embed/>
                </p:oleObj>
              </mc:Choice>
              <mc:Fallback>
                <p:oleObj name="Equation" r:id="rId3" imgW="1574800" imgH="342900" progId="Equation.3">
                  <p:embed/>
                  <p:pic>
                    <p:nvPicPr>
                      <p:cNvPr id="30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2133601"/>
                        <a:ext cx="41910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5"/>
          <p:cNvGraphicFramePr>
            <a:graphicFrameLocks noChangeAspect="1"/>
          </p:cNvGraphicFramePr>
          <p:nvPr/>
        </p:nvGraphicFramePr>
        <p:xfrm>
          <a:off x="2351089" y="3860801"/>
          <a:ext cx="3919537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Equation" r:id="rId5" imgW="1473200" imgH="342900" progId="Equation.3">
                  <p:embed/>
                </p:oleObj>
              </mc:Choice>
              <mc:Fallback>
                <p:oleObj name="Equation" r:id="rId5" imgW="1473200" imgH="342900" progId="Equation.3">
                  <p:embed/>
                  <p:pic>
                    <p:nvPicPr>
                      <p:cNvPr id="307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3860801"/>
                        <a:ext cx="3919537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6"/>
          <p:cNvGraphicFramePr>
            <a:graphicFrameLocks noChangeAspect="1"/>
          </p:cNvGraphicFramePr>
          <p:nvPr/>
        </p:nvGraphicFramePr>
        <p:xfrm>
          <a:off x="2424114" y="4724401"/>
          <a:ext cx="391953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Equation" r:id="rId7" imgW="1473200" imgH="330200" progId="Equation.3">
                  <p:embed/>
                </p:oleObj>
              </mc:Choice>
              <mc:Fallback>
                <p:oleObj name="Equation" r:id="rId7" imgW="1473200" imgH="330200" progId="Equation.3">
                  <p:embed/>
                  <p:pic>
                    <p:nvPicPr>
                      <p:cNvPr id="307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4724401"/>
                        <a:ext cx="391953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6218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75"/>
          <a:stretch>
            <a:fillRect/>
          </a:stretch>
        </p:blipFill>
        <p:spPr bwMode="auto">
          <a:xfrm>
            <a:off x="2590800" y="11114"/>
            <a:ext cx="7094538" cy="684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431925" y="-42863"/>
            <a:ext cx="131478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bipolar</a:t>
            </a:r>
          </a:p>
          <a:p>
            <a:pPr eaLnBrk="1" hangingPunct="1"/>
            <a:r>
              <a:rPr lang="en-US" altLang="zh-TW" sz="2400"/>
              <a:t>Noise</a:t>
            </a:r>
          </a:p>
          <a:p>
            <a:pPr eaLnBrk="1" hangingPunct="1"/>
            <a:r>
              <a:rPr lang="en-US" altLang="zh-TW" sz="2400"/>
              <a:t>P</a:t>
            </a:r>
            <a:r>
              <a:rPr lang="en-US" altLang="zh-TW" sz="2400" baseline="-25000"/>
              <a:t>a</a:t>
            </a:r>
            <a:r>
              <a:rPr lang="en-US" altLang="zh-TW" sz="2400"/>
              <a:t> = 0.1</a:t>
            </a:r>
          </a:p>
          <a:p>
            <a:pPr eaLnBrk="1" hangingPunct="1"/>
            <a:r>
              <a:rPr lang="en-US" altLang="zh-TW" sz="2400"/>
              <a:t>P</a:t>
            </a:r>
            <a:r>
              <a:rPr lang="en-US" altLang="zh-TW" sz="2400" baseline="-25000"/>
              <a:t>b</a:t>
            </a:r>
            <a:r>
              <a:rPr lang="en-US" altLang="zh-TW" sz="2400"/>
              <a:t> = 0.1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9510312" y="0"/>
            <a:ext cx="115768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algn="r" eaLnBrk="1" hangingPunct="1"/>
            <a:r>
              <a:rPr lang="en-US" altLang="zh-TW" sz="2400"/>
              <a:t>3x3</a:t>
            </a:r>
          </a:p>
          <a:p>
            <a:pPr algn="r" eaLnBrk="1" hangingPunct="1"/>
            <a:r>
              <a:rPr lang="en-US" altLang="zh-TW" sz="2400"/>
              <a:t>Median</a:t>
            </a:r>
          </a:p>
          <a:p>
            <a:pPr algn="r" eaLnBrk="1" hangingPunct="1"/>
            <a:r>
              <a:rPr lang="en-US" altLang="zh-TW" sz="2400"/>
              <a:t>Filter</a:t>
            </a:r>
          </a:p>
          <a:p>
            <a:pPr algn="r" eaLnBrk="1" hangingPunct="1"/>
            <a:r>
              <a:rPr lang="en-US" altLang="zh-TW" sz="2400"/>
              <a:t>Pass 1</a:t>
            </a:r>
          </a:p>
        </p:txBody>
      </p:sp>
      <p:sp>
        <p:nvSpPr>
          <p:cNvPr id="17413" name="Text Box 6"/>
          <p:cNvSpPr txBox="1">
            <a:spLocks noChangeArrowheads="1"/>
          </p:cNvSpPr>
          <p:nvPr/>
        </p:nvSpPr>
        <p:spPr bwMode="auto">
          <a:xfrm>
            <a:off x="1510472" y="3763796"/>
            <a:ext cx="115768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 dirty="0"/>
              <a:t>3x3</a:t>
            </a:r>
          </a:p>
          <a:p>
            <a:pPr eaLnBrk="1" hangingPunct="1"/>
            <a:r>
              <a:rPr lang="en-US" altLang="zh-TW" sz="2400" dirty="0"/>
              <a:t>Median</a:t>
            </a:r>
          </a:p>
          <a:p>
            <a:pPr eaLnBrk="1" hangingPunct="1"/>
            <a:r>
              <a:rPr lang="en-US" altLang="zh-TW" sz="2400" dirty="0"/>
              <a:t>Filter</a:t>
            </a:r>
          </a:p>
          <a:p>
            <a:pPr eaLnBrk="1" hangingPunct="1"/>
            <a:r>
              <a:rPr lang="en-US" altLang="zh-TW" sz="2400" dirty="0"/>
              <a:t>Pass 2</a:t>
            </a:r>
          </a:p>
        </p:txBody>
      </p:sp>
      <p:sp>
        <p:nvSpPr>
          <p:cNvPr id="17414" name="Text Box 7"/>
          <p:cNvSpPr txBox="1">
            <a:spLocks noChangeArrowheads="1"/>
          </p:cNvSpPr>
          <p:nvPr/>
        </p:nvSpPr>
        <p:spPr bwMode="auto">
          <a:xfrm>
            <a:off x="9685338" y="3920762"/>
            <a:ext cx="115768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algn="r" eaLnBrk="1" hangingPunct="1"/>
            <a:r>
              <a:rPr lang="en-US" altLang="zh-TW" sz="2400" dirty="0"/>
              <a:t>3x3</a:t>
            </a:r>
          </a:p>
          <a:p>
            <a:pPr algn="r" eaLnBrk="1" hangingPunct="1"/>
            <a:r>
              <a:rPr lang="en-US" altLang="zh-TW" sz="2400" dirty="0"/>
              <a:t>Median</a:t>
            </a:r>
          </a:p>
          <a:p>
            <a:pPr algn="r" eaLnBrk="1" hangingPunct="1"/>
            <a:r>
              <a:rPr lang="en-US" altLang="zh-TW" sz="2400" dirty="0"/>
              <a:t>Filter</a:t>
            </a:r>
          </a:p>
          <a:p>
            <a:pPr algn="r" eaLnBrk="1" hangingPunct="1"/>
            <a:r>
              <a:rPr lang="en-US" altLang="zh-TW" sz="2400" dirty="0"/>
              <a:t>Pass 3</a:t>
            </a:r>
          </a:p>
        </p:txBody>
      </p:sp>
    </p:spTree>
    <p:extLst>
      <p:ext uri="{BB962C8B-B14F-4D97-AF65-F5344CB8AC3E}">
        <p14:creationId xmlns:p14="http://schemas.microsoft.com/office/powerpoint/2010/main" val="1166615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571"/>
          <a:stretch>
            <a:fillRect/>
          </a:stretch>
        </p:blipFill>
        <p:spPr bwMode="auto">
          <a:xfrm>
            <a:off x="2362200" y="3448050"/>
            <a:ext cx="7086600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6" b="49673"/>
          <a:stretch>
            <a:fillRect/>
          </a:stretch>
        </p:blipFill>
        <p:spPr bwMode="auto">
          <a:xfrm>
            <a:off x="2362200" y="0"/>
            <a:ext cx="7162800" cy="345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Text Box 6"/>
          <p:cNvSpPr txBox="1">
            <a:spLocks noChangeArrowheads="1"/>
          </p:cNvSpPr>
          <p:nvPr/>
        </p:nvSpPr>
        <p:spPr bwMode="auto">
          <a:xfrm>
            <a:off x="1431925" y="338139"/>
            <a:ext cx="112178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Pepper</a:t>
            </a:r>
          </a:p>
          <a:p>
            <a:pPr eaLnBrk="1" hangingPunct="1"/>
            <a:r>
              <a:rPr lang="en-US" altLang="zh-TW" sz="2400"/>
              <a:t>noise</a:t>
            </a:r>
          </a:p>
        </p:txBody>
      </p:sp>
      <p:sp>
        <p:nvSpPr>
          <p:cNvPr id="18437" name="Text Box 7"/>
          <p:cNvSpPr txBox="1">
            <a:spLocks noChangeArrowheads="1"/>
          </p:cNvSpPr>
          <p:nvPr/>
        </p:nvSpPr>
        <p:spPr bwMode="auto">
          <a:xfrm>
            <a:off x="9509126" y="261939"/>
            <a:ext cx="89319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Salt</a:t>
            </a:r>
          </a:p>
          <a:p>
            <a:pPr eaLnBrk="1" hangingPunct="1"/>
            <a:r>
              <a:rPr lang="en-US" altLang="zh-TW" sz="2400"/>
              <a:t>noise</a:t>
            </a:r>
          </a:p>
        </p:txBody>
      </p:sp>
      <p:sp>
        <p:nvSpPr>
          <p:cNvPr id="18438" name="Line 8"/>
          <p:cNvSpPr>
            <a:spLocks noChangeShapeType="1"/>
          </p:cNvSpPr>
          <p:nvPr/>
        </p:nvSpPr>
        <p:spPr bwMode="auto">
          <a:xfrm>
            <a:off x="2057400" y="3124200"/>
            <a:ext cx="0" cy="8382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Line 9"/>
          <p:cNvSpPr>
            <a:spLocks noChangeShapeType="1"/>
          </p:cNvSpPr>
          <p:nvPr/>
        </p:nvSpPr>
        <p:spPr bwMode="auto">
          <a:xfrm>
            <a:off x="9753600" y="2895600"/>
            <a:ext cx="0" cy="9144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40" name="Text Box 10"/>
          <p:cNvSpPr txBox="1">
            <a:spLocks noChangeArrowheads="1"/>
          </p:cNvSpPr>
          <p:nvPr/>
        </p:nvSpPr>
        <p:spPr bwMode="auto">
          <a:xfrm>
            <a:off x="1431925" y="3995739"/>
            <a:ext cx="79951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Max</a:t>
            </a:r>
          </a:p>
          <a:p>
            <a:pPr eaLnBrk="1" hangingPunct="1"/>
            <a:r>
              <a:rPr lang="en-US" altLang="zh-TW" sz="2400"/>
              <a:t>filter</a:t>
            </a:r>
          </a:p>
        </p:txBody>
      </p:sp>
      <p:sp>
        <p:nvSpPr>
          <p:cNvPr id="18441" name="Text Box 11"/>
          <p:cNvSpPr txBox="1">
            <a:spLocks noChangeArrowheads="1"/>
          </p:cNvSpPr>
          <p:nvPr/>
        </p:nvSpPr>
        <p:spPr bwMode="auto">
          <a:xfrm>
            <a:off x="9509125" y="3919539"/>
            <a:ext cx="79951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Min</a:t>
            </a:r>
          </a:p>
          <a:p>
            <a:pPr eaLnBrk="1" hangingPunct="1"/>
            <a:r>
              <a:rPr lang="en-US" altLang="zh-TW" sz="2400"/>
              <a:t>filter</a:t>
            </a:r>
          </a:p>
        </p:txBody>
      </p:sp>
      <p:sp>
        <p:nvSpPr>
          <p:cNvPr id="18442" name="Oval 12"/>
          <p:cNvSpPr>
            <a:spLocks noChangeArrowheads="1"/>
          </p:cNvSpPr>
          <p:nvPr/>
        </p:nvSpPr>
        <p:spPr bwMode="auto">
          <a:xfrm>
            <a:off x="4038600" y="3505200"/>
            <a:ext cx="228600" cy="5334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43" name="Oval 16"/>
          <p:cNvSpPr>
            <a:spLocks noChangeArrowheads="1"/>
          </p:cNvSpPr>
          <p:nvPr/>
        </p:nvSpPr>
        <p:spPr bwMode="auto">
          <a:xfrm>
            <a:off x="7596188" y="3573463"/>
            <a:ext cx="228600" cy="5334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274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b="1" dirty="0" smtClean="0"/>
              <a:t>Order-statistics filters (cont.)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solidFill>
                  <a:schemeClr val="hlink"/>
                </a:solidFill>
              </a:rPr>
              <a:t>Midpoint filter</a:t>
            </a:r>
          </a:p>
          <a:p>
            <a:pPr eaLnBrk="1" hangingPunct="1"/>
            <a:endParaRPr lang="en-US" altLang="zh-TW" smtClean="0"/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>
                <a:solidFill>
                  <a:schemeClr val="hlink"/>
                </a:solidFill>
              </a:rPr>
              <a:t>Alpha-trimmed mean filter</a:t>
            </a:r>
          </a:p>
          <a:p>
            <a:pPr lvl="1" eaLnBrk="1" hangingPunct="1"/>
            <a:r>
              <a:rPr lang="en-US" altLang="zh-TW" smtClean="0"/>
              <a:t>Delete the d/2 lowest and d/2 highest gray-level pixels</a:t>
            </a:r>
          </a:p>
        </p:txBody>
      </p:sp>
      <p:graphicFrame>
        <p:nvGraphicFramePr>
          <p:cNvPr id="4098" name="Object 5"/>
          <p:cNvGraphicFramePr>
            <a:graphicFrameLocks noChangeAspect="1"/>
          </p:cNvGraphicFramePr>
          <p:nvPr/>
        </p:nvGraphicFramePr>
        <p:xfrm>
          <a:off x="2279650" y="1989139"/>
          <a:ext cx="670560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Equation" r:id="rId3" imgW="2705100" imgH="431800" progId="Equation.3">
                  <p:embed/>
                </p:oleObj>
              </mc:Choice>
              <mc:Fallback>
                <p:oleObj name="Equation" r:id="rId3" imgW="2705100" imgH="431800" progId="Equation.3">
                  <p:embed/>
                  <p:pic>
                    <p:nvPicPr>
                      <p:cNvPr id="409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989139"/>
                        <a:ext cx="6705600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"/>
          <p:cNvGraphicFramePr>
            <a:graphicFrameLocks noChangeAspect="1"/>
          </p:cNvGraphicFramePr>
          <p:nvPr/>
        </p:nvGraphicFramePr>
        <p:xfrm>
          <a:off x="2495550" y="4730751"/>
          <a:ext cx="457200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Equation" r:id="rId5" imgW="1790700" imgH="457200" progId="Equation.3">
                  <p:embed/>
                </p:oleObj>
              </mc:Choice>
              <mc:Fallback>
                <p:oleObj name="Equation" r:id="rId5" imgW="1790700" imgH="457200" progId="Equation.3">
                  <p:embed/>
                  <p:pic>
                    <p:nvPicPr>
                      <p:cNvPr id="409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4730751"/>
                        <a:ext cx="4572000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Line 7"/>
          <p:cNvSpPr>
            <a:spLocks noChangeShapeType="1"/>
          </p:cNvSpPr>
          <p:nvPr/>
        </p:nvSpPr>
        <p:spPr bwMode="auto">
          <a:xfrm flipH="1" flipV="1">
            <a:off x="6305550" y="5492750"/>
            <a:ext cx="762000" cy="3048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03" name="Text Box 8"/>
          <p:cNvSpPr txBox="1">
            <a:spLocks noChangeArrowheads="1"/>
          </p:cNvSpPr>
          <p:nvPr/>
        </p:nvSpPr>
        <p:spPr bwMode="auto">
          <a:xfrm>
            <a:off x="6945314" y="5492750"/>
            <a:ext cx="2941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Middle </a:t>
            </a:r>
            <a:r>
              <a:rPr lang="en-US" altLang="zh-TW" sz="2400">
                <a:solidFill>
                  <a:schemeClr val="hlink"/>
                </a:solidFill>
              </a:rPr>
              <a:t>(mn-d)</a:t>
            </a:r>
            <a:r>
              <a:rPr lang="en-US" altLang="zh-TW" sz="2400"/>
              <a:t> pixels</a:t>
            </a:r>
          </a:p>
        </p:txBody>
      </p:sp>
    </p:spTree>
    <p:extLst>
      <p:ext uri="{BB962C8B-B14F-4D97-AF65-F5344CB8AC3E}">
        <p14:creationId xmlns:p14="http://schemas.microsoft.com/office/powerpoint/2010/main" val="2383140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1" y="0"/>
            <a:ext cx="47656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828801" y="304800"/>
            <a:ext cx="204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Uniform noise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2286001" y="762001"/>
            <a:ext cx="11031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>
                <a:latin typeface="Symbol" panose="05050102010706020507" pitchFamily="18" charset="2"/>
              </a:rPr>
              <a:t>m=0</a:t>
            </a:r>
          </a:p>
          <a:p>
            <a:pPr eaLnBrk="1" hangingPunct="1"/>
            <a:r>
              <a:rPr lang="en-US" altLang="zh-TW" sz="2400">
                <a:latin typeface="Symbol" panose="05050102010706020507" pitchFamily="18" charset="2"/>
              </a:rPr>
              <a:t>s</a:t>
            </a:r>
            <a:r>
              <a:rPr lang="en-US" altLang="zh-TW" sz="2400" baseline="30000">
                <a:latin typeface="Symbol" panose="05050102010706020507" pitchFamily="18" charset="2"/>
              </a:rPr>
              <a:t>2</a:t>
            </a:r>
            <a:r>
              <a:rPr lang="en-US" altLang="zh-TW" sz="2400">
                <a:latin typeface="Symbol" panose="05050102010706020507" pitchFamily="18" charset="2"/>
              </a:rPr>
              <a:t>=800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8594725" y="4238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8458200" y="304800"/>
            <a:ext cx="195585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Left +</a:t>
            </a:r>
          </a:p>
          <a:p>
            <a:pPr eaLnBrk="1" hangingPunct="1"/>
            <a:r>
              <a:rPr lang="en-US" altLang="zh-TW" sz="2400"/>
              <a:t>Bipolar Noise</a:t>
            </a:r>
          </a:p>
          <a:p>
            <a:pPr eaLnBrk="1" hangingPunct="1"/>
            <a:r>
              <a:rPr lang="en-US" altLang="zh-TW" sz="2400"/>
              <a:t>P</a:t>
            </a:r>
            <a:r>
              <a:rPr lang="en-US" altLang="zh-TW" sz="2400" baseline="-25000"/>
              <a:t>a</a:t>
            </a:r>
            <a:r>
              <a:rPr lang="en-US" altLang="zh-TW" sz="2400"/>
              <a:t> = 0.1</a:t>
            </a:r>
          </a:p>
          <a:p>
            <a:pPr eaLnBrk="1" hangingPunct="1"/>
            <a:r>
              <a:rPr lang="en-US" altLang="zh-TW" sz="2400"/>
              <a:t>P</a:t>
            </a:r>
            <a:r>
              <a:rPr lang="en-US" altLang="zh-TW" sz="2400" baseline="-25000"/>
              <a:t>b</a:t>
            </a:r>
            <a:r>
              <a:rPr lang="en-US" altLang="zh-TW" sz="2400"/>
              <a:t> = 0.1</a:t>
            </a: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2049304" y="2895601"/>
            <a:ext cx="174656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algn="ctr" eaLnBrk="1" hangingPunct="1"/>
            <a:r>
              <a:rPr lang="en-US" altLang="zh-TW" sz="2400"/>
              <a:t>5x5</a:t>
            </a:r>
          </a:p>
          <a:p>
            <a:pPr algn="ctr" eaLnBrk="1" hangingPunct="1"/>
            <a:r>
              <a:rPr lang="en-US" altLang="zh-TW" sz="2400"/>
              <a:t>Arith. Mean</a:t>
            </a:r>
          </a:p>
          <a:p>
            <a:pPr algn="ctr" eaLnBrk="1" hangingPunct="1"/>
            <a:r>
              <a:rPr lang="en-US" altLang="zh-TW" sz="2400"/>
              <a:t>filter</a:t>
            </a:r>
          </a:p>
        </p:txBody>
      </p:sp>
      <p:sp>
        <p:nvSpPr>
          <p:cNvPr id="19464" name="Text Box 9"/>
          <p:cNvSpPr txBox="1">
            <a:spLocks noChangeArrowheads="1"/>
          </p:cNvSpPr>
          <p:nvPr/>
        </p:nvSpPr>
        <p:spPr bwMode="auto">
          <a:xfrm>
            <a:off x="8603668" y="2895601"/>
            <a:ext cx="156485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algn="ctr" eaLnBrk="1" hangingPunct="1"/>
            <a:r>
              <a:rPr lang="en-US" altLang="zh-TW" sz="2400"/>
              <a:t>5x5</a:t>
            </a:r>
          </a:p>
          <a:p>
            <a:pPr algn="ctr" eaLnBrk="1" hangingPunct="1"/>
            <a:r>
              <a:rPr lang="en-US" altLang="zh-TW" sz="2400"/>
              <a:t>Geometric</a:t>
            </a:r>
          </a:p>
          <a:p>
            <a:pPr algn="ctr" eaLnBrk="1" hangingPunct="1"/>
            <a:r>
              <a:rPr lang="en-US" altLang="zh-TW" sz="2400"/>
              <a:t>mean</a:t>
            </a:r>
          </a:p>
        </p:txBody>
      </p:sp>
      <p:sp>
        <p:nvSpPr>
          <p:cNvPr id="19465" name="Text Box 10"/>
          <p:cNvSpPr txBox="1">
            <a:spLocks noChangeArrowheads="1"/>
          </p:cNvSpPr>
          <p:nvPr/>
        </p:nvSpPr>
        <p:spPr bwMode="auto">
          <a:xfrm>
            <a:off x="2341363" y="5062539"/>
            <a:ext cx="115768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algn="ctr" eaLnBrk="1" hangingPunct="1"/>
            <a:r>
              <a:rPr lang="en-US" altLang="zh-TW" sz="2400"/>
              <a:t>5x5</a:t>
            </a:r>
          </a:p>
          <a:p>
            <a:pPr algn="ctr" eaLnBrk="1" hangingPunct="1"/>
            <a:r>
              <a:rPr lang="en-US" altLang="zh-TW" sz="2400"/>
              <a:t>Median</a:t>
            </a:r>
          </a:p>
          <a:p>
            <a:pPr algn="ctr" eaLnBrk="1" hangingPunct="1"/>
            <a:r>
              <a:rPr lang="en-US" altLang="zh-TW" sz="2400"/>
              <a:t>filter</a:t>
            </a:r>
          </a:p>
        </p:txBody>
      </p:sp>
      <p:sp>
        <p:nvSpPr>
          <p:cNvPr id="19466" name="Text Box 11"/>
          <p:cNvSpPr txBox="1">
            <a:spLocks noChangeArrowheads="1"/>
          </p:cNvSpPr>
          <p:nvPr/>
        </p:nvSpPr>
        <p:spPr bwMode="auto">
          <a:xfrm>
            <a:off x="8587189" y="5138738"/>
            <a:ext cx="168988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algn="ctr" eaLnBrk="1" hangingPunct="1"/>
            <a:r>
              <a:rPr lang="en-US" altLang="zh-TW" sz="2400"/>
              <a:t>5x5</a:t>
            </a:r>
          </a:p>
          <a:p>
            <a:pPr algn="ctr" eaLnBrk="1" hangingPunct="1"/>
            <a:r>
              <a:rPr lang="en-US" altLang="zh-TW" sz="2400"/>
              <a:t>Alpha-trim.</a:t>
            </a:r>
          </a:p>
          <a:p>
            <a:pPr algn="ctr" eaLnBrk="1" hangingPunct="1"/>
            <a:r>
              <a:rPr lang="en-US" altLang="zh-TW" sz="2400"/>
              <a:t>Filter</a:t>
            </a:r>
          </a:p>
          <a:p>
            <a:pPr algn="ctr" eaLnBrk="1" hangingPunct="1"/>
            <a:r>
              <a:rPr lang="en-US" altLang="zh-TW" sz="2400"/>
              <a:t>d=5</a:t>
            </a:r>
          </a:p>
        </p:txBody>
      </p:sp>
      <p:sp>
        <p:nvSpPr>
          <p:cNvPr id="19467" name="Oval 12"/>
          <p:cNvSpPr>
            <a:spLocks noChangeArrowheads="1"/>
          </p:cNvSpPr>
          <p:nvPr/>
        </p:nvSpPr>
        <p:spPr bwMode="auto">
          <a:xfrm>
            <a:off x="4572000" y="4495800"/>
            <a:ext cx="304800" cy="6096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68" name="Oval 13"/>
          <p:cNvSpPr>
            <a:spLocks noChangeArrowheads="1"/>
          </p:cNvSpPr>
          <p:nvPr/>
        </p:nvSpPr>
        <p:spPr bwMode="auto">
          <a:xfrm>
            <a:off x="6962775" y="4510088"/>
            <a:ext cx="228600" cy="6096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027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b="1" dirty="0" smtClean="0"/>
              <a:t>Adaptive filters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Adapted to the behavior based on the </a:t>
            </a:r>
            <a:r>
              <a:rPr lang="en-US" altLang="zh-TW" dirty="0" smtClean="0">
                <a:solidFill>
                  <a:schemeClr val="hlink"/>
                </a:solidFill>
              </a:rPr>
              <a:t>statistical characteristics</a:t>
            </a:r>
            <a:r>
              <a:rPr lang="en-US" altLang="zh-TW" dirty="0" smtClean="0"/>
              <a:t> of the image inside the filter region </a:t>
            </a:r>
            <a:r>
              <a:rPr lang="en-US" altLang="zh-TW" dirty="0" err="1" smtClean="0"/>
              <a:t>S</a:t>
            </a:r>
            <a:r>
              <a:rPr lang="en-US" altLang="zh-TW" baseline="-25000" dirty="0" err="1" smtClean="0"/>
              <a:t>xy</a:t>
            </a:r>
            <a:endParaRPr lang="en-US" altLang="zh-TW" dirty="0" smtClean="0"/>
          </a:p>
          <a:p>
            <a:r>
              <a:rPr lang="en-US" altLang="zh-TW" dirty="0" smtClean="0"/>
              <a:t>Simplest </a:t>
            </a:r>
            <a:r>
              <a:rPr lang="en-US" altLang="zh-TW" dirty="0"/>
              <a:t>statistical measurement</a:t>
            </a:r>
          </a:p>
          <a:p>
            <a:pPr lvl="1"/>
            <a:r>
              <a:rPr lang="en-US" altLang="zh-TW" dirty="0">
                <a:solidFill>
                  <a:schemeClr val="hlink"/>
                </a:solidFill>
              </a:rPr>
              <a:t>Mean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chemeClr val="hlink"/>
                </a:solidFill>
              </a:rPr>
              <a:t>variance</a:t>
            </a:r>
          </a:p>
          <a:p>
            <a:r>
              <a:rPr lang="en-US" altLang="zh-TW" dirty="0"/>
              <a:t>Known parameters on local region </a:t>
            </a:r>
            <a:r>
              <a:rPr lang="en-US" altLang="zh-TW" dirty="0" err="1"/>
              <a:t>S</a:t>
            </a:r>
            <a:r>
              <a:rPr lang="en-US" altLang="zh-TW" baseline="-25000" dirty="0" err="1"/>
              <a:t>xy</a:t>
            </a:r>
            <a:endParaRPr lang="en-US" altLang="zh-TW" dirty="0"/>
          </a:p>
          <a:p>
            <a:pPr lvl="1"/>
            <a:r>
              <a:rPr lang="en-US" altLang="zh-TW" dirty="0"/>
              <a:t>g(</a:t>
            </a:r>
            <a:r>
              <a:rPr lang="en-US" altLang="zh-TW" dirty="0" err="1"/>
              <a:t>x,y</a:t>
            </a:r>
            <a:r>
              <a:rPr lang="en-US" altLang="zh-TW" dirty="0"/>
              <a:t>): noisy image pixel value</a:t>
            </a:r>
          </a:p>
          <a:p>
            <a:pPr lvl="1"/>
            <a:r>
              <a:rPr lang="en-US" altLang="zh-TW" dirty="0">
                <a:latin typeface="Symbol" panose="05050102010706020507" pitchFamily="18" charset="2"/>
              </a:rPr>
              <a:t>s</a:t>
            </a:r>
            <a:r>
              <a:rPr lang="en-US" altLang="zh-TW" baseline="30000" dirty="0">
                <a:latin typeface="Symbol" panose="05050102010706020507" pitchFamily="18" charset="2"/>
              </a:rPr>
              <a:t>2</a:t>
            </a:r>
            <a:r>
              <a:rPr lang="en-US" altLang="zh-TW" baseline="-25000" dirty="0">
                <a:latin typeface="Symbol" panose="05050102010706020507" pitchFamily="18" charset="2"/>
              </a:rPr>
              <a:t>h</a:t>
            </a:r>
            <a:r>
              <a:rPr lang="en-US" altLang="zh-TW" dirty="0"/>
              <a:t>: noise variance (</a:t>
            </a:r>
            <a:r>
              <a:rPr lang="en-US" altLang="zh-TW" dirty="0">
                <a:solidFill>
                  <a:schemeClr val="hlink"/>
                </a:solidFill>
              </a:rPr>
              <a:t>assume known a prior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m</a:t>
            </a:r>
            <a:r>
              <a:rPr lang="en-US" altLang="zh-TW" baseline="-25000" dirty="0"/>
              <a:t>L</a:t>
            </a:r>
            <a:r>
              <a:rPr lang="en-US" altLang="zh-TW" dirty="0"/>
              <a:t> : local mean</a:t>
            </a:r>
          </a:p>
          <a:p>
            <a:pPr lvl="1"/>
            <a:r>
              <a:rPr lang="en-US" altLang="zh-TW" dirty="0">
                <a:latin typeface="Symbol" panose="05050102010706020507" pitchFamily="18" charset="2"/>
              </a:rPr>
              <a:t>s</a:t>
            </a:r>
            <a:r>
              <a:rPr lang="en-US" altLang="zh-TW" baseline="30000" dirty="0">
                <a:latin typeface="Symbol" panose="05050102010706020507" pitchFamily="18" charset="2"/>
              </a:rPr>
              <a:t>2</a:t>
            </a:r>
            <a:r>
              <a:rPr lang="en-US" altLang="zh-TW" baseline="-25000" dirty="0"/>
              <a:t>L</a:t>
            </a:r>
            <a:r>
              <a:rPr lang="en-US" altLang="zh-TW" baseline="-25000" dirty="0">
                <a:latin typeface="Symbol" panose="05050102010706020507" pitchFamily="18" charset="2"/>
              </a:rPr>
              <a:t> </a:t>
            </a:r>
            <a:r>
              <a:rPr lang="en-US" altLang="zh-TW" dirty="0"/>
              <a:t>: local variance</a:t>
            </a:r>
          </a:p>
          <a:p>
            <a:pPr eaLnBrk="1" hangingPunct="1"/>
            <a:endParaRPr lang="en-US" altLang="zh-TW" dirty="0" smtClean="0">
              <a:solidFill>
                <a:schemeClr val="hlink"/>
              </a:solidFill>
            </a:endParaRPr>
          </a:p>
          <a:p>
            <a:pPr eaLnBrk="1" hangingPunct="1"/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979054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1397727" y="2539"/>
            <a:ext cx="9078684" cy="1116013"/>
          </a:xfrm>
        </p:spPr>
        <p:txBody>
          <a:bodyPr/>
          <a:lstStyle/>
          <a:p>
            <a:pPr algn="ctr" eaLnBrk="1" hangingPunct="1"/>
            <a:r>
              <a:rPr lang="en-US" altLang="zh-TW" b="1" dirty="0" smtClean="0"/>
              <a:t>Adaptive local noise </a:t>
            </a:r>
            <a:r>
              <a:rPr lang="en-US" altLang="zh-TW" b="1" dirty="0" smtClean="0"/>
              <a:t>Reduction </a:t>
            </a:r>
            <a:r>
              <a:rPr lang="en-US" altLang="zh-TW" b="1" dirty="0" smtClean="0"/>
              <a:t>filter (cont.)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Analysis: we want to do</a:t>
            </a:r>
          </a:p>
          <a:p>
            <a:pPr lvl="1" eaLnBrk="1" hangingPunct="1"/>
            <a:r>
              <a:rPr lang="en-US" altLang="zh-TW" dirty="0" smtClean="0"/>
              <a:t>If </a:t>
            </a:r>
            <a:r>
              <a:rPr lang="en-US" altLang="zh-TW" dirty="0">
                <a:latin typeface="Symbol" panose="05050102010706020507" pitchFamily="18" charset="2"/>
              </a:rPr>
              <a:t>s</a:t>
            </a:r>
            <a:r>
              <a:rPr lang="en-US" altLang="zh-TW" baseline="30000" dirty="0">
                <a:latin typeface="Symbol" panose="05050102010706020507" pitchFamily="18" charset="2"/>
              </a:rPr>
              <a:t>2</a:t>
            </a:r>
            <a:r>
              <a:rPr lang="en-US" altLang="zh-TW" baseline="-25000" dirty="0">
                <a:latin typeface="Symbol" panose="05050102010706020507" pitchFamily="18" charset="2"/>
              </a:rPr>
              <a:t>h </a:t>
            </a:r>
            <a:r>
              <a:rPr lang="en-US" altLang="zh-TW" dirty="0" smtClean="0"/>
              <a:t>is zero, return g(</a:t>
            </a:r>
            <a:r>
              <a:rPr lang="en-US" altLang="zh-TW" dirty="0" err="1" smtClean="0"/>
              <a:t>x,y</a:t>
            </a:r>
            <a:r>
              <a:rPr lang="en-US" altLang="zh-TW" dirty="0" smtClean="0"/>
              <a:t>)</a:t>
            </a:r>
          </a:p>
          <a:p>
            <a:pPr lvl="1" eaLnBrk="1" hangingPunct="1"/>
            <a:r>
              <a:rPr lang="en-US" altLang="zh-TW" dirty="0" smtClean="0"/>
              <a:t>If </a:t>
            </a:r>
            <a:r>
              <a:rPr lang="en-US" altLang="zh-TW" dirty="0">
                <a:latin typeface="Symbol" panose="05050102010706020507" pitchFamily="18" charset="2"/>
              </a:rPr>
              <a:t>s</a:t>
            </a:r>
            <a:r>
              <a:rPr lang="en-US" altLang="zh-TW" baseline="30000" dirty="0">
                <a:latin typeface="Symbol" panose="05050102010706020507" pitchFamily="18" charset="2"/>
              </a:rPr>
              <a:t>2</a:t>
            </a:r>
            <a:r>
              <a:rPr lang="en-US" altLang="zh-TW" baseline="-25000" dirty="0"/>
              <a:t>L</a:t>
            </a:r>
            <a:r>
              <a:rPr lang="en-US" altLang="zh-TW" dirty="0" smtClean="0"/>
              <a:t>&gt; </a:t>
            </a:r>
            <a:r>
              <a:rPr lang="en-US" altLang="zh-TW" dirty="0">
                <a:latin typeface="Symbol" panose="05050102010706020507" pitchFamily="18" charset="2"/>
              </a:rPr>
              <a:t>s</a:t>
            </a:r>
            <a:r>
              <a:rPr lang="en-US" altLang="zh-TW" baseline="30000" dirty="0">
                <a:latin typeface="Symbol" panose="05050102010706020507" pitchFamily="18" charset="2"/>
              </a:rPr>
              <a:t>2</a:t>
            </a:r>
            <a:r>
              <a:rPr lang="en-US" altLang="zh-TW" baseline="-25000" dirty="0">
                <a:latin typeface="Symbol" panose="05050102010706020507" pitchFamily="18" charset="2"/>
              </a:rPr>
              <a:t>h </a:t>
            </a:r>
            <a:r>
              <a:rPr lang="en-US" altLang="zh-TW" dirty="0" smtClean="0"/>
              <a:t>, return value close to </a:t>
            </a:r>
            <a:r>
              <a:rPr lang="en-US" altLang="zh-TW" dirty="0" smtClean="0">
                <a:solidFill>
                  <a:schemeClr val="hlink"/>
                </a:solidFill>
              </a:rPr>
              <a:t>g(</a:t>
            </a:r>
            <a:r>
              <a:rPr lang="en-US" altLang="zh-TW" dirty="0" err="1" smtClean="0">
                <a:solidFill>
                  <a:schemeClr val="hlink"/>
                </a:solidFill>
              </a:rPr>
              <a:t>x,y</a:t>
            </a:r>
            <a:r>
              <a:rPr lang="en-US" altLang="zh-TW" dirty="0" smtClean="0">
                <a:solidFill>
                  <a:schemeClr val="hlink"/>
                </a:solidFill>
              </a:rPr>
              <a:t>)</a:t>
            </a:r>
          </a:p>
          <a:p>
            <a:pPr lvl="1" eaLnBrk="1" hangingPunct="1"/>
            <a:r>
              <a:rPr lang="en-US" altLang="zh-TW" dirty="0" smtClean="0"/>
              <a:t>If </a:t>
            </a:r>
            <a:r>
              <a:rPr lang="en-US" altLang="zh-TW" dirty="0">
                <a:latin typeface="Symbol" panose="05050102010706020507" pitchFamily="18" charset="2"/>
              </a:rPr>
              <a:t>s</a:t>
            </a:r>
            <a:r>
              <a:rPr lang="en-US" altLang="zh-TW" baseline="30000" dirty="0">
                <a:latin typeface="Symbol" panose="05050102010706020507" pitchFamily="18" charset="2"/>
              </a:rPr>
              <a:t>2</a:t>
            </a:r>
            <a:r>
              <a:rPr lang="en-US" altLang="zh-TW" baseline="-25000" dirty="0"/>
              <a:t>L</a:t>
            </a:r>
            <a:r>
              <a:rPr lang="en-US" altLang="zh-TW" dirty="0" smtClean="0"/>
              <a:t>= </a:t>
            </a:r>
            <a:r>
              <a:rPr lang="en-US" altLang="zh-TW" dirty="0">
                <a:latin typeface="Symbol" panose="05050102010706020507" pitchFamily="18" charset="2"/>
              </a:rPr>
              <a:t>s</a:t>
            </a:r>
            <a:r>
              <a:rPr lang="en-US" altLang="zh-TW" baseline="30000" dirty="0">
                <a:latin typeface="Symbol" panose="05050102010706020507" pitchFamily="18" charset="2"/>
              </a:rPr>
              <a:t>2</a:t>
            </a:r>
            <a:r>
              <a:rPr lang="en-US" altLang="zh-TW" baseline="-25000" dirty="0">
                <a:latin typeface="Symbol" panose="05050102010706020507" pitchFamily="18" charset="2"/>
              </a:rPr>
              <a:t>h </a:t>
            </a:r>
            <a:r>
              <a:rPr lang="en-US" altLang="zh-TW" dirty="0" smtClean="0"/>
              <a:t>, return the arithmetic mean </a:t>
            </a:r>
            <a:r>
              <a:rPr lang="en-US" altLang="zh-TW" dirty="0" smtClean="0">
                <a:solidFill>
                  <a:schemeClr val="hlink"/>
                </a:solidFill>
              </a:rPr>
              <a:t>m</a:t>
            </a:r>
            <a:r>
              <a:rPr lang="en-US" altLang="zh-TW" baseline="-25000" dirty="0" smtClean="0">
                <a:solidFill>
                  <a:schemeClr val="hlink"/>
                </a:solidFill>
              </a:rPr>
              <a:t>L</a:t>
            </a:r>
          </a:p>
          <a:p>
            <a:pPr eaLnBrk="1" hangingPunct="1"/>
            <a:r>
              <a:rPr lang="en-US" altLang="zh-TW" dirty="0" smtClean="0"/>
              <a:t>Formula</a:t>
            </a:r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</p:txBody>
      </p:sp>
      <p:graphicFrame>
        <p:nvGraphicFramePr>
          <p:cNvPr id="49156" name="Object 4"/>
          <p:cNvGraphicFramePr>
            <a:graphicFrameLocks noChangeAspect="1"/>
          </p:cNvGraphicFramePr>
          <p:nvPr/>
        </p:nvGraphicFramePr>
        <p:xfrm>
          <a:off x="2351088" y="4149726"/>
          <a:ext cx="5791200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Equation" r:id="rId3" imgW="2222500" imgH="469900" progId="Equation.3">
                  <p:embed/>
                </p:oleObj>
              </mc:Choice>
              <mc:Fallback>
                <p:oleObj name="Equation" r:id="rId3" imgW="2222500" imgH="469900" progId="Equation.3">
                  <p:embed/>
                  <p:pic>
                    <p:nvPicPr>
                      <p:cNvPr id="491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4149726"/>
                        <a:ext cx="5791200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16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12"/>
          <a:stretch>
            <a:fillRect/>
          </a:stretch>
        </p:blipFill>
        <p:spPr bwMode="auto">
          <a:xfrm>
            <a:off x="2590800" y="-25400"/>
            <a:ext cx="7183438" cy="688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838201"/>
            <a:ext cx="12570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>
                <a:latin typeface="Symbol" panose="05050102010706020507" pitchFamily="18" charset="2"/>
              </a:rPr>
              <a:t>m=0</a:t>
            </a:r>
          </a:p>
          <a:p>
            <a:pPr eaLnBrk="1" hangingPunct="1"/>
            <a:r>
              <a:rPr lang="en-US" altLang="zh-TW" sz="2400">
                <a:latin typeface="Symbol" panose="05050102010706020507" pitchFamily="18" charset="2"/>
              </a:rPr>
              <a:t>s</a:t>
            </a:r>
            <a:r>
              <a:rPr lang="en-US" altLang="zh-TW" sz="2400" baseline="30000">
                <a:latin typeface="Symbol" panose="05050102010706020507" pitchFamily="18" charset="2"/>
              </a:rPr>
              <a:t>2</a:t>
            </a:r>
            <a:r>
              <a:rPr lang="en-US" altLang="zh-TW" sz="2400">
                <a:latin typeface="Symbol" panose="05050102010706020507" pitchFamily="18" charset="2"/>
              </a:rPr>
              <a:t>=1000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1431925" y="185739"/>
            <a:ext cx="140294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Gaussian</a:t>
            </a:r>
          </a:p>
          <a:p>
            <a:pPr eaLnBrk="1" hangingPunct="1"/>
            <a:r>
              <a:rPr lang="en-US" altLang="zh-TW" sz="2400"/>
              <a:t>noise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9737726" y="338139"/>
            <a:ext cx="93807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Arith.</a:t>
            </a:r>
          </a:p>
          <a:p>
            <a:pPr eaLnBrk="1" hangingPunct="1"/>
            <a:r>
              <a:rPr lang="en-US" altLang="zh-TW" sz="2400"/>
              <a:t>mean</a:t>
            </a:r>
          </a:p>
          <a:p>
            <a:pPr eaLnBrk="1" hangingPunct="1"/>
            <a:r>
              <a:rPr lang="en-US" altLang="zh-TW" sz="2400"/>
              <a:t>7x7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1431925" y="5291139"/>
            <a:ext cx="156485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/>
              <a:t>Geometric</a:t>
            </a:r>
          </a:p>
          <a:p>
            <a:pPr eaLnBrk="1" hangingPunct="1"/>
            <a:r>
              <a:rPr lang="en-US" altLang="zh-TW" sz="2400"/>
              <a:t>mean</a:t>
            </a:r>
          </a:p>
          <a:p>
            <a:pPr eaLnBrk="1" hangingPunct="1"/>
            <a:r>
              <a:rPr lang="en-US" altLang="zh-TW" sz="2400"/>
              <a:t>7x7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10013022" y="4724400"/>
            <a:ext cx="132556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r>
              <a:rPr lang="en-US" altLang="zh-TW" sz="2400" dirty="0"/>
              <a:t>adaptive</a:t>
            </a:r>
          </a:p>
        </p:txBody>
      </p:sp>
      <p:sp>
        <p:nvSpPr>
          <p:cNvPr id="22536" name="Oval 8"/>
          <p:cNvSpPr>
            <a:spLocks noChangeArrowheads="1"/>
          </p:cNvSpPr>
          <p:nvPr/>
        </p:nvSpPr>
        <p:spPr bwMode="auto">
          <a:xfrm>
            <a:off x="6705600" y="4495800"/>
            <a:ext cx="533400" cy="4572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7" name="Oval 9"/>
          <p:cNvSpPr>
            <a:spLocks noChangeArrowheads="1"/>
          </p:cNvSpPr>
          <p:nvPr/>
        </p:nvSpPr>
        <p:spPr bwMode="auto">
          <a:xfrm>
            <a:off x="6400800" y="6019800"/>
            <a:ext cx="685800" cy="4572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PMingLiU" pitchFamily="2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80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 FORMA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FORMAT</Template>
  <TotalTime>1681</TotalTime>
  <Words>367</Words>
  <Application>Microsoft Office PowerPoint</Application>
  <PresentationFormat>Widescreen</PresentationFormat>
  <Paragraphs>145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DFKai-SB</vt:lpstr>
      <vt:lpstr>PMingLiU</vt:lpstr>
      <vt:lpstr>Arial</vt:lpstr>
      <vt:lpstr>Calibri</vt:lpstr>
      <vt:lpstr>Cambria</vt:lpstr>
      <vt:lpstr>Symbol</vt:lpstr>
      <vt:lpstr>Tahoma</vt:lpstr>
      <vt:lpstr>Times New Roman</vt:lpstr>
      <vt:lpstr>Wingdings</vt:lpstr>
      <vt:lpstr>PPT FORMAT</vt:lpstr>
      <vt:lpstr>Microsoft 方程式編輯器 3.0</vt:lpstr>
      <vt:lpstr>PowerPoint Presentation</vt:lpstr>
      <vt:lpstr>Additive noise only</vt:lpstr>
      <vt:lpstr>Spatial filters for de-noising additive noise</vt:lpstr>
      <vt:lpstr>Mean filters</vt:lpstr>
      <vt:lpstr>PowerPoint Presentation</vt:lpstr>
      <vt:lpstr>Mean filters (cont.)</vt:lpstr>
      <vt:lpstr>PowerPoint Presentation</vt:lpstr>
      <vt:lpstr>PowerPoint Presentation</vt:lpstr>
      <vt:lpstr>Order-statistics filters</vt:lpstr>
      <vt:lpstr>Order-statistics filters</vt:lpstr>
      <vt:lpstr>PowerPoint Presentation</vt:lpstr>
      <vt:lpstr>PowerPoint Presentation</vt:lpstr>
      <vt:lpstr>Order-statistics filters (cont.)</vt:lpstr>
      <vt:lpstr>PowerPoint Presentation</vt:lpstr>
      <vt:lpstr>Adaptive filters</vt:lpstr>
      <vt:lpstr>Adaptive local noise Reduction filter (cont.)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CSE395</dc:title>
  <dc:creator>Windows User</dc:creator>
  <cp:lastModifiedBy>admin</cp:lastModifiedBy>
  <cp:revision>284</cp:revision>
  <dcterms:created xsi:type="dcterms:W3CDTF">2019-08-23T05:46:45Z</dcterms:created>
  <dcterms:modified xsi:type="dcterms:W3CDTF">2022-11-29T05:06:15Z</dcterms:modified>
</cp:coreProperties>
</file>